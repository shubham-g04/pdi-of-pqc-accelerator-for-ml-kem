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Darker Grotesque Bold" charset="1" panose="00000000000000000000"/>
      <p:regular r:id="rId23"/>
    </p:embeddedFont>
    <p:embeddedFont>
      <p:font typeface="Arimo" charset="1" panose="020B0604020202020204"/>
      <p:regular r:id="rId24"/>
    </p:embeddedFont>
    <p:embeddedFont>
      <p:font typeface="Arimo Bold" charset="1" panose="020B0704020202020204"/>
      <p:regular r:id="rId26"/>
    </p:embeddedFont>
    <p:embeddedFont>
      <p:font typeface="Canva Sans Bold" charset="1" panose="020B0803030501040103"/>
      <p:regular r:id="rId35"/>
    </p:embeddedFont>
    <p:embeddedFont>
      <p:font typeface="Canva Sans" charset="1" panose="020B0503030501040103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Post-quantum cryptography refers to cryptographic algorithms designed to resist attacks from quantum computers while still running on conventional computing systems. This is important because the cryptography does not itself require a quantum computer. NIST has already standardized ML-KEM for key encapsulation and ML-DSA and SLH-DSA for digital signatures. For our hardware accelerator, we are particularly interested in lattice-based cryptographic computation, especially the computational kernels associated with ML-KEM.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Post-quantum cryptography refers to cryptographic algorithms designed to resist attacks from quantum computers while still running on conventional computing systems. This is important because the cryptography does not itself require a quantum computer. NIST has already standardized ML-KEM for key encapsulation and ML-DSA and SLH-DSA for digital signatures. For our hardware accelerator, we are particularly interested in lattice-based cryptographic computation, especially the computational kernels associated with ML-KEM.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Post-quantum cryptography refers to cryptographic algorithms designed to resist attacks from quantum computers while still running on conventional computing systems. This is important because the cryptography does not itself require a quantum computer. NIST has already standardized ML-KEM for key encapsulation and ML-DSA and SLH-DSA for digital signatures. For our hardware accelerator, we are particularly interested in lattice-based cryptographic computation, especially the computational kernels associated with ML-KEM.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Post-quantum cryptography refers to cryptographic algorithms designed to resist attacks from quantum computers while still running on conventional computing systems. This is important because the cryptography does not itself require a quantum computer. NIST has already standardized ML-KEM for key encapsulation and ML-DSA and SLH-DSA for digital signatures. For our hardware accelerator, we are particularly interested in lattice-based cryptographic computation, especially the computational kernels associated with ML-KEM.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Post-quantum cryptography refers to cryptographic algorithms designed to resist attacks from quantum computers while still running on conventional computing systems. This is important because the cryptography does not itself require a quantum computer. NIST has already standardized ML-KEM for key encapsulation and ML-DSA and SLH-DSA for digital signatures. For our hardware accelerator, we are particularly interested in lattice-based cryptographic computation, especially the computational kernels associated with ML-KEM.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.jpe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8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26"/>
            <a:ext cx="18288008" cy="10278074"/>
          </a:xfrm>
          <a:custGeom>
            <a:avLst/>
            <a:gdLst/>
            <a:ahLst/>
            <a:cxnLst/>
            <a:rect r="r" b="b" t="t" l="l"/>
            <a:pathLst>
              <a:path h="10278074" w="18288008">
                <a:moveTo>
                  <a:pt x="0" y="0"/>
                </a:moveTo>
                <a:lnTo>
                  <a:pt x="18288008" y="0"/>
                </a:lnTo>
                <a:lnTo>
                  <a:pt x="18288008" y="10278074"/>
                </a:lnTo>
                <a:lnTo>
                  <a:pt x="0" y="102780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</a:blip>
            <a:stretch>
              <a:fillRect l="0" t="-19" r="0" b="-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45189" y="3967500"/>
            <a:ext cx="12673358" cy="6632391"/>
          </a:xfrm>
          <a:custGeom>
            <a:avLst/>
            <a:gdLst/>
            <a:ahLst/>
            <a:cxnLst/>
            <a:rect r="r" b="b" t="t" l="l"/>
            <a:pathLst>
              <a:path h="6632391" w="12673358">
                <a:moveTo>
                  <a:pt x="0" y="0"/>
                </a:moveTo>
                <a:lnTo>
                  <a:pt x="12673358" y="0"/>
                </a:lnTo>
                <a:lnTo>
                  <a:pt x="12673358" y="6632391"/>
                </a:lnTo>
                <a:lnTo>
                  <a:pt x="0" y="6632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6200" y="660500"/>
            <a:ext cx="1140602" cy="1140602"/>
          </a:xfrm>
          <a:custGeom>
            <a:avLst/>
            <a:gdLst/>
            <a:ahLst/>
            <a:cxnLst/>
            <a:rect r="r" b="b" t="t" l="l"/>
            <a:pathLst>
              <a:path h="1140602" w="1140602">
                <a:moveTo>
                  <a:pt x="0" y="0"/>
                </a:moveTo>
                <a:lnTo>
                  <a:pt x="1140602" y="0"/>
                </a:lnTo>
                <a:lnTo>
                  <a:pt x="1140602" y="1140602"/>
                </a:lnTo>
                <a:lnTo>
                  <a:pt x="0" y="1140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6051058" y="7953576"/>
            <a:ext cx="1870202" cy="1870142"/>
          </a:xfrm>
          <a:custGeom>
            <a:avLst/>
            <a:gdLst/>
            <a:ahLst/>
            <a:cxnLst/>
            <a:rect r="r" b="b" t="t" l="l"/>
            <a:pathLst>
              <a:path h="1870142" w="1870202">
                <a:moveTo>
                  <a:pt x="0" y="0"/>
                </a:moveTo>
                <a:lnTo>
                  <a:pt x="1870202" y="0"/>
                </a:lnTo>
                <a:lnTo>
                  <a:pt x="1870202" y="1870142"/>
                </a:lnTo>
                <a:lnTo>
                  <a:pt x="0" y="1870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66433" y="0"/>
            <a:ext cx="10721575" cy="3671772"/>
          </a:xfrm>
          <a:custGeom>
            <a:avLst/>
            <a:gdLst/>
            <a:ahLst/>
            <a:cxnLst/>
            <a:rect r="r" b="b" t="t" l="l"/>
            <a:pathLst>
              <a:path h="3671772" w="10721575">
                <a:moveTo>
                  <a:pt x="0" y="0"/>
                </a:moveTo>
                <a:lnTo>
                  <a:pt x="10721575" y="0"/>
                </a:lnTo>
                <a:lnTo>
                  <a:pt x="10721575" y="3671772"/>
                </a:lnTo>
                <a:lnTo>
                  <a:pt x="0" y="36717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1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12127" y="2706889"/>
            <a:ext cx="10063755" cy="360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9"/>
              </a:lnSpc>
            </a:pPr>
            <a:r>
              <a:rPr lang="en-US" b="true" sz="6555">
                <a:solidFill>
                  <a:srgbClr val="FFFFFF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VLSI Physic</a:t>
            </a:r>
            <a:r>
              <a:rPr lang="en-US" b="true" sz="6555">
                <a:solidFill>
                  <a:srgbClr val="FFFFFF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al Design Implementation of a Post-Quantum Cryptographic Accelerator SoC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301851" y="639906"/>
            <a:ext cx="3086421" cy="1181789"/>
          </a:xfrm>
          <a:custGeom>
            <a:avLst/>
            <a:gdLst/>
            <a:ahLst/>
            <a:cxnLst/>
            <a:rect r="r" b="b" t="t" l="l"/>
            <a:pathLst>
              <a:path h="1181789" w="3086421">
                <a:moveTo>
                  <a:pt x="0" y="0"/>
                </a:moveTo>
                <a:lnTo>
                  <a:pt x="3086421" y="0"/>
                </a:lnTo>
                <a:lnTo>
                  <a:pt x="3086421" y="1181790"/>
                </a:lnTo>
                <a:lnTo>
                  <a:pt x="0" y="11817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68529" y="6721721"/>
            <a:ext cx="13150950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Project Guide: Dr. Velmathi G.</a:t>
            </a:r>
          </a:p>
          <a:p>
            <a:pPr algn="ctr">
              <a:lnSpc>
                <a:spcPts val="2760"/>
              </a:lnSpc>
            </a:pP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Team Members: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Subham Prasad Gupta (23BVD1039)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Jairus Solomon Samraj (23BVD1040)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Vinayak Shreenivas Salunke (23BVD1062)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74652" y="2030952"/>
            <a:ext cx="21857994" cy="10698580"/>
          </a:xfrm>
          <a:custGeom>
            <a:avLst/>
            <a:gdLst/>
            <a:ahLst/>
            <a:cxnLst/>
            <a:rect r="r" b="b" t="t" l="l"/>
            <a:pathLst>
              <a:path h="10698580" w="21857994">
                <a:moveTo>
                  <a:pt x="0" y="0"/>
                </a:moveTo>
                <a:lnTo>
                  <a:pt x="21857993" y="0"/>
                </a:lnTo>
                <a:lnTo>
                  <a:pt x="21857993" y="10698579"/>
                </a:lnTo>
                <a:lnTo>
                  <a:pt x="0" y="10698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0853" y="648863"/>
            <a:ext cx="1944039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solidFill>
                  <a:srgbClr val="FFFFFF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Implementation Work Distribution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25875" y="288076"/>
            <a:ext cx="1934252" cy="740624"/>
          </a:xfrm>
          <a:custGeom>
            <a:avLst/>
            <a:gdLst/>
            <a:ahLst/>
            <a:cxnLst/>
            <a:rect r="r" b="b" t="t" l="l"/>
            <a:pathLst>
              <a:path h="740624" w="1934252">
                <a:moveTo>
                  <a:pt x="0" y="0"/>
                </a:moveTo>
                <a:lnTo>
                  <a:pt x="1934252" y="0"/>
                </a:lnTo>
                <a:lnTo>
                  <a:pt x="1934252" y="740624"/>
                </a:lnTo>
                <a:lnTo>
                  <a:pt x="0" y="740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90853" y="2589373"/>
          <a:ext cx="16306294" cy="6791325"/>
        </p:xfrm>
        <a:graphic>
          <a:graphicData uri="http://schemas.openxmlformats.org/drawingml/2006/table">
            <a:tbl>
              <a:tblPr/>
              <a:tblGrid>
                <a:gridCol w="5435431"/>
                <a:gridCol w="5435431"/>
                <a:gridCol w="5435431"/>
              </a:tblGrid>
              <a:tr h="848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Subham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Jairus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Vinayak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</a:tr>
              <a:tr h="848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Modular Arithmetic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Polynomial Processing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Keccak / SHAKE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NTT / INTT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Matrix-Vector Multiplication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Sampling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Pointwise Polynomial Multiplication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Compression / Decompression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Matrix Generation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Transform Datapath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ML-KEM Control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Encryption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Arithmetic Optimization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KeyGen / Decapsulation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Cryptographic Datapath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Arithmetic Pipelining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SoC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Encryption Pipelining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Synthesis &amp; Timing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Baseline Synthesis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Final Pipeline Optimization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990853" y="1813047"/>
            <a:ext cx="8106150" cy="4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RTL to Synthesis Work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0272" y="-1941822"/>
            <a:ext cx="17832834" cy="14848990"/>
          </a:xfrm>
          <a:custGeom>
            <a:avLst/>
            <a:gdLst/>
            <a:ahLst/>
            <a:cxnLst/>
            <a:rect r="r" b="b" t="t" l="l"/>
            <a:pathLst>
              <a:path h="14848990" w="17832834">
                <a:moveTo>
                  <a:pt x="0" y="0"/>
                </a:moveTo>
                <a:lnTo>
                  <a:pt x="17832834" y="0"/>
                </a:lnTo>
                <a:lnTo>
                  <a:pt x="17832834" y="14848990"/>
                </a:lnTo>
                <a:lnTo>
                  <a:pt x="0" y="148489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6536" y="2343551"/>
            <a:ext cx="7816274" cy="5010370"/>
            <a:chOff x="0" y="0"/>
            <a:chExt cx="2207298" cy="1414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07298" cy="1414917"/>
            </a:xfrm>
            <a:custGeom>
              <a:avLst/>
              <a:gdLst/>
              <a:ahLst/>
              <a:cxnLst/>
              <a:rect r="r" b="b" t="t" l="l"/>
              <a:pathLst>
                <a:path h="1414917" w="2207298">
                  <a:moveTo>
                    <a:pt x="33677" y="0"/>
                  </a:moveTo>
                  <a:lnTo>
                    <a:pt x="2173622" y="0"/>
                  </a:lnTo>
                  <a:cubicBezTo>
                    <a:pt x="2182553" y="0"/>
                    <a:pt x="2191119" y="3548"/>
                    <a:pt x="2197435" y="9864"/>
                  </a:cubicBezTo>
                  <a:cubicBezTo>
                    <a:pt x="2203750" y="16179"/>
                    <a:pt x="2207298" y="24745"/>
                    <a:pt x="2207298" y="33677"/>
                  </a:cubicBezTo>
                  <a:lnTo>
                    <a:pt x="2207298" y="1381241"/>
                  </a:lnTo>
                  <a:cubicBezTo>
                    <a:pt x="2207298" y="1390172"/>
                    <a:pt x="2203750" y="1398738"/>
                    <a:pt x="2197435" y="1405054"/>
                  </a:cubicBezTo>
                  <a:cubicBezTo>
                    <a:pt x="2191119" y="1411369"/>
                    <a:pt x="2182553" y="1414917"/>
                    <a:pt x="2173622" y="1414917"/>
                  </a:cubicBezTo>
                  <a:lnTo>
                    <a:pt x="33677" y="1414917"/>
                  </a:lnTo>
                  <a:cubicBezTo>
                    <a:pt x="24745" y="1414917"/>
                    <a:pt x="16179" y="1411369"/>
                    <a:pt x="9864" y="1405054"/>
                  </a:cubicBezTo>
                  <a:cubicBezTo>
                    <a:pt x="3548" y="1398738"/>
                    <a:pt x="0" y="1390172"/>
                    <a:pt x="0" y="1381241"/>
                  </a:cubicBezTo>
                  <a:lnTo>
                    <a:pt x="0" y="33677"/>
                  </a:lnTo>
                  <a:cubicBezTo>
                    <a:pt x="0" y="24745"/>
                    <a:pt x="3548" y="16179"/>
                    <a:pt x="9864" y="9864"/>
                  </a:cubicBezTo>
                  <a:cubicBezTo>
                    <a:pt x="16179" y="3548"/>
                    <a:pt x="24745" y="0"/>
                    <a:pt x="33677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07298" cy="1453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37850" y="648863"/>
            <a:ext cx="769636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>
                <a:solidFill>
                  <a:srgbClr val="FFFFFF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Arithmetic &amp; Transform Engine (Subham)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025875" y="288076"/>
            <a:ext cx="1934252" cy="740624"/>
          </a:xfrm>
          <a:custGeom>
            <a:avLst/>
            <a:gdLst/>
            <a:ahLst/>
            <a:cxnLst/>
            <a:rect r="r" b="b" t="t" l="l"/>
            <a:pathLst>
              <a:path h="740624" w="1934252">
                <a:moveTo>
                  <a:pt x="0" y="0"/>
                </a:moveTo>
                <a:lnTo>
                  <a:pt x="1934252" y="0"/>
                </a:lnTo>
                <a:lnTo>
                  <a:pt x="1934252" y="740624"/>
                </a:lnTo>
                <a:lnTo>
                  <a:pt x="0" y="740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10535" y="2553476"/>
            <a:ext cx="3942764" cy="457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Modular Arithmetic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mod_add.v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mod_sub.v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mod_mult.v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mod_mult_top.v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mod_reduce_3329.v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NTT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ntt.v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ntt_butterfly.v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ntt_memory.v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ntt_zetas_rom.v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ntt_flat.v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51566" y="2553476"/>
            <a:ext cx="3942764" cy="305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INTT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ntt.v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ntt_butterfly.v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ntt_scheduler.v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ntt_zetas_rom.v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ntt_flat.v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Polynomial Multiplication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poly_mul_pointwise.v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6536" y="7515084"/>
            <a:ext cx="16469541" cy="2090165"/>
            <a:chOff x="0" y="0"/>
            <a:chExt cx="4650962" cy="5902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50962" cy="590258"/>
            </a:xfrm>
            <a:custGeom>
              <a:avLst/>
              <a:gdLst/>
              <a:ahLst/>
              <a:cxnLst/>
              <a:rect r="r" b="b" t="t" l="l"/>
              <a:pathLst>
                <a:path h="590258" w="4650962">
                  <a:moveTo>
                    <a:pt x="15983" y="0"/>
                  </a:moveTo>
                  <a:lnTo>
                    <a:pt x="4634980" y="0"/>
                  </a:lnTo>
                  <a:cubicBezTo>
                    <a:pt x="4639218" y="0"/>
                    <a:pt x="4643284" y="1684"/>
                    <a:pt x="4646281" y="4681"/>
                  </a:cubicBezTo>
                  <a:cubicBezTo>
                    <a:pt x="4649278" y="7678"/>
                    <a:pt x="4650962" y="11744"/>
                    <a:pt x="4650962" y="15983"/>
                  </a:cubicBezTo>
                  <a:lnTo>
                    <a:pt x="4650962" y="574275"/>
                  </a:lnTo>
                  <a:cubicBezTo>
                    <a:pt x="4650962" y="578514"/>
                    <a:pt x="4649278" y="582579"/>
                    <a:pt x="4646281" y="585577"/>
                  </a:cubicBezTo>
                  <a:cubicBezTo>
                    <a:pt x="4643284" y="588574"/>
                    <a:pt x="4639218" y="590258"/>
                    <a:pt x="4634980" y="590258"/>
                  </a:cubicBezTo>
                  <a:lnTo>
                    <a:pt x="15983" y="590258"/>
                  </a:lnTo>
                  <a:cubicBezTo>
                    <a:pt x="11744" y="590258"/>
                    <a:pt x="7678" y="588574"/>
                    <a:pt x="4681" y="585577"/>
                  </a:cubicBezTo>
                  <a:cubicBezTo>
                    <a:pt x="1684" y="582579"/>
                    <a:pt x="0" y="578514"/>
                    <a:pt x="0" y="574275"/>
                  </a:cubicBezTo>
                  <a:lnTo>
                    <a:pt x="0" y="15983"/>
                  </a:lnTo>
                  <a:cubicBezTo>
                    <a:pt x="0" y="11744"/>
                    <a:pt x="1684" y="7678"/>
                    <a:pt x="4681" y="4681"/>
                  </a:cubicBezTo>
                  <a:cubicBezTo>
                    <a:pt x="7678" y="1684"/>
                    <a:pt x="11744" y="0"/>
                    <a:pt x="15983" y="0"/>
                  </a:cubicBezTo>
                  <a:close/>
                </a:path>
              </a:pathLst>
            </a:custGeom>
            <a:solidFill>
              <a:srgbClr val="40C5C5">
                <a:alpha val="64706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50962" cy="628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12700" y="7658918"/>
            <a:ext cx="15826066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5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Responsibility 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Implementation of ML-KEM modular arithmetic and NTT/INTT transform datapaths, including polynomial multiplication in the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NTT domain. Evaluated the initial pipelined architecture at 50/100 MHz and performed the 250-MHz stress test on the final pipelined architecture.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994330" y="1420388"/>
            <a:ext cx="8319350" cy="5933533"/>
            <a:chOff x="0" y="0"/>
            <a:chExt cx="2349366" cy="16756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49366" cy="1675617"/>
            </a:xfrm>
            <a:custGeom>
              <a:avLst/>
              <a:gdLst/>
              <a:ahLst/>
              <a:cxnLst/>
              <a:rect r="r" b="b" t="t" l="l"/>
              <a:pathLst>
                <a:path h="1675617" w="2349366">
                  <a:moveTo>
                    <a:pt x="31640" y="0"/>
                  </a:moveTo>
                  <a:lnTo>
                    <a:pt x="2317726" y="0"/>
                  </a:lnTo>
                  <a:cubicBezTo>
                    <a:pt x="2335200" y="0"/>
                    <a:pt x="2349366" y="14166"/>
                    <a:pt x="2349366" y="31640"/>
                  </a:cubicBezTo>
                  <a:lnTo>
                    <a:pt x="2349366" y="1643976"/>
                  </a:lnTo>
                  <a:cubicBezTo>
                    <a:pt x="2349366" y="1661451"/>
                    <a:pt x="2335200" y="1675617"/>
                    <a:pt x="2317726" y="1675617"/>
                  </a:cubicBezTo>
                  <a:lnTo>
                    <a:pt x="31640" y="1675617"/>
                  </a:lnTo>
                  <a:cubicBezTo>
                    <a:pt x="14166" y="1675617"/>
                    <a:pt x="0" y="1661451"/>
                    <a:pt x="0" y="1643976"/>
                  </a:cubicBezTo>
                  <a:lnTo>
                    <a:pt x="0" y="31640"/>
                  </a:lnTo>
                  <a:cubicBezTo>
                    <a:pt x="0" y="14166"/>
                    <a:pt x="14166" y="0"/>
                    <a:pt x="31640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349366" cy="1713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9191121" y="2147330"/>
          <a:ext cx="7925767" cy="2590800"/>
        </p:xfrm>
        <a:graphic>
          <a:graphicData uri="http://schemas.openxmlformats.org/drawingml/2006/table">
            <a:tbl>
              <a:tblPr/>
              <a:tblGrid>
                <a:gridCol w="1137446"/>
                <a:gridCol w="2656568"/>
                <a:gridCol w="4131753"/>
              </a:tblGrid>
              <a:tr h="8508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Run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Frequency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</a:tr>
              <a:tr h="8508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Run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50MHz / 180nm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Initial timing evaluation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0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Run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100 MHz / 90nm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Timing eval at target freq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9191121" y="1559261"/>
            <a:ext cx="7273776" cy="4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</a:t>
            </a: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peline Type 1 — Initial Pipelined Architecture</a:t>
            </a:r>
          </a:p>
        </p:txBody>
      </p: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9191121" y="5465739"/>
          <a:ext cx="7925767" cy="1704975"/>
        </p:xfrm>
        <a:graphic>
          <a:graphicData uri="http://schemas.openxmlformats.org/drawingml/2006/table">
            <a:tbl>
              <a:tblPr/>
              <a:tblGrid>
                <a:gridCol w="1137446"/>
                <a:gridCol w="1805520"/>
                <a:gridCol w="4982801"/>
              </a:tblGrid>
              <a:tr h="8524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Run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Frequency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</a:tr>
              <a:tr h="8524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Run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250MHz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High-frequency stress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9191121" y="4861955"/>
            <a:ext cx="7273776" cy="4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</a:t>
            </a: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peline Type 2 — Final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400" y="4464"/>
            <a:ext cx="18288008" cy="10278074"/>
          </a:xfrm>
          <a:custGeom>
            <a:avLst/>
            <a:gdLst/>
            <a:ahLst/>
            <a:cxnLst/>
            <a:rect r="r" b="b" t="t" l="l"/>
            <a:pathLst>
              <a:path h="10278074" w="18288008">
                <a:moveTo>
                  <a:pt x="0" y="0"/>
                </a:moveTo>
                <a:lnTo>
                  <a:pt x="18288008" y="0"/>
                </a:lnTo>
                <a:lnTo>
                  <a:pt x="18288008" y="10278074"/>
                </a:lnTo>
                <a:lnTo>
                  <a:pt x="0" y="102780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</a:blip>
            <a:stretch>
              <a:fillRect l="0" t="-19" r="0" b="-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96290" y="-2093476"/>
            <a:ext cx="14963638" cy="13724626"/>
          </a:xfrm>
          <a:custGeom>
            <a:avLst/>
            <a:gdLst/>
            <a:ahLst/>
            <a:cxnLst/>
            <a:rect r="r" b="b" t="t" l="l"/>
            <a:pathLst>
              <a:path h="13724626" w="14963638">
                <a:moveTo>
                  <a:pt x="0" y="0"/>
                </a:moveTo>
                <a:lnTo>
                  <a:pt x="14963638" y="0"/>
                </a:lnTo>
                <a:lnTo>
                  <a:pt x="14963638" y="13724626"/>
                </a:lnTo>
                <a:lnTo>
                  <a:pt x="0" y="1372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13486"/>
            <a:ext cx="1365061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>
                <a:solidFill>
                  <a:srgbClr val="FFFFFF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Arithmetic Datapath Pipelining: </a:t>
            </a:r>
            <a:r>
              <a:rPr lang="en-US" b="true" sz="5000">
                <a:solidFill>
                  <a:srgbClr val="40C5C5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poly_mul_pointwise.v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1732661"/>
            <a:ext cx="3974536" cy="3128891"/>
            <a:chOff x="0" y="0"/>
            <a:chExt cx="1122400" cy="883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2400" cy="883592"/>
            </a:xfrm>
            <a:custGeom>
              <a:avLst/>
              <a:gdLst/>
              <a:ahLst/>
              <a:cxnLst/>
              <a:rect r="r" b="b" t="t" l="l"/>
              <a:pathLst>
                <a:path h="883592" w="1122400">
                  <a:moveTo>
                    <a:pt x="66228" y="0"/>
                  </a:moveTo>
                  <a:lnTo>
                    <a:pt x="1056172" y="0"/>
                  </a:lnTo>
                  <a:cubicBezTo>
                    <a:pt x="1073737" y="0"/>
                    <a:pt x="1090582" y="6978"/>
                    <a:pt x="1103003" y="19398"/>
                  </a:cubicBezTo>
                  <a:cubicBezTo>
                    <a:pt x="1115423" y="31818"/>
                    <a:pt x="1122400" y="48663"/>
                    <a:pt x="1122400" y="66228"/>
                  </a:cubicBezTo>
                  <a:lnTo>
                    <a:pt x="1122400" y="817364"/>
                  </a:lnTo>
                  <a:cubicBezTo>
                    <a:pt x="1122400" y="834929"/>
                    <a:pt x="1115423" y="851774"/>
                    <a:pt x="1103003" y="864194"/>
                  </a:cubicBezTo>
                  <a:cubicBezTo>
                    <a:pt x="1090582" y="876614"/>
                    <a:pt x="1073737" y="883592"/>
                    <a:pt x="1056172" y="883592"/>
                  </a:cubicBezTo>
                  <a:lnTo>
                    <a:pt x="66228" y="883592"/>
                  </a:lnTo>
                  <a:cubicBezTo>
                    <a:pt x="48663" y="883592"/>
                    <a:pt x="31818" y="876614"/>
                    <a:pt x="19398" y="864194"/>
                  </a:cubicBezTo>
                  <a:cubicBezTo>
                    <a:pt x="6978" y="851774"/>
                    <a:pt x="0" y="834929"/>
                    <a:pt x="0" y="817364"/>
                  </a:cubicBezTo>
                  <a:lnTo>
                    <a:pt x="0" y="66228"/>
                  </a:lnTo>
                  <a:cubicBezTo>
                    <a:pt x="0" y="48663"/>
                    <a:pt x="6978" y="31818"/>
                    <a:pt x="19398" y="19398"/>
                  </a:cubicBezTo>
                  <a:cubicBezTo>
                    <a:pt x="31818" y="6978"/>
                    <a:pt x="48663" y="0"/>
                    <a:pt x="66228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22400" cy="921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52086" y="1894646"/>
            <a:ext cx="3527764" cy="274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Original critical path:</a:t>
            </a:r>
          </a:p>
          <a:p>
            <a:pPr algn="ctr">
              <a:lnSpc>
                <a:spcPts val="3311"/>
              </a:lnSpc>
            </a:pP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mod_mult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mod_mult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mod_add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025875" y="288076"/>
            <a:ext cx="1934252" cy="740624"/>
          </a:xfrm>
          <a:custGeom>
            <a:avLst/>
            <a:gdLst/>
            <a:ahLst/>
            <a:cxnLst/>
            <a:rect r="r" b="b" t="t" l="l"/>
            <a:pathLst>
              <a:path h="740624" w="1934252">
                <a:moveTo>
                  <a:pt x="0" y="0"/>
                </a:moveTo>
                <a:lnTo>
                  <a:pt x="1934252" y="0"/>
                </a:lnTo>
                <a:lnTo>
                  <a:pt x="1934252" y="740624"/>
                </a:lnTo>
                <a:lnTo>
                  <a:pt x="0" y="74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5073637"/>
            <a:ext cx="3974536" cy="4026662"/>
            <a:chOff x="0" y="0"/>
            <a:chExt cx="1122400" cy="11371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2400" cy="1137121"/>
            </a:xfrm>
            <a:custGeom>
              <a:avLst/>
              <a:gdLst/>
              <a:ahLst/>
              <a:cxnLst/>
              <a:rect r="r" b="b" t="t" l="l"/>
              <a:pathLst>
                <a:path h="1137121" w="1122400">
                  <a:moveTo>
                    <a:pt x="66228" y="0"/>
                  </a:moveTo>
                  <a:lnTo>
                    <a:pt x="1056172" y="0"/>
                  </a:lnTo>
                  <a:cubicBezTo>
                    <a:pt x="1073737" y="0"/>
                    <a:pt x="1090582" y="6978"/>
                    <a:pt x="1103003" y="19398"/>
                  </a:cubicBezTo>
                  <a:cubicBezTo>
                    <a:pt x="1115423" y="31818"/>
                    <a:pt x="1122400" y="48663"/>
                    <a:pt x="1122400" y="66228"/>
                  </a:cubicBezTo>
                  <a:lnTo>
                    <a:pt x="1122400" y="1070893"/>
                  </a:lnTo>
                  <a:cubicBezTo>
                    <a:pt x="1122400" y="1088457"/>
                    <a:pt x="1115423" y="1105303"/>
                    <a:pt x="1103003" y="1117723"/>
                  </a:cubicBezTo>
                  <a:cubicBezTo>
                    <a:pt x="1090582" y="1130143"/>
                    <a:pt x="1073737" y="1137121"/>
                    <a:pt x="1056172" y="1137121"/>
                  </a:cubicBezTo>
                  <a:lnTo>
                    <a:pt x="66228" y="1137121"/>
                  </a:lnTo>
                  <a:cubicBezTo>
                    <a:pt x="48663" y="1137121"/>
                    <a:pt x="31818" y="1130143"/>
                    <a:pt x="19398" y="1117723"/>
                  </a:cubicBezTo>
                  <a:cubicBezTo>
                    <a:pt x="6978" y="1105303"/>
                    <a:pt x="0" y="1088457"/>
                    <a:pt x="0" y="1070893"/>
                  </a:cubicBezTo>
                  <a:lnTo>
                    <a:pt x="0" y="66228"/>
                  </a:lnTo>
                  <a:cubicBezTo>
                    <a:pt x="0" y="48663"/>
                    <a:pt x="6978" y="31818"/>
                    <a:pt x="19398" y="19398"/>
                  </a:cubicBezTo>
                  <a:cubicBezTo>
                    <a:pt x="31818" y="6978"/>
                    <a:pt x="48663" y="0"/>
                    <a:pt x="66228" y="0"/>
                  </a:cubicBezTo>
                  <a:close/>
                </a:path>
              </a:pathLst>
            </a:custGeom>
            <a:solidFill>
              <a:srgbClr val="40C5C5">
                <a:alpha val="64706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22400" cy="1175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94475" y="5247627"/>
            <a:ext cx="3642986" cy="385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Pipeline modification:</a:t>
            </a:r>
          </a:p>
          <a:p>
            <a:pPr algn="ctr">
              <a:lnSpc>
                <a:spcPts val="3035"/>
              </a:lnSpc>
            </a:pP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TAGE 1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 ×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mod_mult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PIPELINE REGI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STERS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STAGE 2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mod_mult + mod_ad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</a:p>
          <a:p>
            <a:pPr algn="ctr">
              <a:lnSpc>
                <a:spcPts val="3035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5263760" y="1732661"/>
            <a:ext cx="11934629" cy="7367638"/>
            <a:chOff x="0" y="0"/>
            <a:chExt cx="3370313" cy="20806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70313" cy="2080605"/>
            </a:xfrm>
            <a:custGeom>
              <a:avLst/>
              <a:gdLst/>
              <a:ahLst/>
              <a:cxnLst/>
              <a:rect r="r" b="b" t="t" l="l"/>
              <a:pathLst>
                <a:path h="2080605" w="3370313">
                  <a:moveTo>
                    <a:pt x="22056" y="0"/>
                  </a:moveTo>
                  <a:lnTo>
                    <a:pt x="3348257" y="0"/>
                  </a:lnTo>
                  <a:cubicBezTo>
                    <a:pt x="3354107" y="0"/>
                    <a:pt x="3359717" y="2324"/>
                    <a:pt x="3363853" y="6460"/>
                  </a:cubicBezTo>
                  <a:cubicBezTo>
                    <a:pt x="3367989" y="10596"/>
                    <a:pt x="3370313" y="16206"/>
                    <a:pt x="3370313" y="22056"/>
                  </a:cubicBezTo>
                  <a:lnTo>
                    <a:pt x="3370313" y="2058549"/>
                  </a:lnTo>
                  <a:cubicBezTo>
                    <a:pt x="3370313" y="2064399"/>
                    <a:pt x="3367989" y="2070009"/>
                    <a:pt x="3363853" y="2074145"/>
                  </a:cubicBezTo>
                  <a:cubicBezTo>
                    <a:pt x="3359717" y="2078281"/>
                    <a:pt x="3354107" y="2080605"/>
                    <a:pt x="3348257" y="2080605"/>
                  </a:cubicBezTo>
                  <a:lnTo>
                    <a:pt x="22056" y="2080605"/>
                  </a:lnTo>
                  <a:cubicBezTo>
                    <a:pt x="16206" y="2080605"/>
                    <a:pt x="10596" y="2078281"/>
                    <a:pt x="6460" y="2074145"/>
                  </a:cubicBezTo>
                  <a:cubicBezTo>
                    <a:pt x="2324" y="2070009"/>
                    <a:pt x="0" y="2064399"/>
                    <a:pt x="0" y="2058549"/>
                  </a:cubicBezTo>
                  <a:lnTo>
                    <a:pt x="0" y="22056"/>
                  </a:lnTo>
                  <a:cubicBezTo>
                    <a:pt x="0" y="16206"/>
                    <a:pt x="2324" y="10596"/>
                    <a:pt x="6460" y="6460"/>
                  </a:cubicBezTo>
                  <a:cubicBezTo>
                    <a:pt x="10596" y="2324"/>
                    <a:pt x="16206" y="0"/>
                    <a:pt x="22056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70313" cy="2118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575709" y="1912428"/>
            <a:ext cx="5265271" cy="728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Code-level changes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Declarations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Added stage1_valid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Added stage2_valid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Added Stage-1 → Stage-2 registers:</a:t>
            </a:r>
          </a:p>
          <a:p>
            <a:pPr algn="l" marL="949959" indent="-316653" lvl="2">
              <a:lnSpc>
                <a:spcPts val="3035"/>
              </a:lnSpc>
              <a:buFont typeface="Arial"/>
              <a:buChar char="⚬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p_a0b0_r</a:t>
            </a:r>
          </a:p>
          <a:p>
            <a:pPr algn="l" marL="949959" indent="-316653" lvl="2">
              <a:lnSpc>
                <a:spcPts val="3035"/>
              </a:lnSpc>
              <a:buFont typeface="Arial"/>
              <a:buChar char="⚬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p_a1b1_r</a:t>
            </a:r>
          </a:p>
          <a:p>
            <a:pPr algn="l" marL="949959" indent="-316653" lvl="2">
              <a:lnSpc>
                <a:spcPts val="3035"/>
              </a:lnSpc>
              <a:buFont typeface="Arial"/>
              <a:buChar char="⚬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p_a0b1_r</a:t>
            </a:r>
          </a:p>
          <a:p>
            <a:pPr algn="l" marL="949959" indent="-316653" lvl="2">
              <a:lnSpc>
                <a:spcPts val="3035"/>
              </a:lnSpc>
              <a:buFont typeface="Arial"/>
              <a:buChar char="⚬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p_a1b0_r</a:t>
            </a:r>
          </a:p>
          <a:p>
            <a:pPr algn="l" marL="949959" indent="-316653" lvl="2">
              <a:lnSpc>
                <a:spcPts val="3035"/>
              </a:lnSpc>
              <a:buFont typeface="Arial"/>
              <a:buChar char="⚬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gamma_r</a:t>
            </a:r>
          </a:p>
          <a:p>
            <a:pPr algn="l" marL="949959" indent="-316653" lvl="2">
              <a:lnSpc>
                <a:spcPts val="3035"/>
              </a:lnSpc>
              <a:buFont typeface="Arial"/>
              <a:buChar char="⚬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idx_i_r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Datapath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Separated the second mod_mult from the first stage.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p_gam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 now operates on registered p_a1b1_r.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Final mod_add operates after the pipeline boundary.</a:t>
            </a:r>
          </a:p>
          <a:p>
            <a:pPr algn="l">
              <a:lnSpc>
                <a:spcPts val="303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412480" y="1912428"/>
            <a:ext cx="5265271" cy="648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Control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Added valid propagation:</a:t>
            </a:r>
          </a:p>
          <a:p>
            <a:pPr algn="l" marL="949959" indent="-316653" lvl="2">
              <a:lnSpc>
                <a:spcPts val="3035"/>
              </a:lnSpc>
              <a:buFont typeface="Arial"/>
              <a:buChar char="⚬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stage1_valid</a:t>
            </a:r>
          </a:p>
          <a:p>
            <a:pPr algn="l" marL="949959" indent="-316653" lvl="2">
              <a:lnSpc>
                <a:spcPts val="3035"/>
              </a:lnSpc>
              <a:buFont typeface="Arial"/>
              <a:buChar char="⚬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stage2_valid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dified COMPUTE state to:</a:t>
            </a:r>
          </a:p>
          <a:p>
            <a:pPr algn="l" marL="949959" indent="-316653" lvl="2">
              <a:lnSpc>
                <a:spcPts val="3035"/>
              </a:lnSpc>
              <a:buFont typeface="Arial"/>
              <a:buChar char="⚬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Capture Stage-1 results.</a:t>
            </a:r>
          </a:p>
          <a:p>
            <a:pPr algn="l" marL="949959" indent="-316653" lvl="2">
              <a:lnSpc>
                <a:spcPts val="3035"/>
              </a:lnSpc>
              <a:buFont typeface="Arial"/>
              <a:buChar char="⚬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pagate valid.</a:t>
            </a:r>
          </a:p>
          <a:p>
            <a:pPr algn="l" marL="949959" indent="-316653" lvl="2">
              <a:lnSpc>
                <a:spcPts val="3035"/>
              </a:lnSpc>
              <a:buFont typeface="Arial"/>
              <a:buChar char="⚬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rform Stage-2 writeback.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eset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Added reset initialization for all new pipeline registers and valid signals.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ate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ncy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Total operation increased to approximately 129 cycles, only one additional cycle relative to the previous implementation.</a:t>
            </a:r>
          </a:p>
          <a:p>
            <a:pPr algn="l">
              <a:lnSpc>
                <a:spcPts val="303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400" y="4464"/>
            <a:ext cx="18288008" cy="10278074"/>
          </a:xfrm>
          <a:custGeom>
            <a:avLst/>
            <a:gdLst/>
            <a:ahLst/>
            <a:cxnLst/>
            <a:rect r="r" b="b" t="t" l="l"/>
            <a:pathLst>
              <a:path h="10278074" w="18288008">
                <a:moveTo>
                  <a:pt x="0" y="0"/>
                </a:moveTo>
                <a:lnTo>
                  <a:pt x="18288008" y="0"/>
                </a:lnTo>
                <a:lnTo>
                  <a:pt x="18288008" y="10278074"/>
                </a:lnTo>
                <a:lnTo>
                  <a:pt x="0" y="102780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</a:blip>
            <a:stretch>
              <a:fillRect l="0" t="-19" r="0" b="-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96290" y="-2093476"/>
            <a:ext cx="14963638" cy="13724626"/>
          </a:xfrm>
          <a:custGeom>
            <a:avLst/>
            <a:gdLst/>
            <a:ahLst/>
            <a:cxnLst/>
            <a:rect r="r" b="b" t="t" l="l"/>
            <a:pathLst>
              <a:path h="13724626" w="14963638">
                <a:moveTo>
                  <a:pt x="0" y="0"/>
                </a:moveTo>
                <a:lnTo>
                  <a:pt x="14963638" y="0"/>
                </a:lnTo>
                <a:lnTo>
                  <a:pt x="14963638" y="13724626"/>
                </a:lnTo>
                <a:lnTo>
                  <a:pt x="0" y="1372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13486"/>
            <a:ext cx="1365061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>
                <a:solidFill>
                  <a:srgbClr val="FFFFFF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Arithmetic Datapath Pipelining: </a:t>
            </a:r>
            <a:r>
              <a:rPr lang="en-US" b="true" sz="5000">
                <a:solidFill>
                  <a:srgbClr val="40C5C5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mod_reduce_3329.v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1732661"/>
            <a:ext cx="3974536" cy="5387177"/>
            <a:chOff x="0" y="0"/>
            <a:chExt cx="1122400" cy="1521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2400" cy="1521327"/>
            </a:xfrm>
            <a:custGeom>
              <a:avLst/>
              <a:gdLst/>
              <a:ahLst/>
              <a:cxnLst/>
              <a:rect r="r" b="b" t="t" l="l"/>
              <a:pathLst>
                <a:path h="1521327" w="1122400">
                  <a:moveTo>
                    <a:pt x="66228" y="0"/>
                  </a:moveTo>
                  <a:lnTo>
                    <a:pt x="1056172" y="0"/>
                  </a:lnTo>
                  <a:cubicBezTo>
                    <a:pt x="1073737" y="0"/>
                    <a:pt x="1090582" y="6978"/>
                    <a:pt x="1103003" y="19398"/>
                  </a:cubicBezTo>
                  <a:cubicBezTo>
                    <a:pt x="1115423" y="31818"/>
                    <a:pt x="1122400" y="48663"/>
                    <a:pt x="1122400" y="66228"/>
                  </a:cubicBezTo>
                  <a:lnTo>
                    <a:pt x="1122400" y="1455099"/>
                  </a:lnTo>
                  <a:cubicBezTo>
                    <a:pt x="1122400" y="1472664"/>
                    <a:pt x="1115423" y="1489509"/>
                    <a:pt x="1103003" y="1501929"/>
                  </a:cubicBezTo>
                  <a:cubicBezTo>
                    <a:pt x="1090582" y="1514349"/>
                    <a:pt x="1073737" y="1521327"/>
                    <a:pt x="1056172" y="1521327"/>
                  </a:cubicBezTo>
                  <a:lnTo>
                    <a:pt x="66228" y="1521327"/>
                  </a:lnTo>
                  <a:cubicBezTo>
                    <a:pt x="48663" y="1521327"/>
                    <a:pt x="31818" y="1514349"/>
                    <a:pt x="19398" y="1501929"/>
                  </a:cubicBezTo>
                  <a:cubicBezTo>
                    <a:pt x="6978" y="1489509"/>
                    <a:pt x="0" y="1472664"/>
                    <a:pt x="0" y="1455099"/>
                  </a:cubicBezTo>
                  <a:lnTo>
                    <a:pt x="0" y="66228"/>
                  </a:lnTo>
                  <a:cubicBezTo>
                    <a:pt x="0" y="48663"/>
                    <a:pt x="6978" y="31818"/>
                    <a:pt x="19398" y="19398"/>
                  </a:cubicBezTo>
                  <a:cubicBezTo>
                    <a:pt x="31818" y="6978"/>
                    <a:pt x="48663" y="0"/>
                    <a:pt x="66228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22400" cy="1559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52086" y="2261789"/>
            <a:ext cx="3527764" cy="427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Original critical path:</a:t>
            </a:r>
          </a:p>
          <a:p>
            <a:pPr algn="ctr">
              <a:lnSpc>
                <a:spcPts val="3311"/>
              </a:lnSpc>
            </a:pP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val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ue × MU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quotient estimation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quotient × Q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mainder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conditional reduction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025875" y="288076"/>
            <a:ext cx="1934252" cy="740624"/>
          </a:xfrm>
          <a:custGeom>
            <a:avLst/>
            <a:gdLst/>
            <a:ahLst/>
            <a:cxnLst/>
            <a:rect r="r" b="b" t="t" l="l"/>
            <a:pathLst>
              <a:path h="740624" w="1934252">
                <a:moveTo>
                  <a:pt x="0" y="0"/>
                </a:moveTo>
                <a:lnTo>
                  <a:pt x="1934252" y="0"/>
                </a:lnTo>
                <a:lnTo>
                  <a:pt x="1934252" y="740624"/>
                </a:lnTo>
                <a:lnTo>
                  <a:pt x="0" y="74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263760" y="1732661"/>
            <a:ext cx="11934629" cy="5387177"/>
            <a:chOff x="0" y="0"/>
            <a:chExt cx="3370313" cy="15213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70313" cy="1521327"/>
            </a:xfrm>
            <a:custGeom>
              <a:avLst/>
              <a:gdLst/>
              <a:ahLst/>
              <a:cxnLst/>
              <a:rect r="r" b="b" t="t" l="l"/>
              <a:pathLst>
                <a:path h="1521327" w="3370313">
                  <a:moveTo>
                    <a:pt x="22056" y="0"/>
                  </a:moveTo>
                  <a:lnTo>
                    <a:pt x="3348257" y="0"/>
                  </a:lnTo>
                  <a:cubicBezTo>
                    <a:pt x="3354107" y="0"/>
                    <a:pt x="3359717" y="2324"/>
                    <a:pt x="3363853" y="6460"/>
                  </a:cubicBezTo>
                  <a:cubicBezTo>
                    <a:pt x="3367989" y="10596"/>
                    <a:pt x="3370313" y="16206"/>
                    <a:pt x="3370313" y="22056"/>
                  </a:cubicBezTo>
                  <a:lnTo>
                    <a:pt x="3370313" y="1499271"/>
                  </a:lnTo>
                  <a:cubicBezTo>
                    <a:pt x="3370313" y="1505121"/>
                    <a:pt x="3367989" y="1510731"/>
                    <a:pt x="3363853" y="1514867"/>
                  </a:cubicBezTo>
                  <a:cubicBezTo>
                    <a:pt x="3359717" y="1519003"/>
                    <a:pt x="3354107" y="1521327"/>
                    <a:pt x="3348257" y="1521327"/>
                  </a:cubicBezTo>
                  <a:lnTo>
                    <a:pt x="22056" y="1521327"/>
                  </a:lnTo>
                  <a:cubicBezTo>
                    <a:pt x="16206" y="1521327"/>
                    <a:pt x="10596" y="1519003"/>
                    <a:pt x="6460" y="1514867"/>
                  </a:cubicBezTo>
                  <a:cubicBezTo>
                    <a:pt x="2324" y="1510731"/>
                    <a:pt x="0" y="1505121"/>
                    <a:pt x="0" y="1499271"/>
                  </a:cubicBezTo>
                  <a:lnTo>
                    <a:pt x="0" y="22056"/>
                  </a:lnTo>
                  <a:cubicBezTo>
                    <a:pt x="0" y="16206"/>
                    <a:pt x="2324" y="10596"/>
                    <a:pt x="6460" y="6460"/>
                  </a:cubicBezTo>
                  <a:cubicBezTo>
                    <a:pt x="10596" y="2324"/>
                    <a:pt x="16206" y="0"/>
                    <a:pt x="22056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370313" cy="1559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575709" y="1912428"/>
            <a:ext cx="11165396" cy="541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Code-level changes to mention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Depending on the exact pipelined revision you used, the changes should include: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Added clock/reset interface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Added registers for the reciprocal multiplication result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Registe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red the quotient estimate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Reg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istered intermediate quotient/product values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Separated the Barrett reduction into multiple sequential stages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Added valid/control propagation if the surrounding datapath required it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Reset all newly introduced pipeline registers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pdated downstream ti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ming/latency expectations</a:t>
            </a:r>
          </a:p>
          <a:p>
            <a:pPr algn="l">
              <a:lnSpc>
                <a:spcPts val="3311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Purpose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Break the long Barrett-reduction combinational path into shorter arithmetic stages while preserving modulo-3329 functionality.</a:t>
            </a:r>
          </a:p>
          <a:p>
            <a:pPr algn="l">
              <a:lnSpc>
                <a:spcPts val="3035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7327200"/>
            <a:ext cx="16230600" cy="2050992"/>
            <a:chOff x="0" y="0"/>
            <a:chExt cx="4583486" cy="5791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83486" cy="579196"/>
            </a:xfrm>
            <a:custGeom>
              <a:avLst/>
              <a:gdLst/>
              <a:ahLst/>
              <a:cxnLst/>
              <a:rect r="r" b="b" t="t" l="l"/>
              <a:pathLst>
                <a:path h="579196" w="4583486">
                  <a:moveTo>
                    <a:pt x="16218" y="0"/>
                  </a:moveTo>
                  <a:lnTo>
                    <a:pt x="4567268" y="0"/>
                  </a:lnTo>
                  <a:cubicBezTo>
                    <a:pt x="4576225" y="0"/>
                    <a:pt x="4583486" y="7261"/>
                    <a:pt x="4583486" y="16218"/>
                  </a:cubicBezTo>
                  <a:lnTo>
                    <a:pt x="4583486" y="562978"/>
                  </a:lnTo>
                  <a:cubicBezTo>
                    <a:pt x="4583486" y="571935"/>
                    <a:pt x="4576225" y="579196"/>
                    <a:pt x="4567268" y="579196"/>
                  </a:cubicBezTo>
                  <a:lnTo>
                    <a:pt x="16218" y="579196"/>
                  </a:lnTo>
                  <a:cubicBezTo>
                    <a:pt x="7261" y="579196"/>
                    <a:pt x="0" y="571935"/>
                    <a:pt x="0" y="562978"/>
                  </a:cubicBezTo>
                  <a:lnTo>
                    <a:pt x="0" y="16218"/>
                  </a:lnTo>
                  <a:cubicBezTo>
                    <a:pt x="0" y="7261"/>
                    <a:pt x="7261" y="0"/>
                    <a:pt x="16218" y="0"/>
                  </a:cubicBezTo>
                  <a:close/>
                </a:path>
              </a:pathLst>
            </a:custGeom>
            <a:solidFill>
              <a:srgbClr val="40C5C5">
                <a:alpha val="66667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583486" cy="617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52086" y="7466334"/>
            <a:ext cx="14984668" cy="194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Pipelined:</a:t>
            </a:r>
          </a:p>
          <a:p>
            <a:pPr algn="l">
              <a:lnSpc>
                <a:spcPts val="3035"/>
              </a:lnSpc>
            </a:pP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STAGE 1                                                                                             STAGE 2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val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ue × MU → 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REGISTER → 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quotient estimation → 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REGISTER → 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quotient × Q → re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mainder → conditional reduction</a:t>
            </a:r>
          </a:p>
          <a:p>
            <a:pPr algn="l">
              <a:lnSpc>
                <a:spcPts val="303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96290" y="-2093476"/>
            <a:ext cx="14963638" cy="13724626"/>
          </a:xfrm>
          <a:custGeom>
            <a:avLst/>
            <a:gdLst/>
            <a:ahLst/>
            <a:cxnLst/>
            <a:rect r="r" b="b" t="t" l="l"/>
            <a:pathLst>
              <a:path h="13724626" w="14963638">
                <a:moveTo>
                  <a:pt x="0" y="0"/>
                </a:moveTo>
                <a:lnTo>
                  <a:pt x="14963638" y="0"/>
                </a:lnTo>
                <a:lnTo>
                  <a:pt x="14963638" y="13724626"/>
                </a:lnTo>
                <a:lnTo>
                  <a:pt x="0" y="137246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5400" y="4464"/>
            <a:ext cx="18288008" cy="10278074"/>
          </a:xfrm>
          <a:custGeom>
            <a:avLst/>
            <a:gdLst/>
            <a:ahLst/>
            <a:cxnLst/>
            <a:rect r="r" b="b" t="t" l="l"/>
            <a:pathLst>
              <a:path h="10278074" w="18288008">
                <a:moveTo>
                  <a:pt x="0" y="0"/>
                </a:moveTo>
                <a:lnTo>
                  <a:pt x="18288008" y="0"/>
                </a:lnTo>
                <a:lnTo>
                  <a:pt x="18288008" y="10278074"/>
                </a:lnTo>
                <a:lnTo>
                  <a:pt x="0" y="102780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2000"/>
            </a:blip>
            <a:stretch>
              <a:fillRect l="0" t="-19" r="0" b="-1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13486"/>
            <a:ext cx="1365061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>
                <a:solidFill>
                  <a:srgbClr val="FFFFFF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CODE-LEVEL PIPELINE SUMMARY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25875" y="288076"/>
            <a:ext cx="1934252" cy="740624"/>
          </a:xfrm>
          <a:custGeom>
            <a:avLst/>
            <a:gdLst/>
            <a:ahLst/>
            <a:cxnLst/>
            <a:rect r="r" b="b" t="t" l="l"/>
            <a:pathLst>
              <a:path h="740624" w="1934252">
                <a:moveTo>
                  <a:pt x="0" y="0"/>
                </a:moveTo>
                <a:lnTo>
                  <a:pt x="1934252" y="0"/>
                </a:lnTo>
                <a:lnTo>
                  <a:pt x="1934252" y="740624"/>
                </a:lnTo>
                <a:lnTo>
                  <a:pt x="0" y="74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732661"/>
            <a:ext cx="6940850" cy="6968647"/>
            <a:chOff x="0" y="0"/>
            <a:chExt cx="1960081" cy="19679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60081" cy="1967930"/>
            </a:xfrm>
            <a:custGeom>
              <a:avLst/>
              <a:gdLst/>
              <a:ahLst/>
              <a:cxnLst/>
              <a:rect r="r" b="b" t="t" l="l"/>
              <a:pathLst>
                <a:path h="1967930" w="1960081">
                  <a:moveTo>
                    <a:pt x="37924" y="0"/>
                  </a:moveTo>
                  <a:lnTo>
                    <a:pt x="1922157" y="0"/>
                  </a:lnTo>
                  <a:cubicBezTo>
                    <a:pt x="1943102" y="0"/>
                    <a:pt x="1960081" y="16979"/>
                    <a:pt x="1960081" y="37924"/>
                  </a:cubicBezTo>
                  <a:lnTo>
                    <a:pt x="1960081" y="1930006"/>
                  </a:lnTo>
                  <a:cubicBezTo>
                    <a:pt x="1960081" y="1940065"/>
                    <a:pt x="1956085" y="1949711"/>
                    <a:pt x="1948973" y="1956823"/>
                  </a:cubicBezTo>
                  <a:cubicBezTo>
                    <a:pt x="1941861" y="1963935"/>
                    <a:pt x="1932215" y="1967930"/>
                    <a:pt x="1922157" y="1967930"/>
                  </a:cubicBezTo>
                  <a:lnTo>
                    <a:pt x="37924" y="1967930"/>
                  </a:lnTo>
                  <a:cubicBezTo>
                    <a:pt x="16979" y="1967930"/>
                    <a:pt x="0" y="1950951"/>
                    <a:pt x="0" y="1930006"/>
                  </a:cubicBezTo>
                  <a:lnTo>
                    <a:pt x="0" y="37924"/>
                  </a:lnTo>
                  <a:cubicBezTo>
                    <a:pt x="0" y="16979"/>
                    <a:pt x="16979" y="0"/>
                    <a:pt x="37924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60081" cy="2006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47018" y="1967103"/>
            <a:ext cx="6288770" cy="628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b="true">
                <a:solidFill>
                  <a:srgbClr val="40C5C5"/>
                </a:solidFill>
                <a:latin typeface="Arimo Bold"/>
                <a:ea typeface="Arimo Bold"/>
                <a:cs typeface="Arimo Bold"/>
                <a:sym typeface="Arimo Bold"/>
              </a:rPr>
              <a:t>poly_mul_pointwise.v</a:t>
            </a:r>
          </a:p>
          <a:p>
            <a:pPr algn="l">
              <a:lnSpc>
                <a:spcPts val="4140"/>
              </a:lnSpc>
            </a:pPr>
          </a:p>
          <a:p>
            <a:pPr algn="l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Added</a:t>
            </a:r>
          </a:p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p_a0b0_r</a:t>
            </a:r>
          </a:p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p_a1b1_r</a:t>
            </a:r>
          </a:p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p_a0b1_r</a:t>
            </a:r>
          </a:p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p_a1b0_r</a:t>
            </a:r>
          </a:p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gamma_r</a:t>
            </a:r>
          </a:p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idx_i_r</a:t>
            </a:r>
          </a:p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│</a:t>
            </a:r>
          </a:p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▼</a:t>
            </a:r>
          </a:p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tage1_valid → stage2_valid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380289" y="1822284"/>
            <a:ext cx="8467425" cy="6879024"/>
            <a:chOff x="0" y="0"/>
            <a:chExt cx="2391182" cy="19426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1182" cy="1942621"/>
            </a:xfrm>
            <a:custGeom>
              <a:avLst/>
              <a:gdLst/>
              <a:ahLst/>
              <a:cxnLst/>
              <a:rect r="r" b="b" t="t" l="l"/>
              <a:pathLst>
                <a:path h="1942621" w="2391182">
                  <a:moveTo>
                    <a:pt x="31087" y="0"/>
                  </a:moveTo>
                  <a:lnTo>
                    <a:pt x="2360095" y="0"/>
                  </a:lnTo>
                  <a:cubicBezTo>
                    <a:pt x="2368340" y="0"/>
                    <a:pt x="2376247" y="3275"/>
                    <a:pt x="2382077" y="9105"/>
                  </a:cubicBezTo>
                  <a:cubicBezTo>
                    <a:pt x="2387907" y="14935"/>
                    <a:pt x="2391182" y="22842"/>
                    <a:pt x="2391182" y="31087"/>
                  </a:cubicBezTo>
                  <a:lnTo>
                    <a:pt x="2391182" y="1911534"/>
                  </a:lnTo>
                  <a:cubicBezTo>
                    <a:pt x="2391182" y="1928703"/>
                    <a:pt x="2377264" y="1942621"/>
                    <a:pt x="2360095" y="1942621"/>
                  </a:cubicBezTo>
                  <a:lnTo>
                    <a:pt x="31087" y="1942621"/>
                  </a:lnTo>
                  <a:cubicBezTo>
                    <a:pt x="22842" y="1942621"/>
                    <a:pt x="14935" y="1939346"/>
                    <a:pt x="9105" y="1933516"/>
                  </a:cubicBezTo>
                  <a:cubicBezTo>
                    <a:pt x="3275" y="1927686"/>
                    <a:pt x="0" y="1919779"/>
                    <a:pt x="0" y="1911534"/>
                  </a:cubicBezTo>
                  <a:lnTo>
                    <a:pt x="0" y="31087"/>
                  </a:lnTo>
                  <a:cubicBezTo>
                    <a:pt x="0" y="13918"/>
                    <a:pt x="13918" y="0"/>
                    <a:pt x="31087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391182" cy="1999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706329" y="2183942"/>
            <a:ext cx="7867388" cy="628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Timing objective:</a:t>
            </a:r>
          </a:p>
          <a:p>
            <a:pPr algn="l">
              <a:lnSpc>
                <a:spcPts val="4140"/>
              </a:lnSpc>
            </a:pPr>
          </a:p>
          <a:p>
            <a:pPr algn="l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Break the multiplier cascade and reduce the arithmetic critical path.</a:t>
            </a:r>
          </a:p>
          <a:p>
            <a:pPr algn="l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source comments in your current RTL describe the intended improvement as approximately:</a:t>
            </a:r>
          </a:p>
          <a:p>
            <a:pPr algn="l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~14 ns → ~5 ns</a:t>
            </a:r>
          </a:p>
          <a:p>
            <a:pPr algn="l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which is useful as an RTL-level timing target/analysis point, but distinguish it from the final Genus WNS results.</a:t>
            </a:r>
          </a:p>
          <a:p>
            <a:pPr algn="l">
              <a:lnSpc>
                <a:spcPts val="41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0272" y="-1941822"/>
            <a:ext cx="17832834" cy="14848990"/>
          </a:xfrm>
          <a:custGeom>
            <a:avLst/>
            <a:gdLst/>
            <a:ahLst/>
            <a:cxnLst/>
            <a:rect r="r" b="b" t="t" l="l"/>
            <a:pathLst>
              <a:path h="14848990" w="17832834">
                <a:moveTo>
                  <a:pt x="0" y="0"/>
                </a:moveTo>
                <a:lnTo>
                  <a:pt x="17832834" y="0"/>
                </a:lnTo>
                <a:lnTo>
                  <a:pt x="17832834" y="14848990"/>
                </a:lnTo>
                <a:lnTo>
                  <a:pt x="0" y="148489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6536" y="1805780"/>
            <a:ext cx="7816274" cy="3641592"/>
            <a:chOff x="0" y="0"/>
            <a:chExt cx="2207298" cy="10283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07298" cy="1028377"/>
            </a:xfrm>
            <a:custGeom>
              <a:avLst/>
              <a:gdLst/>
              <a:ahLst/>
              <a:cxnLst/>
              <a:rect r="r" b="b" t="t" l="l"/>
              <a:pathLst>
                <a:path h="1028377" w="2207298">
                  <a:moveTo>
                    <a:pt x="33677" y="0"/>
                  </a:moveTo>
                  <a:lnTo>
                    <a:pt x="2173622" y="0"/>
                  </a:lnTo>
                  <a:cubicBezTo>
                    <a:pt x="2182553" y="0"/>
                    <a:pt x="2191119" y="3548"/>
                    <a:pt x="2197435" y="9864"/>
                  </a:cubicBezTo>
                  <a:cubicBezTo>
                    <a:pt x="2203750" y="16179"/>
                    <a:pt x="2207298" y="24745"/>
                    <a:pt x="2207298" y="33677"/>
                  </a:cubicBezTo>
                  <a:lnTo>
                    <a:pt x="2207298" y="994701"/>
                  </a:lnTo>
                  <a:cubicBezTo>
                    <a:pt x="2207298" y="1003632"/>
                    <a:pt x="2203750" y="1012198"/>
                    <a:pt x="2197435" y="1018514"/>
                  </a:cubicBezTo>
                  <a:cubicBezTo>
                    <a:pt x="2191119" y="1024829"/>
                    <a:pt x="2182553" y="1028377"/>
                    <a:pt x="2173622" y="1028377"/>
                  </a:cubicBezTo>
                  <a:lnTo>
                    <a:pt x="33677" y="1028377"/>
                  </a:lnTo>
                  <a:cubicBezTo>
                    <a:pt x="24745" y="1028377"/>
                    <a:pt x="16179" y="1024829"/>
                    <a:pt x="9864" y="1018514"/>
                  </a:cubicBezTo>
                  <a:cubicBezTo>
                    <a:pt x="3548" y="1012198"/>
                    <a:pt x="0" y="1003632"/>
                    <a:pt x="0" y="994701"/>
                  </a:cubicBezTo>
                  <a:lnTo>
                    <a:pt x="0" y="33677"/>
                  </a:lnTo>
                  <a:cubicBezTo>
                    <a:pt x="0" y="24745"/>
                    <a:pt x="3548" y="16179"/>
                    <a:pt x="9864" y="9864"/>
                  </a:cubicBezTo>
                  <a:cubicBezTo>
                    <a:pt x="16179" y="3548"/>
                    <a:pt x="24745" y="0"/>
                    <a:pt x="33677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07298" cy="1066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37850" y="648863"/>
            <a:ext cx="1392409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>
                <a:solidFill>
                  <a:srgbClr val="FFFFFF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Polynomial/Vector Processing &amp; System Control (Jairus)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025875" y="288076"/>
            <a:ext cx="1934252" cy="740624"/>
          </a:xfrm>
          <a:custGeom>
            <a:avLst/>
            <a:gdLst/>
            <a:ahLst/>
            <a:cxnLst/>
            <a:rect r="r" b="b" t="t" l="l"/>
            <a:pathLst>
              <a:path h="740624" w="1934252">
                <a:moveTo>
                  <a:pt x="0" y="0"/>
                </a:moveTo>
                <a:lnTo>
                  <a:pt x="1934252" y="0"/>
                </a:lnTo>
                <a:lnTo>
                  <a:pt x="1934252" y="740624"/>
                </a:lnTo>
                <a:lnTo>
                  <a:pt x="0" y="740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12700" y="2126772"/>
            <a:ext cx="3942764" cy="305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Polynomial Operations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oly_add.v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oly_sub.v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Matrix / Vector Datapath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matrix_vec_mul.v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mpression / Representation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poly_compress.v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oly_decompress.v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55464" y="2126772"/>
            <a:ext cx="3942764" cy="267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SoC Integrat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io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mlkem_per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ip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heral.v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lkem_picosoc_top.v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ML-KEM Control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mlkem_top.v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mlkem_keygen.v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mlkem_dec.v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6536" y="7515084"/>
            <a:ext cx="16332039" cy="1743216"/>
            <a:chOff x="0" y="0"/>
            <a:chExt cx="4612132" cy="492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12132" cy="492280"/>
            </a:xfrm>
            <a:custGeom>
              <a:avLst/>
              <a:gdLst/>
              <a:ahLst/>
              <a:cxnLst/>
              <a:rect r="r" b="b" t="t" l="l"/>
              <a:pathLst>
                <a:path h="492280" w="4612132">
                  <a:moveTo>
                    <a:pt x="16117" y="0"/>
                  </a:moveTo>
                  <a:lnTo>
                    <a:pt x="4596014" y="0"/>
                  </a:lnTo>
                  <a:cubicBezTo>
                    <a:pt x="4604916" y="0"/>
                    <a:pt x="4612132" y="7216"/>
                    <a:pt x="4612132" y="16117"/>
                  </a:cubicBezTo>
                  <a:lnTo>
                    <a:pt x="4612132" y="476163"/>
                  </a:lnTo>
                  <a:cubicBezTo>
                    <a:pt x="4612132" y="485064"/>
                    <a:pt x="4604916" y="492280"/>
                    <a:pt x="4596014" y="492280"/>
                  </a:cubicBezTo>
                  <a:lnTo>
                    <a:pt x="16117" y="492280"/>
                  </a:lnTo>
                  <a:cubicBezTo>
                    <a:pt x="7216" y="492280"/>
                    <a:pt x="0" y="485064"/>
                    <a:pt x="0" y="476163"/>
                  </a:cubicBezTo>
                  <a:lnTo>
                    <a:pt x="0" y="16117"/>
                  </a:lnTo>
                  <a:cubicBezTo>
                    <a:pt x="0" y="7216"/>
                    <a:pt x="7216" y="0"/>
                    <a:pt x="16117" y="0"/>
                  </a:cubicBezTo>
                  <a:close/>
                </a:path>
              </a:pathLst>
            </a:custGeom>
            <a:solidFill>
              <a:srgbClr val="40C5C5">
                <a:alpha val="64706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12132" cy="530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12700" y="7658918"/>
            <a:ext cx="1582606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5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Responsibility 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lynomial/vector processing, ML-KEM operation control and integration 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of the accelerator with the PicoSoC/PicoRV32 system. Decouple pointwise multiplication from the following parallel polynomial-addition paths.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039225" y="1805780"/>
            <a:ext cx="8319350" cy="3641592"/>
            <a:chOff x="0" y="0"/>
            <a:chExt cx="2349366" cy="10283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49366" cy="1028377"/>
            </a:xfrm>
            <a:custGeom>
              <a:avLst/>
              <a:gdLst/>
              <a:ahLst/>
              <a:cxnLst/>
              <a:rect r="r" b="b" t="t" l="l"/>
              <a:pathLst>
                <a:path h="1028377" w="2349366">
                  <a:moveTo>
                    <a:pt x="31640" y="0"/>
                  </a:moveTo>
                  <a:lnTo>
                    <a:pt x="2317726" y="0"/>
                  </a:lnTo>
                  <a:cubicBezTo>
                    <a:pt x="2335200" y="0"/>
                    <a:pt x="2349366" y="14166"/>
                    <a:pt x="2349366" y="31640"/>
                  </a:cubicBezTo>
                  <a:lnTo>
                    <a:pt x="2349366" y="996737"/>
                  </a:lnTo>
                  <a:cubicBezTo>
                    <a:pt x="2349366" y="1014212"/>
                    <a:pt x="2335200" y="1028377"/>
                    <a:pt x="2317726" y="1028377"/>
                  </a:cubicBezTo>
                  <a:lnTo>
                    <a:pt x="31640" y="1028377"/>
                  </a:lnTo>
                  <a:cubicBezTo>
                    <a:pt x="14166" y="1028377"/>
                    <a:pt x="0" y="1014212"/>
                    <a:pt x="0" y="996737"/>
                  </a:cubicBezTo>
                  <a:lnTo>
                    <a:pt x="0" y="31640"/>
                  </a:lnTo>
                  <a:cubicBezTo>
                    <a:pt x="0" y="14166"/>
                    <a:pt x="14166" y="0"/>
                    <a:pt x="31640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349366" cy="1066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9236016" y="2532722"/>
          <a:ext cx="7925767" cy="2552700"/>
        </p:xfrm>
        <a:graphic>
          <a:graphicData uri="http://schemas.openxmlformats.org/drawingml/2006/table">
            <a:tbl>
              <a:tblPr/>
              <a:tblGrid>
                <a:gridCol w="1697266"/>
                <a:gridCol w="2448148"/>
                <a:gridCol w="3780353"/>
              </a:tblGrid>
              <a:tr h="850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Run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Frequency / lib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Baseline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100 MHz / 90nm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Initial synthesis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Baseline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100 MHz / 90nm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Timing characterization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9340791" y="1944654"/>
            <a:ext cx="7273776" cy="4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</a:t>
            </a: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peline Type 1:  No-Pipeline ML-KEM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9225" y="5609297"/>
            <a:ext cx="8319350" cy="1744624"/>
            <a:chOff x="0" y="0"/>
            <a:chExt cx="2349366" cy="4926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49366" cy="492678"/>
            </a:xfrm>
            <a:custGeom>
              <a:avLst/>
              <a:gdLst/>
              <a:ahLst/>
              <a:cxnLst/>
              <a:rect r="r" b="b" t="t" l="l"/>
              <a:pathLst>
                <a:path h="492678" w="2349366">
                  <a:moveTo>
                    <a:pt x="31640" y="0"/>
                  </a:moveTo>
                  <a:lnTo>
                    <a:pt x="2317726" y="0"/>
                  </a:lnTo>
                  <a:cubicBezTo>
                    <a:pt x="2335200" y="0"/>
                    <a:pt x="2349366" y="14166"/>
                    <a:pt x="2349366" y="31640"/>
                  </a:cubicBezTo>
                  <a:lnTo>
                    <a:pt x="2349366" y="461038"/>
                  </a:lnTo>
                  <a:cubicBezTo>
                    <a:pt x="2349366" y="478512"/>
                    <a:pt x="2335200" y="492678"/>
                    <a:pt x="2317726" y="492678"/>
                  </a:cubicBezTo>
                  <a:lnTo>
                    <a:pt x="31640" y="492678"/>
                  </a:lnTo>
                  <a:cubicBezTo>
                    <a:pt x="14166" y="492678"/>
                    <a:pt x="0" y="478512"/>
                    <a:pt x="0" y="461038"/>
                  </a:cubicBezTo>
                  <a:lnTo>
                    <a:pt x="0" y="31640"/>
                  </a:lnTo>
                  <a:cubicBezTo>
                    <a:pt x="0" y="14166"/>
                    <a:pt x="14166" y="0"/>
                    <a:pt x="31640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349366" cy="53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366662" y="5666292"/>
            <a:ext cx="7521564" cy="153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System Integrat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io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PicoRV32 ↔ PicoSoC ↔ ML-KEM 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per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ip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heral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emory-mapped control/status interface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ML-KEM operation sequencing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37850" y="5609297"/>
            <a:ext cx="7804959" cy="1744624"/>
            <a:chOff x="0" y="0"/>
            <a:chExt cx="2204103" cy="4926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04103" cy="492678"/>
            </a:xfrm>
            <a:custGeom>
              <a:avLst/>
              <a:gdLst/>
              <a:ahLst/>
              <a:cxnLst/>
              <a:rect r="r" b="b" t="t" l="l"/>
              <a:pathLst>
                <a:path h="492678" w="2204103">
                  <a:moveTo>
                    <a:pt x="33725" y="0"/>
                  </a:moveTo>
                  <a:lnTo>
                    <a:pt x="2170378" y="0"/>
                  </a:lnTo>
                  <a:cubicBezTo>
                    <a:pt x="2179322" y="0"/>
                    <a:pt x="2187901" y="3553"/>
                    <a:pt x="2194225" y="9878"/>
                  </a:cubicBezTo>
                  <a:cubicBezTo>
                    <a:pt x="2200550" y="16203"/>
                    <a:pt x="2204103" y="24781"/>
                    <a:pt x="2204103" y="33725"/>
                  </a:cubicBezTo>
                  <a:lnTo>
                    <a:pt x="2204103" y="458952"/>
                  </a:lnTo>
                  <a:cubicBezTo>
                    <a:pt x="2204103" y="477578"/>
                    <a:pt x="2189004" y="492678"/>
                    <a:pt x="2170378" y="492678"/>
                  </a:cubicBezTo>
                  <a:lnTo>
                    <a:pt x="33725" y="492678"/>
                  </a:lnTo>
                  <a:cubicBezTo>
                    <a:pt x="15099" y="492678"/>
                    <a:pt x="0" y="477578"/>
                    <a:pt x="0" y="458952"/>
                  </a:cubicBezTo>
                  <a:lnTo>
                    <a:pt x="0" y="33725"/>
                  </a:lnTo>
                  <a:cubicBezTo>
                    <a:pt x="0" y="15099"/>
                    <a:pt x="15099" y="0"/>
                    <a:pt x="33725" y="0"/>
                  </a:cubicBezTo>
                  <a:close/>
                </a:path>
              </a:pathLst>
            </a:custGeom>
            <a:solidFill>
              <a:srgbClr val="40C5C5">
                <a:alpha val="64706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04103" cy="53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12700" y="5666292"/>
            <a:ext cx="7482667" cy="156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Additional w</a:t>
            </a: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ork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nitial synthesis debugging, Datapath error correction, Baseline timing an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alysis, Critical-path identification, SDC/constraint debugging.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400" y="4464"/>
            <a:ext cx="18288008" cy="10278074"/>
          </a:xfrm>
          <a:custGeom>
            <a:avLst/>
            <a:gdLst/>
            <a:ahLst/>
            <a:cxnLst/>
            <a:rect r="r" b="b" t="t" l="l"/>
            <a:pathLst>
              <a:path h="10278074" w="18288008">
                <a:moveTo>
                  <a:pt x="0" y="0"/>
                </a:moveTo>
                <a:lnTo>
                  <a:pt x="18288008" y="0"/>
                </a:lnTo>
                <a:lnTo>
                  <a:pt x="18288008" y="10278074"/>
                </a:lnTo>
                <a:lnTo>
                  <a:pt x="0" y="102780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</a:blip>
            <a:stretch>
              <a:fillRect l="0" t="-19" r="0" b="-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96290" y="-2093476"/>
            <a:ext cx="14963638" cy="13724626"/>
          </a:xfrm>
          <a:custGeom>
            <a:avLst/>
            <a:gdLst/>
            <a:ahLst/>
            <a:cxnLst/>
            <a:rect r="r" b="b" t="t" l="l"/>
            <a:pathLst>
              <a:path h="13724626" w="14963638">
                <a:moveTo>
                  <a:pt x="0" y="0"/>
                </a:moveTo>
                <a:lnTo>
                  <a:pt x="14963638" y="0"/>
                </a:lnTo>
                <a:lnTo>
                  <a:pt x="14963638" y="13724626"/>
                </a:lnTo>
                <a:lnTo>
                  <a:pt x="0" y="1372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13486"/>
            <a:ext cx="1365061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>
                <a:solidFill>
                  <a:srgbClr val="FFFFFF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MATRIX-VECTOR PIPELINING: </a:t>
            </a:r>
            <a:r>
              <a:rPr lang="en-US" b="true" sz="5000">
                <a:solidFill>
                  <a:srgbClr val="40C5C5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matrix_vec_mul.v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1732661"/>
            <a:ext cx="3974536" cy="3128891"/>
            <a:chOff x="0" y="0"/>
            <a:chExt cx="1122400" cy="883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2400" cy="883592"/>
            </a:xfrm>
            <a:custGeom>
              <a:avLst/>
              <a:gdLst/>
              <a:ahLst/>
              <a:cxnLst/>
              <a:rect r="r" b="b" t="t" l="l"/>
              <a:pathLst>
                <a:path h="883592" w="1122400">
                  <a:moveTo>
                    <a:pt x="66228" y="0"/>
                  </a:moveTo>
                  <a:lnTo>
                    <a:pt x="1056172" y="0"/>
                  </a:lnTo>
                  <a:cubicBezTo>
                    <a:pt x="1073737" y="0"/>
                    <a:pt x="1090582" y="6978"/>
                    <a:pt x="1103003" y="19398"/>
                  </a:cubicBezTo>
                  <a:cubicBezTo>
                    <a:pt x="1115423" y="31818"/>
                    <a:pt x="1122400" y="48663"/>
                    <a:pt x="1122400" y="66228"/>
                  </a:cubicBezTo>
                  <a:lnTo>
                    <a:pt x="1122400" y="817364"/>
                  </a:lnTo>
                  <a:cubicBezTo>
                    <a:pt x="1122400" y="834929"/>
                    <a:pt x="1115423" y="851774"/>
                    <a:pt x="1103003" y="864194"/>
                  </a:cubicBezTo>
                  <a:cubicBezTo>
                    <a:pt x="1090582" y="876614"/>
                    <a:pt x="1073737" y="883592"/>
                    <a:pt x="1056172" y="883592"/>
                  </a:cubicBezTo>
                  <a:lnTo>
                    <a:pt x="66228" y="883592"/>
                  </a:lnTo>
                  <a:cubicBezTo>
                    <a:pt x="48663" y="883592"/>
                    <a:pt x="31818" y="876614"/>
                    <a:pt x="19398" y="864194"/>
                  </a:cubicBezTo>
                  <a:cubicBezTo>
                    <a:pt x="6978" y="851774"/>
                    <a:pt x="0" y="834929"/>
                    <a:pt x="0" y="817364"/>
                  </a:cubicBezTo>
                  <a:lnTo>
                    <a:pt x="0" y="66228"/>
                  </a:lnTo>
                  <a:cubicBezTo>
                    <a:pt x="0" y="48663"/>
                    <a:pt x="6978" y="31818"/>
                    <a:pt x="19398" y="19398"/>
                  </a:cubicBezTo>
                  <a:cubicBezTo>
                    <a:pt x="31818" y="6978"/>
                    <a:pt x="48663" y="0"/>
                    <a:pt x="66228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22400" cy="921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14661" y="1894646"/>
            <a:ext cx="3527764" cy="274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Original critical path:</a:t>
            </a:r>
          </a:p>
          <a:p>
            <a:pPr algn="ctr">
              <a:lnSpc>
                <a:spcPts val="3311"/>
              </a:lnSpc>
            </a:pP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oly_mul_pointwise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256-coefficient poly_add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256-coefficient p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oly_add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025875" y="288076"/>
            <a:ext cx="1934252" cy="740624"/>
          </a:xfrm>
          <a:custGeom>
            <a:avLst/>
            <a:gdLst/>
            <a:ahLst/>
            <a:cxnLst/>
            <a:rect r="r" b="b" t="t" l="l"/>
            <a:pathLst>
              <a:path h="740624" w="1934252">
                <a:moveTo>
                  <a:pt x="0" y="0"/>
                </a:moveTo>
                <a:lnTo>
                  <a:pt x="1934252" y="0"/>
                </a:lnTo>
                <a:lnTo>
                  <a:pt x="1934252" y="740624"/>
                </a:lnTo>
                <a:lnTo>
                  <a:pt x="0" y="74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5073637"/>
            <a:ext cx="3974536" cy="4026662"/>
            <a:chOff x="0" y="0"/>
            <a:chExt cx="1122400" cy="11371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2400" cy="1137121"/>
            </a:xfrm>
            <a:custGeom>
              <a:avLst/>
              <a:gdLst/>
              <a:ahLst/>
              <a:cxnLst/>
              <a:rect r="r" b="b" t="t" l="l"/>
              <a:pathLst>
                <a:path h="1137121" w="1122400">
                  <a:moveTo>
                    <a:pt x="66228" y="0"/>
                  </a:moveTo>
                  <a:lnTo>
                    <a:pt x="1056172" y="0"/>
                  </a:lnTo>
                  <a:cubicBezTo>
                    <a:pt x="1073737" y="0"/>
                    <a:pt x="1090582" y="6978"/>
                    <a:pt x="1103003" y="19398"/>
                  </a:cubicBezTo>
                  <a:cubicBezTo>
                    <a:pt x="1115423" y="31818"/>
                    <a:pt x="1122400" y="48663"/>
                    <a:pt x="1122400" y="66228"/>
                  </a:cubicBezTo>
                  <a:lnTo>
                    <a:pt x="1122400" y="1070893"/>
                  </a:lnTo>
                  <a:cubicBezTo>
                    <a:pt x="1122400" y="1088457"/>
                    <a:pt x="1115423" y="1105303"/>
                    <a:pt x="1103003" y="1117723"/>
                  </a:cubicBezTo>
                  <a:cubicBezTo>
                    <a:pt x="1090582" y="1130143"/>
                    <a:pt x="1073737" y="1137121"/>
                    <a:pt x="1056172" y="1137121"/>
                  </a:cubicBezTo>
                  <a:lnTo>
                    <a:pt x="66228" y="1137121"/>
                  </a:lnTo>
                  <a:cubicBezTo>
                    <a:pt x="48663" y="1137121"/>
                    <a:pt x="31818" y="1130143"/>
                    <a:pt x="19398" y="1117723"/>
                  </a:cubicBezTo>
                  <a:cubicBezTo>
                    <a:pt x="6978" y="1105303"/>
                    <a:pt x="0" y="1088457"/>
                    <a:pt x="0" y="1070893"/>
                  </a:cubicBezTo>
                  <a:lnTo>
                    <a:pt x="0" y="66228"/>
                  </a:lnTo>
                  <a:cubicBezTo>
                    <a:pt x="0" y="48663"/>
                    <a:pt x="6978" y="31818"/>
                    <a:pt x="19398" y="19398"/>
                  </a:cubicBezTo>
                  <a:cubicBezTo>
                    <a:pt x="31818" y="6978"/>
                    <a:pt x="48663" y="0"/>
                    <a:pt x="66228" y="0"/>
                  </a:cubicBezTo>
                  <a:close/>
                </a:path>
              </a:pathLst>
            </a:custGeom>
            <a:solidFill>
              <a:srgbClr val="40C5C5">
                <a:alpha val="64706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22400" cy="1175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14661" y="5271127"/>
            <a:ext cx="3642986" cy="385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Pipeline modification:</a:t>
            </a:r>
          </a:p>
          <a:p>
            <a:pPr algn="ctr">
              <a:lnSpc>
                <a:spcPts val="3035"/>
              </a:lnSpc>
            </a:pP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oly_mul_pointwise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REGI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STER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poly_add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poly_ad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</a:p>
          <a:p>
            <a:pPr algn="ctr">
              <a:lnSpc>
                <a:spcPts val="3035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5263760" y="1732661"/>
            <a:ext cx="11934629" cy="7367638"/>
            <a:chOff x="0" y="0"/>
            <a:chExt cx="3370313" cy="20806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70313" cy="2080605"/>
            </a:xfrm>
            <a:custGeom>
              <a:avLst/>
              <a:gdLst/>
              <a:ahLst/>
              <a:cxnLst/>
              <a:rect r="r" b="b" t="t" l="l"/>
              <a:pathLst>
                <a:path h="2080605" w="3370313">
                  <a:moveTo>
                    <a:pt x="22056" y="0"/>
                  </a:moveTo>
                  <a:lnTo>
                    <a:pt x="3348257" y="0"/>
                  </a:lnTo>
                  <a:cubicBezTo>
                    <a:pt x="3354107" y="0"/>
                    <a:pt x="3359717" y="2324"/>
                    <a:pt x="3363853" y="6460"/>
                  </a:cubicBezTo>
                  <a:cubicBezTo>
                    <a:pt x="3367989" y="10596"/>
                    <a:pt x="3370313" y="16206"/>
                    <a:pt x="3370313" y="22056"/>
                  </a:cubicBezTo>
                  <a:lnTo>
                    <a:pt x="3370313" y="2058549"/>
                  </a:lnTo>
                  <a:cubicBezTo>
                    <a:pt x="3370313" y="2064399"/>
                    <a:pt x="3367989" y="2070009"/>
                    <a:pt x="3363853" y="2074145"/>
                  </a:cubicBezTo>
                  <a:cubicBezTo>
                    <a:pt x="3359717" y="2078281"/>
                    <a:pt x="3354107" y="2080605"/>
                    <a:pt x="3348257" y="2080605"/>
                  </a:cubicBezTo>
                  <a:lnTo>
                    <a:pt x="22056" y="2080605"/>
                  </a:lnTo>
                  <a:cubicBezTo>
                    <a:pt x="16206" y="2080605"/>
                    <a:pt x="10596" y="2078281"/>
                    <a:pt x="6460" y="2074145"/>
                  </a:cubicBezTo>
                  <a:cubicBezTo>
                    <a:pt x="2324" y="2070009"/>
                    <a:pt x="0" y="2064399"/>
                    <a:pt x="0" y="2058549"/>
                  </a:cubicBezTo>
                  <a:lnTo>
                    <a:pt x="0" y="22056"/>
                  </a:lnTo>
                  <a:cubicBezTo>
                    <a:pt x="0" y="16206"/>
                    <a:pt x="2324" y="10596"/>
                    <a:pt x="6460" y="6460"/>
                  </a:cubicBezTo>
                  <a:cubicBezTo>
                    <a:pt x="10596" y="2324"/>
                    <a:pt x="16206" y="0"/>
                    <a:pt x="22056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70313" cy="2118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575709" y="1912428"/>
            <a:ext cx="5265271" cy="690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Code-level changes</a:t>
            </a:r>
          </a:p>
          <a:p>
            <a:pPr algn="l">
              <a:lnSpc>
                <a:spcPts val="3035"/>
              </a:lnSpc>
            </a:pPr>
          </a:p>
          <a:p>
            <a:pPr algn="l">
              <a:lnSpc>
                <a:spcPts val="3035"/>
              </a:lnSpc>
            </a:pP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</a:t>
            </a: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ew registers: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prod_A00_s0_r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prod_A01_s1_r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prod_A10_s0_r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d_A11_s1_r</a:t>
            </a:r>
          </a:p>
          <a:p>
            <a:pPr algn="l">
              <a:lnSpc>
                <a:spcPts val="3035"/>
              </a:lnSpc>
            </a:pPr>
          </a:p>
          <a:p>
            <a:pPr algn="l">
              <a:lnSpc>
                <a:spcPts val="3035"/>
              </a:lnSpc>
            </a:pP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</a:t>
            </a: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ew control signal: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pm_sta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rt2</a:t>
            </a:r>
          </a:p>
          <a:p>
            <a:pPr algn="l">
              <a:lnSpc>
                <a:spcPts val="3035"/>
              </a:lnSpc>
            </a:pP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FSM modified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Original row processing was reorganized into:</a:t>
            </a:r>
          </a:p>
          <a:p>
            <a:pPr algn="l">
              <a:lnSpc>
                <a:spcPts val="3035"/>
              </a:lnSpc>
            </a:pP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IDLE → ROW0 → LATCH_ROW0 → ROW1 → LATCH_ROW1 → FINISH</a:t>
            </a:r>
          </a:p>
          <a:p>
            <a:pPr algn="l">
              <a:lnSpc>
                <a:spcPts val="303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412480" y="1912428"/>
            <a:ext cx="5265271" cy="686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Sequential changes: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Capture row-0 multiplication outputs into registers.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Start r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ow-1 process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ing in a separate state.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Capture row-1 outputs.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Delay d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on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 until both regist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red results are available.</a:t>
            </a:r>
          </a:p>
          <a:p>
            <a:pPr algn="l">
              <a:lnSpc>
                <a:spcPts val="3035"/>
              </a:lnSpc>
            </a:pPr>
          </a:p>
          <a:p>
            <a:pPr algn="l">
              <a:lnSpc>
                <a:spcPts val="3035"/>
              </a:lnSpc>
            </a:pP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</a:t>
            </a: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eset changes: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Initialize all four holding registers.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Initialize pm_start2.</a:t>
            </a:r>
          </a:p>
          <a:p>
            <a:pPr algn="l">
              <a:lnSpc>
                <a:spcPts val="3035"/>
              </a:lnSpc>
            </a:pPr>
          </a:p>
          <a:p>
            <a:pPr algn="l">
              <a:lnSpc>
                <a:spcPts val="3035"/>
              </a:lnSpc>
            </a:pP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Objec</a:t>
            </a: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tive: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couple pointwise multiplication from the following parallel polynomial-addition paths.</a:t>
            </a:r>
          </a:p>
          <a:p>
            <a:pPr algn="l">
              <a:lnSpc>
                <a:spcPts val="303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0272" y="-1941822"/>
            <a:ext cx="17832834" cy="14848990"/>
          </a:xfrm>
          <a:custGeom>
            <a:avLst/>
            <a:gdLst/>
            <a:ahLst/>
            <a:cxnLst/>
            <a:rect r="r" b="b" t="t" l="l"/>
            <a:pathLst>
              <a:path h="14848990" w="17832834">
                <a:moveTo>
                  <a:pt x="0" y="0"/>
                </a:moveTo>
                <a:lnTo>
                  <a:pt x="17832834" y="0"/>
                </a:lnTo>
                <a:lnTo>
                  <a:pt x="17832834" y="14848990"/>
                </a:lnTo>
                <a:lnTo>
                  <a:pt x="0" y="148489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9229" y="3133677"/>
            <a:ext cx="7816274" cy="3570532"/>
            <a:chOff x="0" y="0"/>
            <a:chExt cx="2207298" cy="10083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07298" cy="1008310"/>
            </a:xfrm>
            <a:custGeom>
              <a:avLst/>
              <a:gdLst/>
              <a:ahLst/>
              <a:cxnLst/>
              <a:rect r="r" b="b" t="t" l="l"/>
              <a:pathLst>
                <a:path h="1008310" w="2207298">
                  <a:moveTo>
                    <a:pt x="33677" y="0"/>
                  </a:moveTo>
                  <a:lnTo>
                    <a:pt x="2173622" y="0"/>
                  </a:lnTo>
                  <a:cubicBezTo>
                    <a:pt x="2182553" y="0"/>
                    <a:pt x="2191119" y="3548"/>
                    <a:pt x="2197435" y="9864"/>
                  </a:cubicBezTo>
                  <a:cubicBezTo>
                    <a:pt x="2203750" y="16179"/>
                    <a:pt x="2207298" y="24745"/>
                    <a:pt x="2207298" y="33677"/>
                  </a:cubicBezTo>
                  <a:lnTo>
                    <a:pt x="2207298" y="974634"/>
                  </a:lnTo>
                  <a:cubicBezTo>
                    <a:pt x="2207298" y="983565"/>
                    <a:pt x="2203750" y="992131"/>
                    <a:pt x="2197435" y="998447"/>
                  </a:cubicBezTo>
                  <a:cubicBezTo>
                    <a:pt x="2191119" y="1004762"/>
                    <a:pt x="2182553" y="1008310"/>
                    <a:pt x="2173622" y="1008310"/>
                  </a:cubicBezTo>
                  <a:lnTo>
                    <a:pt x="33677" y="1008310"/>
                  </a:lnTo>
                  <a:cubicBezTo>
                    <a:pt x="24745" y="1008310"/>
                    <a:pt x="16179" y="1004762"/>
                    <a:pt x="9864" y="998447"/>
                  </a:cubicBezTo>
                  <a:cubicBezTo>
                    <a:pt x="3548" y="992131"/>
                    <a:pt x="0" y="983565"/>
                    <a:pt x="0" y="974634"/>
                  </a:cubicBezTo>
                  <a:lnTo>
                    <a:pt x="0" y="33677"/>
                  </a:lnTo>
                  <a:cubicBezTo>
                    <a:pt x="0" y="24745"/>
                    <a:pt x="3548" y="16179"/>
                    <a:pt x="9864" y="9864"/>
                  </a:cubicBezTo>
                  <a:cubicBezTo>
                    <a:pt x="16179" y="3548"/>
                    <a:pt x="24745" y="0"/>
                    <a:pt x="33677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07298" cy="104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86080" y="1371506"/>
            <a:ext cx="769636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>
                <a:solidFill>
                  <a:srgbClr val="FFFFFF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Cryptographic Datapath (Vinayak)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025875" y="288076"/>
            <a:ext cx="1934252" cy="740624"/>
          </a:xfrm>
          <a:custGeom>
            <a:avLst/>
            <a:gdLst/>
            <a:ahLst/>
            <a:cxnLst/>
            <a:rect r="r" b="b" t="t" l="l"/>
            <a:pathLst>
              <a:path h="740624" w="1934252">
                <a:moveTo>
                  <a:pt x="0" y="0"/>
                </a:moveTo>
                <a:lnTo>
                  <a:pt x="1934252" y="0"/>
                </a:lnTo>
                <a:lnTo>
                  <a:pt x="1934252" y="740624"/>
                </a:lnTo>
                <a:lnTo>
                  <a:pt x="0" y="740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93229" y="3467457"/>
            <a:ext cx="3942764" cy="267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Matrix Ge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neration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mlkem_matrix_gen.v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ML-KEM E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ncryption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mlkem_enc.v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ncoding / Decoding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poly_encode.v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poly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_decode.v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34260" y="3467457"/>
            <a:ext cx="3564019" cy="267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Keccak / SHAKE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keccak_f1600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shak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e128_xof.v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Sampli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ng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cbd_sampler.v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rej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ection_sa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mpler.v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poly_uniform.v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09229" y="6865372"/>
            <a:ext cx="16469541" cy="2090165"/>
            <a:chOff x="0" y="0"/>
            <a:chExt cx="4650962" cy="5902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50962" cy="590258"/>
            </a:xfrm>
            <a:custGeom>
              <a:avLst/>
              <a:gdLst/>
              <a:ahLst/>
              <a:cxnLst/>
              <a:rect r="r" b="b" t="t" l="l"/>
              <a:pathLst>
                <a:path h="590258" w="4650962">
                  <a:moveTo>
                    <a:pt x="15983" y="0"/>
                  </a:moveTo>
                  <a:lnTo>
                    <a:pt x="4634980" y="0"/>
                  </a:lnTo>
                  <a:cubicBezTo>
                    <a:pt x="4639218" y="0"/>
                    <a:pt x="4643284" y="1684"/>
                    <a:pt x="4646281" y="4681"/>
                  </a:cubicBezTo>
                  <a:cubicBezTo>
                    <a:pt x="4649278" y="7678"/>
                    <a:pt x="4650962" y="11744"/>
                    <a:pt x="4650962" y="15983"/>
                  </a:cubicBezTo>
                  <a:lnTo>
                    <a:pt x="4650962" y="574275"/>
                  </a:lnTo>
                  <a:cubicBezTo>
                    <a:pt x="4650962" y="578514"/>
                    <a:pt x="4649278" y="582579"/>
                    <a:pt x="4646281" y="585577"/>
                  </a:cubicBezTo>
                  <a:cubicBezTo>
                    <a:pt x="4643284" y="588574"/>
                    <a:pt x="4639218" y="590258"/>
                    <a:pt x="4634980" y="590258"/>
                  </a:cubicBezTo>
                  <a:lnTo>
                    <a:pt x="15983" y="590258"/>
                  </a:lnTo>
                  <a:cubicBezTo>
                    <a:pt x="11744" y="590258"/>
                    <a:pt x="7678" y="588574"/>
                    <a:pt x="4681" y="585577"/>
                  </a:cubicBezTo>
                  <a:cubicBezTo>
                    <a:pt x="1684" y="582579"/>
                    <a:pt x="0" y="578514"/>
                    <a:pt x="0" y="574275"/>
                  </a:cubicBezTo>
                  <a:lnTo>
                    <a:pt x="0" y="15983"/>
                  </a:lnTo>
                  <a:cubicBezTo>
                    <a:pt x="0" y="11744"/>
                    <a:pt x="1684" y="7678"/>
                    <a:pt x="4681" y="4681"/>
                  </a:cubicBezTo>
                  <a:cubicBezTo>
                    <a:pt x="7678" y="1684"/>
                    <a:pt x="11744" y="0"/>
                    <a:pt x="15983" y="0"/>
                  </a:cubicBezTo>
                  <a:close/>
                </a:path>
              </a:pathLst>
            </a:custGeom>
            <a:solidFill>
              <a:srgbClr val="40C5C5">
                <a:alpha val="64706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50962" cy="628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95394" y="7009206"/>
            <a:ext cx="15826066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5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Contribution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Implementation of cryptographic primitives,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sampling, matrix generation and the ML-KEM encryption datapath. Final pipeline architecture, Timing-driven RTL restructuring, Final mlkem_enc pipeline implementation, Synthesis/timing evaluation, Achieved 0-slack operation at 100 MHz</a:t>
            </a:r>
          </a:p>
          <a:p>
            <a:pPr algn="l">
              <a:lnSpc>
                <a:spcPts val="3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8877023" y="1532676"/>
            <a:ext cx="8319350" cy="5171533"/>
            <a:chOff x="0" y="0"/>
            <a:chExt cx="2349366" cy="14604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49366" cy="1460429"/>
            </a:xfrm>
            <a:custGeom>
              <a:avLst/>
              <a:gdLst/>
              <a:ahLst/>
              <a:cxnLst/>
              <a:rect r="r" b="b" t="t" l="l"/>
              <a:pathLst>
                <a:path h="1460429" w="2349366">
                  <a:moveTo>
                    <a:pt x="31640" y="0"/>
                  </a:moveTo>
                  <a:lnTo>
                    <a:pt x="2317726" y="0"/>
                  </a:lnTo>
                  <a:cubicBezTo>
                    <a:pt x="2335200" y="0"/>
                    <a:pt x="2349366" y="14166"/>
                    <a:pt x="2349366" y="31640"/>
                  </a:cubicBezTo>
                  <a:lnTo>
                    <a:pt x="2349366" y="1428789"/>
                  </a:lnTo>
                  <a:cubicBezTo>
                    <a:pt x="2349366" y="1446264"/>
                    <a:pt x="2335200" y="1460429"/>
                    <a:pt x="2317726" y="1460429"/>
                  </a:cubicBezTo>
                  <a:lnTo>
                    <a:pt x="31640" y="1460429"/>
                  </a:lnTo>
                  <a:cubicBezTo>
                    <a:pt x="14166" y="1460429"/>
                    <a:pt x="0" y="1446264"/>
                    <a:pt x="0" y="1428789"/>
                  </a:cubicBezTo>
                  <a:lnTo>
                    <a:pt x="0" y="31640"/>
                  </a:lnTo>
                  <a:cubicBezTo>
                    <a:pt x="0" y="14166"/>
                    <a:pt x="14166" y="0"/>
                    <a:pt x="31640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349366" cy="1498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9095692" y="2826913"/>
          <a:ext cx="7925767" cy="3333750"/>
        </p:xfrm>
        <a:graphic>
          <a:graphicData uri="http://schemas.openxmlformats.org/drawingml/2006/table">
            <a:tbl>
              <a:tblPr/>
              <a:tblGrid>
                <a:gridCol w="1137446"/>
                <a:gridCol w="2517621"/>
                <a:gridCol w="4270700"/>
              </a:tblGrid>
              <a:tr h="8501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Run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Frequency / lib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161"/>
                    </a:solidFill>
                  </a:tcPr>
                </a:tc>
              </a:tr>
              <a:tr h="12417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Run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100MHz / 45nm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Test run at lower process parameter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17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Run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100 MHz / 90nm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Timing evaluation at target frequency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9095692" y="1903763"/>
            <a:ext cx="7273776" cy="4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</a:t>
            </a: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peline Type 2 — Final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400" y="4464"/>
            <a:ext cx="18288008" cy="10278074"/>
          </a:xfrm>
          <a:custGeom>
            <a:avLst/>
            <a:gdLst/>
            <a:ahLst/>
            <a:cxnLst/>
            <a:rect r="r" b="b" t="t" l="l"/>
            <a:pathLst>
              <a:path h="10278074" w="18288008">
                <a:moveTo>
                  <a:pt x="0" y="0"/>
                </a:moveTo>
                <a:lnTo>
                  <a:pt x="18288008" y="0"/>
                </a:lnTo>
                <a:lnTo>
                  <a:pt x="18288008" y="10278074"/>
                </a:lnTo>
                <a:lnTo>
                  <a:pt x="0" y="102780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</a:blip>
            <a:stretch>
              <a:fillRect l="0" t="-19" r="0" b="-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96290" y="-2093476"/>
            <a:ext cx="14963638" cy="13724626"/>
          </a:xfrm>
          <a:custGeom>
            <a:avLst/>
            <a:gdLst/>
            <a:ahLst/>
            <a:cxnLst/>
            <a:rect r="r" b="b" t="t" l="l"/>
            <a:pathLst>
              <a:path h="13724626" w="14963638">
                <a:moveTo>
                  <a:pt x="0" y="0"/>
                </a:moveTo>
                <a:lnTo>
                  <a:pt x="14963638" y="0"/>
                </a:lnTo>
                <a:lnTo>
                  <a:pt x="14963638" y="13724626"/>
                </a:lnTo>
                <a:lnTo>
                  <a:pt x="0" y="1372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13486"/>
            <a:ext cx="1365061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>
                <a:solidFill>
                  <a:srgbClr val="FFFFFF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ENCRYPTION PIPELINING: </a:t>
            </a:r>
            <a:r>
              <a:rPr lang="en-US" b="true" sz="5000">
                <a:solidFill>
                  <a:srgbClr val="40C5C5"/>
                </a:solidFill>
                <a:latin typeface="Darker Grotesque Bold"/>
                <a:ea typeface="Darker Grotesque Bold"/>
                <a:cs typeface="Darker Grotesque Bold"/>
                <a:sym typeface="Darker Grotesque Bold"/>
              </a:rPr>
              <a:t>mlkem_enc.v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1732661"/>
            <a:ext cx="3974536" cy="7525639"/>
            <a:chOff x="0" y="0"/>
            <a:chExt cx="1122400" cy="21252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2400" cy="2125224"/>
            </a:xfrm>
            <a:custGeom>
              <a:avLst/>
              <a:gdLst/>
              <a:ahLst/>
              <a:cxnLst/>
              <a:rect r="r" b="b" t="t" l="l"/>
              <a:pathLst>
                <a:path h="2125224" w="1122400">
                  <a:moveTo>
                    <a:pt x="66228" y="0"/>
                  </a:moveTo>
                  <a:lnTo>
                    <a:pt x="1056172" y="0"/>
                  </a:lnTo>
                  <a:cubicBezTo>
                    <a:pt x="1073737" y="0"/>
                    <a:pt x="1090582" y="6978"/>
                    <a:pt x="1103003" y="19398"/>
                  </a:cubicBezTo>
                  <a:cubicBezTo>
                    <a:pt x="1115423" y="31818"/>
                    <a:pt x="1122400" y="48663"/>
                    <a:pt x="1122400" y="66228"/>
                  </a:cubicBezTo>
                  <a:lnTo>
                    <a:pt x="1122400" y="2058996"/>
                  </a:lnTo>
                  <a:cubicBezTo>
                    <a:pt x="1122400" y="2076561"/>
                    <a:pt x="1115423" y="2093406"/>
                    <a:pt x="1103003" y="2105826"/>
                  </a:cubicBezTo>
                  <a:cubicBezTo>
                    <a:pt x="1090582" y="2118246"/>
                    <a:pt x="1073737" y="2125224"/>
                    <a:pt x="1056172" y="2125224"/>
                  </a:cubicBezTo>
                  <a:lnTo>
                    <a:pt x="66228" y="2125224"/>
                  </a:lnTo>
                  <a:cubicBezTo>
                    <a:pt x="48663" y="2125224"/>
                    <a:pt x="31818" y="2118246"/>
                    <a:pt x="19398" y="2105826"/>
                  </a:cubicBezTo>
                  <a:cubicBezTo>
                    <a:pt x="6978" y="2093406"/>
                    <a:pt x="0" y="2076561"/>
                    <a:pt x="0" y="2058996"/>
                  </a:cubicBezTo>
                  <a:lnTo>
                    <a:pt x="0" y="66228"/>
                  </a:lnTo>
                  <a:cubicBezTo>
                    <a:pt x="0" y="48663"/>
                    <a:pt x="6978" y="31818"/>
                    <a:pt x="19398" y="19398"/>
                  </a:cubicBezTo>
                  <a:cubicBezTo>
                    <a:pt x="31818" y="6978"/>
                    <a:pt x="48663" y="0"/>
                    <a:pt x="66228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22400" cy="2163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52086" y="1912428"/>
            <a:ext cx="3527764" cy="728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1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Original critical path: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NTT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Matrix-Vect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 Multiplication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INTT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Polynomial Addition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mpression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INTT completion path was followed directly by: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poly_add(e2)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poly_add(message)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768 parallel poly_compress units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created a long combinational path.</a:t>
            </a:r>
          </a:p>
          <a:p>
            <a:pPr algn="l">
              <a:lnSpc>
                <a:spcPts val="3035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025875" y="288076"/>
            <a:ext cx="1934252" cy="740624"/>
          </a:xfrm>
          <a:custGeom>
            <a:avLst/>
            <a:gdLst/>
            <a:ahLst/>
            <a:cxnLst/>
            <a:rect r="r" b="b" t="t" l="l"/>
            <a:pathLst>
              <a:path h="740624" w="1934252">
                <a:moveTo>
                  <a:pt x="0" y="0"/>
                </a:moveTo>
                <a:lnTo>
                  <a:pt x="1934252" y="0"/>
                </a:lnTo>
                <a:lnTo>
                  <a:pt x="1934252" y="740624"/>
                </a:lnTo>
                <a:lnTo>
                  <a:pt x="0" y="74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263760" y="1732661"/>
            <a:ext cx="11934629" cy="7367638"/>
            <a:chOff x="0" y="0"/>
            <a:chExt cx="3370313" cy="20806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70313" cy="2080605"/>
            </a:xfrm>
            <a:custGeom>
              <a:avLst/>
              <a:gdLst/>
              <a:ahLst/>
              <a:cxnLst/>
              <a:rect r="r" b="b" t="t" l="l"/>
              <a:pathLst>
                <a:path h="2080605" w="3370313">
                  <a:moveTo>
                    <a:pt x="22056" y="0"/>
                  </a:moveTo>
                  <a:lnTo>
                    <a:pt x="3348257" y="0"/>
                  </a:lnTo>
                  <a:cubicBezTo>
                    <a:pt x="3354107" y="0"/>
                    <a:pt x="3359717" y="2324"/>
                    <a:pt x="3363853" y="6460"/>
                  </a:cubicBezTo>
                  <a:cubicBezTo>
                    <a:pt x="3367989" y="10596"/>
                    <a:pt x="3370313" y="16206"/>
                    <a:pt x="3370313" y="22056"/>
                  </a:cubicBezTo>
                  <a:lnTo>
                    <a:pt x="3370313" y="2058549"/>
                  </a:lnTo>
                  <a:cubicBezTo>
                    <a:pt x="3370313" y="2064399"/>
                    <a:pt x="3367989" y="2070009"/>
                    <a:pt x="3363853" y="2074145"/>
                  </a:cubicBezTo>
                  <a:cubicBezTo>
                    <a:pt x="3359717" y="2078281"/>
                    <a:pt x="3354107" y="2080605"/>
                    <a:pt x="3348257" y="2080605"/>
                  </a:cubicBezTo>
                  <a:lnTo>
                    <a:pt x="22056" y="2080605"/>
                  </a:lnTo>
                  <a:cubicBezTo>
                    <a:pt x="16206" y="2080605"/>
                    <a:pt x="10596" y="2078281"/>
                    <a:pt x="6460" y="2074145"/>
                  </a:cubicBezTo>
                  <a:cubicBezTo>
                    <a:pt x="2324" y="2070009"/>
                    <a:pt x="0" y="2064399"/>
                    <a:pt x="0" y="2058549"/>
                  </a:cubicBezTo>
                  <a:lnTo>
                    <a:pt x="0" y="22056"/>
                  </a:lnTo>
                  <a:cubicBezTo>
                    <a:pt x="0" y="16206"/>
                    <a:pt x="2324" y="10596"/>
                    <a:pt x="6460" y="6460"/>
                  </a:cubicBezTo>
                  <a:cubicBezTo>
                    <a:pt x="10596" y="2324"/>
                    <a:pt x="16206" y="0"/>
                    <a:pt x="22056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370313" cy="2118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40980" y="1969578"/>
            <a:ext cx="6152021" cy="5034191"/>
            <a:chOff x="0" y="0"/>
            <a:chExt cx="1737317" cy="14216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7317" cy="1421644"/>
            </a:xfrm>
            <a:custGeom>
              <a:avLst/>
              <a:gdLst/>
              <a:ahLst/>
              <a:cxnLst/>
              <a:rect r="r" b="b" t="t" l="l"/>
              <a:pathLst>
                <a:path h="1421644" w="1737317">
                  <a:moveTo>
                    <a:pt x="42787" y="0"/>
                  </a:moveTo>
                  <a:lnTo>
                    <a:pt x="1694530" y="0"/>
                  </a:lnTo>
                  <a:cubicBezTo>
                    <a:pt x="1718161" y="0"/>
                    <a:pt x="1737317" y="19156"/>
                    <a:pt x="1737317" y="42787"/>
                  </a:cubicBezTo>
                  <a:lnTo>
                    <a:pt x="1737317" y="1378858"/>
                  </a:lnTo>
                  <a:cubicBezTo>
                    <a:pt x="1737317" y="1402488"/>
                    <a:pt x="1718161" y="1421644"/>
                    <a:pt x="1694530" y="1421644"/>
                  </a:cubicBezTo>
                  <a:lnTo>
                    <a:pt x="42787" y="1421644"/>
                  </a:lnTo>
                  <a:cubicBezTo>
                    <a:pt x="19156" y="1421644"/>
                    <a:pt x="0" y="1402488"/>
                    <a:pt x="0" y="1378858"/>
                  </a:cubicBezTo>
                  <a:lnTo>
                    <a:pt x="0" y="42787"/>
                  </a:lnTo>
                  <a:cubicBezTo>
                    <a:pt x="0" y="19156"/>
                    <a:pt x="19156" y="0"/>
                    <a:pt x="42787" y="0"/>
                  </a:cubicBezTo>
                  <a:close/>
                </a:path>
              </a:pathLst>
            </a:custGeom>
            <a:solidFill>
              <a:srgbClr val="40C5C5">
                <a:alpha val="6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37317" cy="1459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575709" y="1912428"/>
            <a:ext cx="5265271" cy="749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Pipeline modification</a:t>
            </a:r>
          </a:p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INTT</a:t>
            </a:r>
          </a:p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↓</a:t>
            </a:r>
          </a:p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u0/u1/v REGISTER</a:t>
            </a:r>
          </a:p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↓</a:t>
            </a:r>
          </a:p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RUN_COMPRESS</a:t>
            </a:r>
          </a:p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↓</a:t>
            </a:r>
          </a:p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Compression</a:t>
            </a:r>
          </a:p>
          <a:p>
            <a:pPr algn="l">
              <a:lnSpc>
                <a:spcPts val="3035"/>
              </a:lnSpc>
            </a:pP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</a:t>
            </a: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de-level changes: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 holding registers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0_spatial_r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1_spatial_r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_final_r</a:t>
            </a:r>
          </a:p>
          <a:p>
            <a:pPr algn="l">
              <a:lnSpc>
                <a:spcPts val="3035"/>
              </a:lnSpc>
            </a:pPr>
          </a:p>
          <a:p>
            <a:pPr algn="l">
              <a:lnSpc>
                <a:spcPts val="3035"/>
              </a:lnSpc>
            </a:pP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</a:t>
            </a: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pression inputs changed: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Previously: u0_spatial, u1_spatial, 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_final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Compression now operates on: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u0_spatial_r, u1_spatial_r, v_final_r</a:t>
            </a:r>
          </a:p>
          <a:p>
            <a:pPr algn="l">
              <a:lnSpc>
                <a:spcPts val="3035"/>
              </a:lnSpc>
            </a:pPr>
          </a:p>
          <a:p>
            <a:pPr algn="l">
              <a:lnSpc>
                <a:spcPts val="303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026316" y="2059626"/>
            <a:ext cx="5966685" cy="751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New FSM state: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RUN</a:t>
            </a: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_COMPRESS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IDLE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↓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RUN_NTT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↓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RUN_MVM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↓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RUN_INTT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↓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RUN_COMPRESS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↓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FINISH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Objective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Isolate the compression logic from the INTT/message-addition timing path.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RTL comments identify an approximately 5-ns critical-path reduction from this restructuring.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303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9587" y="-2175995"/>
            <a:ext cx="14963638" cy="13724626"/>
          </a:xfrm>
          <a:custGeom>
            <a:avLst/>
            <a:gdLst/>
            <a:ahLst/>
            <a:cxnLst/>
            <a:rect r="r" b="b" t="t" l="l"/>
            <a:pathLst>
              <a:path h="13724626" w="14963638">
                <a:moveTo>
                  <a:pt x="0" y="0"/>
                </a:moveTo>
                <a:lnTo>
                  <a:pt x="14963638" y="0"/>
                </a:lnTo>
                <a:lnTo>
                  <a:pt x="14963638" y="13724626"/>
                </a:lnTo>
                <a:lnTo>
                  <a:pt x="0" y="13724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9587" y="1923950"/>
            <a:ext cx="15390341" cy="743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Tests the NTT butterfly. It applies random/boundary values of a, b, and zeta.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It independently calculates: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It then compares these expected values against ntt_butterfly's a_out and b_out.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Tests the INTT butterflySimilarly verifies the inverse butterfly using: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ensures the individual INTT butterfly operation follows the required modular arithmetic.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TB </a:t>
            </a:r>
            <a:r>
              <a:rPr lang="en-US" sz="2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Uses 20,000 test vectors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It deliberately includes boundary cases such as 0, Q-1, and the previousl problematic: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a=100, b=50, zeta=2.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204777" y="2733381"/>
            <a:ext cx="3878446" cy="1699390"/>
          </a:xfrm>
          <a:custGeom>
            <a:avLst/>
            <a:gdLst/>
            <a:ahLst/>
            <a:cxnLst/>
            <a:rect r="r" b="b" t="t" l="l"/>
            <a:pathLst>
              <a:path h="1699390" w="3878446">
                <a:moveTo>
                  <a:pt x="0" y="0"/>
                </a:moveTo>
                <a:lnTo>
                  <a:pt x="3878446" y="0"/>
                </a:lnTo>
                <a:lnTo>
                  <a:pt x="3878446" y="1699390"/>
                </a:lnTo>
                <a:lnTo>
                  <a:pt x="0" y="1699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42212" y="5652987"/>
            <a:ext cx="4603577" cy="1259469"/>
          </a:xfrm>
          <a:custGeom>
            <a:avLst/>
            <a:gdLst/>
            <a:ahLst/>
            <a:cxnLst/>
            <a:rect r="r" b="b" t="t" l="l"/>
            <a:pathLst>
              <a:path h="1259469" w="4603577">
                <a:moveTo>
                  <a:pt x="0" y="0"/>
                </a:moveTo>
                <a:lnTo>
                  <a:pt x="4603576" y="0"/>
                </a:lnTo>
                <a:lnTo>
                  <a:pt x="4603576" y="1259469"/>
                </a:lnTo>
                <a:lnTo>
                  <a:pt x="0" y="1259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09276" y="449580"/>
            <a:ext cx="13245539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6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Arithmetic + NTT / INTT TB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025875" y="288076"/>
            <a:ext cx="1934252" cy="740624"/>
          </a:xfrm>
          <a:custGeom>
            <a:avLst/>
            <a:gdLst/>
            <a:ahLst/>
            <a:cxnLst/>
            <a:rect r="r" b="b" t="t" l="l"/>
            <a:pathLst>
              <a:path h="740624" w="1934252">
                <a:moveTo>
                  <a:pt x="0" y="0"/>
                </a:moveTo>
                <a:lnTo>
                  <a:pt x="1934252" y="0"/>
                </a:lnTo>
                <a:lnTo>
                  <a:pt x="1934252" y="740624"/>
                </a:lnTo>
                <a:lnTo>
                  <a:pt x="0" y="74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96290" y="-2093476"/>
            <a:ext cx="14963638" cy="13724626"/>
          </a:xfrm>
          <a:custGeom>
            <a:avLst/>
            <a:gdLst/>
            <a:ahLst/>
            <a:cxnLst/>
            <a:rect r="r" b="b" t="t" l="l"/>
            <a:pathLst>
              <a:path h="13724626" w="14963638">
                <a:moveTo>
                  <a:pt x="0" y="0"/>
                </a:moveTo>
                <a:lnTo>
                  <a:pt x="14963638" y="0"/>
                </a:lnTo>
                <a:lnTo>
                  <a:pt x="14963638" y="13724626"/>
                </a:lnTo>
                <a:lnTo>
                  <a:pt x="0" y="13724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8340" y="2750040"/>
            <a:ext cx="5498920" cy="6723462"/>
            <a:chOff x="0" y="0"/>
            <a:chExt cx="1552883" cy="18986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2883" cy="1898691"/>
            </a:xfrm>
            <a:custGeom>
              <a:avLst/>
              <a:gdLst/>
              <a:ahLst/>
              <a:cxnLst/>
              <a:rect r="r" b="b" t="t" l="l"/>
              <a:pathLst>
                <a:path h="1898691" w="1552883">
                  <a:moveTo>
                    <a:pt x="47869" y="0"/>
                  </a:moveTo>
                  <a:lnTo>
                    <a:pt x="1505014" y="0"/>
                  </a:lnTo>
                  <a:cubicBezTo>
                    <a:pt x="1531451" y="0"/>
                    <a:pt x="1552883" y="21431"/>
                    <a:pt x="1552883" y="47869"/>
                  </a:cubicBezTo>
                  <a:lnTo>
                    <a:pt x="1552883" y="1850822"/>
                  </a:lnTo>
                  <a:cubicBezTo>
                    <a:pt x="1552883" y="1877259"/>
                    <a:pt x="1531451" y="1898691"/>
                    <a:pt x="1505014" y="1898691"/>
                  </a:cubicBezTo>
                  <a:lnTo>
                    <a:pt x="47869" y="1898691"/>
                  </a:lnTo>
                  <a:cubicBezTo>
                    <a:pt x="21431" y="1898691"/>
                    <a:pt x="0" y="1877259"/>
                    <a:pt x="0" y="1850822"/>
                  </a:cubicBezTo>
                  <a:lnTo>
                    <a:pt x="0" y="47869"/>
                  </a:lnTo>
                  <a:cubicBezTo>
                    <a:pt x="0" y="21431"/>
                    <a:pt x="21431" y="0"/>
                    <a:pt x="47869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52883" cy="1936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782526" y="4773769"/>
            <a:ext cx="10726922" cy="4699733"/>
          </a:xfrm>
          <a:custGeom>
            <a:avLst/>
            <a:gdLst/>
            <a:ahLst/>
            <a:cxnLst/>
            <a:rect r="r" b="b" t="t" l="l"/>
            <a:pathLst>
              <a:path h="4699733" w="10726922">
                <a:moveTo>
                  <a:pt x="0" y="0"/>
                </a:moveTo>
                <a:lnTo>
                  <a:pt x="10726922" y="0"/>
                </a:lnTo>
                <a:lnTo>
                  <a:pt x="10726922" y="4699732"/>
                </a:lnTo>
                <a:lnTo>
                  <a:pt x="0" y="4699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82526" y="815638"/>
            <a:ext cx="10726922" cy="3707627"/>
          </a:xfrm>
          <a:custGeom>
            <a:avLst/>
            <a:gdLst/>
            <a:ahLst/>
            <a:cxnLst/>
            <a:rect r="r" b="b" t="t" l="l"/>
            <a:pathLst>
              <a:path h="3707627" w="10726922">
                <a:moveTo>
                  <a:pt x="0" y="0"/>
                </a:moveTo>
                <a:lnTo>
                  <a:pt x="10726922" y="0"/>
                </a:lnTo>
                <a:lnTo>
                  <a:pt x="10726922" y="3707627"/>
                </a:lnTo>
                <a:lnTo>
                  <a:pt x="0" y="3707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8340" y="478750"/>
            <a:ext cx="5696496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6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Arithmetic + NTT / INTT TB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4821" y="2925658"/>
            <a:ext cx="6424836" cy="635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Level 1: Arithmetic primitives 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mod_add/sub/mult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Level 2: Butterfly primitives 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NTT / INTT butterfly 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Level 3: Transform engines 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Complete NTT / INTT 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Level 4: Adapters 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ntt_flat / intt_flat 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Level 5: ML-KEM accelerator 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Level 6: PicoRV32 + ML-KEM SoC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1867" y="-2114106"/>
            <a:ext cx="14963638" cy="13724626"/>
          </a:xfrm>
          <a:custGeom>
            <a:avLst/>
            <a:gdLst/>
            <a:ahLst/>
            <a:cxnLst/>
            <a:rect r="r" b="b" t="t" l="l"/>
            <a:pathLst>
              <a:path h="13724626" w="14963638">
                <a:moveTo>
                  <a:pt x="0" y="0"/>
                </a:moveTo>
                <a:lnTo>
                  <a:pt x="14963638" y="0"/>
                </a:lnTo>
                <a:lnTo>
                  <a:pt x="14963638" y="13724626"/>
                </a:lnTo>
                <a:lnTo>
                  <a:pt x="0" y="13724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5017" y="3617412"/>
            <a:ext cx="4423378" cy="2854982"/>
            <a:chOff x="0" y="0"/>
            <a:chExt cx="1249152" cy="8062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9152" cy="806241"/>
            </a:xfrm>
            <a:custGeom>
              <a:avLst/>
              <a:gdLst/>
              <a:ahLst/>
              <a:cxnLst/>
              <a:rect r="r" b="b" t="t" l="l"/>
              <a:pathLst>
                <a:path h="806241" w="1249152">
                  <a:moveTo>
                    <a:pt x="59508" y="0"/>
                  </a:moveTo>
                  <a:lnTo>
                    <a:pt x="1189645" y="0"/>
                  </a:lnTo>
                  <a:cubicBezTo>
                    <a:pt x="1222510" y="0"/>
                    <a:pt x="1249152" y="26643"/>
                    <a:pt x="1249152" y="59508"/>
                  </a:cubicBezTo>
                  <a:lnTo>
                    <a:pt x="1249152" y="746733"/>
                  </a:lnTo>
                  <a:cubicBezTo>
                    <a:pt x="1249152" y="779598"/>
                    <a:pt x="1222510" y="806241"/>
                    <a:pt x="1189645" y="806241"/>
                  </a:cubicBezTo>
                  <a:lnTo>
                    <a:pt x="59508" y="806241"/>
                  </a:lnTo>
                  <a:cubicBezTo>
                    <a:pt x="26643" y="806241"/>
                    <a:pt x="0" y="779598"/>
                    <a:pt x="0" y="746733"/>
                  </a:cubicBezTo>
                  <a:lnTo>
                    <a:pt x="0" y="59508"/>
                  </a:lnTo>
                  <a:cubicBezTo>
                    <a:pt x="0" y="26643"/>
                    <a:pt x="26643" y="0"/>
                    <a:pt x="59508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49152" cy="84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520060" y="1226927"/>
            <a:ext cx="12032295" cy="5245466"/>
          </a:xfrm>
          <a:custGeom>
            <a:avLst/>
            <a:gdLst/>
            <a:ahLst/>
            <a:cxnLst/>
            <a:rect r="r" b="b" t="t" l="l"/>
            <a:pathLst>
              <a:path h="5245466" w="12032295">
                <a:moveTo>
                  <a:pt x="0" y="0"/>
                </a:moveTo>
                <a:lnTo>
                  <a:pt x="12032295" y="0"/>
                </a:lnTo>
                <a:lnTo>
                  <a:pt x="12032295" y="5245467"/>
                </a:lnTo>
                <a:lnTo>
                  <a:pt x="0" y="5245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32" t="-21323" r="0" b="-1528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35017" y="6753392"/>
            <a:ext cx="16717338" cy="2302851"/>
            <a:chOff x="0" y="0"/>
            <a:chExt cx="4720939" cy="6503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20939" cy="650320"/>
            </a:xfrm>
            <a:custGeom>
              <a:avLst/>
              <a:gdLst/>
              <a:ahLst/>
              <a:cxnLst/>
              <a:rect r="r" b="b" t="t" l="l"/>
              <a:pathLst>
                <a:path h="650320" w="4720939">
                  <a:moveTo>
                    <a:pt x="15746" y="0"/>
                  </a:moveTo>
                  <a:lnTo>
                    <a:pt x="4705194" y="0"/>
                  </a:lnTo>
                  <a:cubicBezTo>
                    <a:pt x="4713890" y="0"/>
                    <a:pt x="4720939" y="7050"/>
                    <a:pt x="4720939" y="15746"/>
                  </a:cubicBezTo>
                  <a:lnTo>
                    <a:pt x="4720939" y="634574"/>
                  </a:lnTo>
                  <a:cubicBezTo>
                    <a:pt x="4720939" y="638750"/>
                    <a:pt x="4719281" y="642755"/>
                    <a:pt x="4716328" y="645708"/>
                  </a:cubicBezTo>
                  <a:cubicBezTo>
                    <a:pt x="4713375" y="648661"/>
                    <a:pt x="4709370" y="650320"/>
                    <a:pt x="4705194" y="650320"/>
                  </a:cubicBezTo>
                  <a:lnTo>
                    <a:pt x="15746" y="650320"/>
                  </a:lnTo>
                  <a:cubicBezTo>
                    <a:pt x="11570" y="650320"/>
                    <a:pt x="7565" y="648661"/>
                    <a:pt x="4612" y="645708"/>
                  </a:cubicBezTo>
                  <a:cubicBezTo>
                    <a:pt x="1659" y="642755"/>
                    <a:pt x="0" y="638750"/>
                    <a:pt x="0" y="634574"/>
                  </a:cubicBezTo>
                  <a:lnTo>
                    <a:pt x="0" y="15746"/>
                  </a:lnTo>
                  <a:cubicBezTo>
                    <a:pt x="0" y="11570"/>
                    <a:pt x="1659" y="7565"/>
                    <a:pt x="4612" y="4612"/>
                  </a:cubicBezTo>
                  <a:cubicBezTo>
                    <a:pt x="7565" y="1659"/>
                    <a:pt x="11570" y="0"/>
                    <a:pt x="15746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720939" cy="688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23452" y="7141484"/>
            <a:ext cx="16328903" cy="145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Op</a:t>
            </a: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eration:</a:t>
            </a: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Polynomial → NTT → INTT → Reconstructed Polynomial</a:t>
            </a:r>
          </a:p>
          <a:p>
            <a:pPr algn="l">
              <a:lnSpc>
                <a:spcPts val="3863"/>
              </a:lnSpc>
            </a:pPr>
            <a:r>
              <a:rPr lang="en-US" sz="27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Result:</a:t>
            </a: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0/256 coefficient mismatch</a:t>
            </a:r>
          </a:p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→ Round-trip PASSED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1570" y="1112627"/>
            <a:ext cx="4229695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Round Trip </a:t>
            </a:r>
          </a:p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3452" y="3925390"/>
            <a:ext cx="3405932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Input: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256 known polynomial coefficients modulo 3329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025875" y="288076"/>
            <a:ext cx="1934252" cy="740624"/>
          </a:xfrm>
          <a:custGeom>
            <a:avLst/>
            <a:gdLst/>
            <a:ahLst/>
            <a:cxnLst/>
            <a:rect r="r" b="b" t="t" l="l"/>
            <a:pathLst>
              <a:path h="740624" w="1934252">
                <a:moveTo>
                  <a:pt x="0" y="0"/>
                </a:moveTo>
                <a:lnTo>
                  <a:pt x="1934252" y="0"/>
                </a:lnTo>
                <a:lnTo>
                  <a:pt x="1934252" y="740624"/>
                </a:lnTo>
                <a:lnTo>
                  <a:pt x="0" y="740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96290" y="-2093476"/>
            <a:ext cx="14963638" cy="13724626"/>
          </a:xfrm>
          <a:custGeom>
            <a:avLst/>
            <a:gdLst/>
            <a:ahLst/>
            <a:cxnLst/>
            <a:rect r="r" b="b" t="t" l="l"/>
            <a:pathLst>
              <a:path h="13724626" w="14963638">
                <a:moveTo>
                  <a:pt x="0" y="0"/>
                </a:moveTo>
                <a:lnTo>
                  <a:pt x="14963638" y="0"/>
                </a:lnTo>
                <a:lnTo>
                  <a:pt x="14963638" y="13724626"/>
                </a:lnTo>
                <a:lnTo>
                  <a:pt x="0" y="13724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79665" y="268051"/>
            <a:ext cx="8553413" cy="5345883"/>
          </a:xfrm>
          <a:custGeom>
            <a:avLst/>
            <a:gdLst/>
            <a:ahLst/>
            <a:cxnLst/>
            <a:rect r="r" b="b" t="t" l="l"/>
            <a:pathLst>
              <a:path h="5345883" w="8553413">
                <a:moveTo>
                  <a:pt x="0" y="0"/>
                </a:moveTo>
                <a:lnTo>
                  <a:pt x="8553413" y="0"/>
                </a:lnTo>
                <a:lnTo>
                  <a:pt x="8553413" y="5345884"/>
                </a:lnTo>
                <a:lnTo>
                  <a:pt x="0" y="5345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79665" y="5734212"/>
            <a:ext cx="8553413" cy="4019721"/>
          </a:xfrm>
          <a:custGeom>
            <a:avLst/>
            <a:gdLst/>
            <a:ahLst/>
            <a:cxnLst/>
            <a:rect r="r" b="b" t="t" l="l"/>
            <a:pathLst>
              <a:path h="4019721" w="8553413">
                <a:moveTo>
                  <a:pt x="0" y="0"/>
                </a:moveTo>
                <a:lnTo>
                  <a:pt x="8553413" y="0"/>
                </a:lnTo>
                <a:lnTo>
                  <a:pt x="8553413" y="4019721"/>
                </a:lnTo>
                <a:lnTo>
                  <a:pt x="0" y="40197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203" t="-18600" r="0" b="-4657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566310"/>
            <a:ext cx="7514580" cy="360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7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---------------------------------------------------------------</a:t>
            </a:r>
          </a:p>
          <a:p>
            <a:pPr algn="l">
              <a:lnSpc>
                <a:spcPts val="2207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CROSS-CHECKS</a:t>
            </a:r>
          </a:p>
          <a:p>
            <a:pPr algn="l">
              <a:lnSpc>
                <a:spcPts val="2207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---------------------------------------------------------------</a:t>
            </a:r>
          </a:p>
          <a:p>
            <a:pPr algn="l">
              <a:lnSpc>
                <a:spcPts val="2207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CPU-reported mismatched words : 0</a:t>
            </a:r>
          </a:p>
          <a:p>
            <a:pPr algn="l">
              <a:lnSpc>
                <a:spcPts val="2207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messages processed by CPU     : 3 of 3</a:t>
            </a:r>
          </a:p>
          <a:p>
            <a:pPr algn="l">
              <a:lnSpc>
                <a:spcPts val="2207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pipeline stage_done           : 1111 (Dec Enc Key Exp)</a:t>
            </a:r>
          </a:p>
          <a:p>
            <a:pPr algn="l">
              <a:lnSpc>
                <a:spcPts val="2207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seed reached the accelerator  : bfbebdbcbbbab9b8b7b6b5b4b3b2b1b0afaeadacabaaa9a8a7a6a5a4a3a2a1a0</a:t>
            </a:r>
          </a:p>
          <a:p>
            <a:pPr algn="l">
              <a:lnSpc>
                <a:spcPts val="2207"/>
              </a:lnSpc>
              <a:spcBef>
                <a:spcPct val="0"/>
              </a:spcBef>
            </a:pPr>
          </a:p>
          <a:p>
            <a:pPr algn="l">
              <a:lnSpc>
                <a:spcPts val="2207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################################################################</a:t>
            </a:r>
          </a:p>
          <a:p>
            <a:pPr algn="l">
              <a:lnSpc>
                <a:spcPts val="2207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#   ML-KEM SoC DEMONSTRATION PASSED</a:t>
            </a:r>
          </a:p>
          <a:p>
            <a:pPr algn="l">
              <a:lnSpc>
                <a:spcPts val="2207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#   3 messages encapsulated and decapsulated correctly</a:t>
            </a:r>
          </a:p>
          <a:p>
            <a:pPr algn="l">
              <a:lnSpc>
                <a:spcPts val="2207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################################################################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00921"/>
            <a:ext cx="8115300" cy="145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Testbench → PicoSoC RAM → PicoRV32 → MMIO ML-KEM Accelerator → PicoRV32 → PicoSoC RAM → Testbench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28340" y="2380321"/>
            <a:ext cx="7981628" cy="2167866"/>
            <a:chOff x="0" y="0"/>
            <a:chExt cx="2253994" cy="6122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3994" cy="612201"/>
            </a:xfrm>
            <a:custGeom>
              <a:avLst/>
              <a:gdLst/>
              <a:ahLst/>
              <a:cxnLst/>
              <a:rect r="r" b="b" t="t" l="l"/>
              <a:pathLst>
                <a:path h="612201" w="2253994">
                  <a:moveTo>
                    <a:pt x="32979" y="0"/>
                  </a:moveTo>
                  <a:lnTo>
                    <a:pt x="2221015" y="0"/>
                  </a:lnTo>
                  <a:cubicBezTo>
                    <a:pt x="2229762" y="0"/>
                    <a:pt x="2238150" y="3475"/>
                    <a:pt x="2244335" y="9659"/>
                  </a:cubicBezTo>
                  <a:cubicBezTo>
                    <a:pt x="2250519" y="15844"/>
                    <a:pt x="2253994" y="24232"/>
                    <a:pt x="2253994" y="32979"/>
                  </a:cubicBezTo>
                  <a:lnTo>
                    <a:pt x="2253994" y="579222"/>
                  </a:lnTo>
                  <a:cubicBezTo>
                    <a:pt x="2253994" y="597435"/>
                    <a:pt x="2239229" y="612201"/>
                    <a:pt x="2221015" y="612201"/>
                  </a:cubicBezTo>
                  <a:lnTo>
                    <a:pt x="32979" y="612201"/>
                  </a:lnTo>
                  <a:cubicBezTo>
                    <a:pt x="24232" y="612201"/>
                    <a:pt x="15844" y="608726"/>
                    <a:pt x="9659" y="602541"/>
                  </a:cubicBezTo>
                  <a:cubicBezTo>
                    <a:pt x="3475" y="596357"/>
                    <a:pt x="0" y="587968"/>
                    <a:pt x="0" y="579222"/>
                  </a:cubicBezTo>
                  <a:lnTo>
                    <a:pt x="0" y="32979"/>
                  </a:lnTo>
                  <a:cubicBezTo>
                    <a:pt x="0" y="24232"/>
                    <a:pt x="3475" y="15844"/>
                    <a:pt x="9659" y="9659"/>
                  </a:cubicBezTo>
                  <a:cubicBezTo>
                    <a:pt x="15844" y="3475"/>
                    <a:pt x="24232" y="0"/>
                    <a:pt x="32979" y="0"/>
                  </a:cubicBezTo>
                  <a:close/>
                </a:path>
              </a:pathLst>
            </a:custGeom>
            <a:solidFill>
              <a:srgbClr val="CFD9E0">
                <a:alpha val="32941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53994" cy="650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28340" y="904875"/>
            <a:ext cx="8613314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SOC Demo Testbench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DAHWp3QZJCI</dc:identifier>
  <dcterms:modified xsi:type="dcterms:W3CDTF">2011-08-01T06:04:30Z</dcterms:modified>
  <cp:revision>1</cp:revision>
  <dc:title>PJT-1-Implementation Analysis</dc:title>
</cp:coreProperties>
</file>