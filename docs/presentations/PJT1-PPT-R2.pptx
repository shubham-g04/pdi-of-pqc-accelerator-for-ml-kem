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8288000" cy="10287000"/>
  <p:notesSz cx="6858000" cy="9144000"/>
  <p:embeddedFontLst>
    <p:embeddedFont>
      <p:font typeface="Arimo" panose="020B0604020202020204" charset="0"/>
      <p:regular r:id="rId45"/>
    </p:embeddedFont>
    <p:embeddedFont>
      <p:font typeface="Arimo Bold" panose="020B0604020202020204" charset="0"/>
      <p:regular r:id="rId46"/>
    </p:embeddedFont>
    <p:embeddedFont>
      <p:font typeface="Canva Sans" panose="020B0604020202020204" charset="0"/>
      <p:regular r:id="rId47"/>
    </p:embeddedFont>
    <p:embeddedFont>
      <p:font typeface="Darker Grotesque Bold" panose="020B0604020202020204" charset="0"/>
      <p:regular r:id="rId48"/>
    </p:embeddedFont>
    <p:embeddedFont>
      <p:font typeface="Roboto Bold" panose="020B0604020202020204" charset="0"/>
      <p:regular r:id="rId4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49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3.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1.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2.fnt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Post-quantum cryptography refers to cryptographic algorithms designed to resist attacks from quantum computers while still running on conventional computing systems. This is important because the cryptography does not itself require a quantum computer. NIST has already standardized ML-KEM for key encapsulation and ML-DSA and SLH-DSA for digital signatures. For our hardware accelerator, we are particularly interested in lattice-based cryptographic computation, especially the computational kernels associated with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Post-quantum cryptography refers to cryptographic algorithms designed to resist attacks from quantum computers while still running on conventional computing systems. This is important because the cryptography does not itself require a quantum computer. NIST has already standardized ML-KEM for key encapsulation and ML-DSA and SLH-DSA for digital signatures. For our hardware accelerator, we are particularly interested in lattice-based cryptographic computation, especially the computational kernels associated with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Post-quantum cryptography refers to cryptographic algorithms designed to resist attacks from quantum computers while still running on conventional computing systems. This is important because the cryptography does not itself require a quantum computer. NIST has already standardized ML-KEM for key encapsulation and ML-DSA and SLH-DSA for digital signatures. For our hardware accelerator, we are particularly interested in lattice-based cryptographic computation, especially the computational kernels associated with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proposed system uses PicoRV32 as the host processor. The processor communicates with the PQC accelerator through a memory-mapped interface. The CPU is responsible for configuring the accelerator, supplying data and retrieving results. The accelerator contains dedicated datapath and control logic for the selected post-quantum cryptographic operations. This allows us to keep the processor architecture unchanged while extending the SoC with specialized cryptographic hardware.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key objective of this project is not limited to functional RTL. We intend to implement the design through the complete ASIC flow. After architectural design and RTL development, we will perform functional verification, synthesize the design using Cadence Genus, and then perform floorplanning, placement, clock tree synthesis and routing using Innovus. Finally, we will perform timing and physical verification and generate the final GDSII.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Post-quantum cryptography refers to cryptographic algorithms designed to resist attacks from quantum computers while still running on conventional computing systems. This is important because the cryptography does not itself require a quantum computer. NIST has already standardized ML-KEM for key encapsulation and ML-DSA and SLH-DSA for digital signatures. For our hardware accelerator, we are particularly interested in lattice-based cryptographic computation, especially the computational kernels associated with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key objective of this project is not limited to functional RTL. We intend to implement the design through the complete ASIC flow. After architectural design and RTL development, we will perform functional verification, synthesize the design using Cadence Genus, and then perform floorplanning, placement, clock tree synthesis and routing using Innovus. Finally, we will perform timing and physical verification and generate the final GDSII.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accelerator is organized around a controller and dedicated arithmetic units. When the CPU writes the start command, the controller sequences the required operations. Depending on our final algorithmic scope, the datapath will contain an NTT engine, modular arithmetic units, polynomial operations and local storage. The important design objective is to offload the repetitive computational kernels from the CPU.</a:t>
            </a:r>
          </a:p>
          <a:p>
            <a:endParaRPr lang="en-US"/>
          </a:p>
          <a:p>
            <a:r>
              <a:rPr lang="en-US"/>
              <a:t>"The accelerator is targeted toward the computational kernels of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accelerator is organized around a controller and dedicated arithmetic units. When the CPU writes the start command, the controller sequences the required operations. Depending on our final algorithmic scope, the datapath will contain an NTT engine, modular arithmetic units, polynomial operations and local storage. The important design objective is to offload the repetitive computational kernels from the CPU.</a:t>
            </a:r>
          </a:p>
          <a:p>
            <a:endParaRPr lang="en-US"/>
          </a:p>
          <a:p>
            <a:r>
              <a:rPr lang="en-US"/>
              <a:t>"The accelerator is targeted toward the computational kernels of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accelerator is organized around a controller and dedicated arithmetic units. When the CPU writes the start command, the controller sequences the required operations. Depending on our final algorithmic scope, the datapath will contain an NTT engine, modular arithmetic units, polynomial operations and local storage. The important design objective is to offload the repetitive computational kernels from the CPU.</a:t>
            </a:r>
          </a:p>
          <a:p>
            <a:endParaRPr lang="en-US"/>
          </a:p>
          <a:p>
            <a:r>
              <a:rPr lang="en-US"/>
              <a:t>"The accelerator is targeted toward the computational kernels of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accelerator is organized around a controller and dedicated arithmetic units. When the CPU writes the start command, the controller sequences the required operations. Depending on our final algorithmic scope, the datapath will contain an NTT engine, modular arithmetic units, polynomial operations and local storage. The important design objective is to offload the repetitive computational kernels from the CPU.</a:t>
            </a:r>
          </a:p>
          <a:p>
            <a:endParaRPr lang="en-US"/>
          </a:p>
          <a:p>
            <a:r>
              <a:rPr lang="en-US"/>
              <a:t>"The accelerator is targeted toward the computational kernels of ML-KEM."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motivation for this project comes from the expected impact of quantum computing on current public-key cryptography. Algorithms such as RSA and ECC depend on mathematical problems that are computationally difficult for classical machines, but quantum algorithms such as Shor's algorithm could solve the underlying problems much more efficiently on sufficiently capable quantum computers. Therefore, cryptographic systems need algorithms that remain secure in a post-quantum environment.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jpe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8.png"/><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sv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8.png"/><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3.png"/><Relationship Id="rId4" Type="http://schemas.openxmlformats.org/officeDocument/2006/relationships/image" Target="../media/image12.sv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8.png"/><Relationship Id="rId4" Type="http://schemas.openxmlformats.org/officeDocument/2006/relationships/image" Target="../media/image14.svg"/></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8.png"/><Relationship Id="rId4" Type="http://schemas.openxmlformats.org/officeDocument/2006/relationships/image" Target="../media/image14.sv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8.png"/><Relationship Id="rId4" Type="http://schemas.openxmlformats.org/officeDocument/2006/relationships/image" Target="../media/image14.sv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8.png"/><Relationship Id="rId4" Type="http://schemas.openxmlformats.org/officeDocument/2006/relationships/image" Target="../media/image14.sv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14.svg"/></Relationships>
</file>

<file path=ppt/slides/_rels/slide3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jpeg"/><Relationship Id="rId7"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8.png"/><Relationship Id="rId4" Type="http://schemas.openxmlformats.org/officeDocument/2006/relationships/image" Target="../media/image14.svg"/></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4.sv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8.png"/><Relationship Id="rId4" Type="http://schemas.openxmlformats.org/officeDocument/2006/relationships/image" Target="../media/image14.svg"/></Relationships>
</file>

<file path=ppt/slides/_rels/slide3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jpeg"/><Relationship Id="rId7"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8.png"/><Relationship Id="rId4" Type="http://schemas.openxmlformats.org/officeDocument/2006/relationships/image" Target="../media/image14.svg"/><Relationship Id="rId9" Type="http://schemas.openxmlformats.org/officeDocument/2006/relationships/image" Target="../media/image29.sv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8.png"/><Relationship Id="rId4" Type="http://schemas.openxmlformats.org/officeDocument/2006/relationships/image" Target="../media/image14.sv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4.png"/><Relationship Id="rId2" Type="http://schemas.openxmlformats.org/officeDocument/2006/relationships/notesSlide" Target="../notesSlides/notesSlide33.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8.png"/><Relationship Id="rId4" Type="http://schemas.openxmlformats.org/officeDocument/2006/relationships/image" Target="../media/image14.sv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35.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8.png"/><Relationship Id="rId4" Type="http://schemas.openxmlformats.org/officeDocument/2006/relationships/image" Target="../media/image14.sv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github.com/cliffordwolf/picorv32?utm_source=chatgpt.com" TargetMode="External"/><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37418" y="-21048"/>
            <a:ext cx="18325418" cy="10308048"/>
          </a:xfrm>
          <a:custGeom>
            <a:avLst/>
            <a:gdLst/>
            <a:ahLst/>
            <a:cxnLst/>
            <a:rect l="l" t="t" r="r" b="b"/>
            <a:pathLst>
              <a:path w="18325418" h="10308048">
                <a:moveTo>
                  <a:pt x="0" y="0"/>
                </a:moveTo>
                <a:lnTo>
                  <a:pt x="18325418" y="0"/>
                </a:lnTo>
                <a:lnTo>
                  <a:pt x="18325418" y="10308048"/>
                </a:lnTo>
                <a:lnTo>
                  <a:pt x="0" y="10308048"/>
                </a:lnTo>
                <a:lnTo>
                  <a:pt x="0" y="0"/>
                </a:lnTo>
                <a:close/>
              </a:path>
            </a:pathLst>
          </a:custGeom>
          <a:blipFill>
            <a:blip r:embed="rId2"/>
            <a:stretch>
              <a:fillRect/>
            </a:stretch>
          </a:blipFill>
        </p:spPr>
      </p:sp>
      <p:grpSp>
        <p:nvGrpSpPr>
          <p:cNvPr id="3" name="Group 3"/>
          <p:cNvGrpSpPr/>
          <p:nvPr/>
        </p:nvGrpSpPr>
        <p:grpSpPr>
          <a:xfrm>
            <a:off x="6390199" y="2338643"/>
            <a:ext cx="5288792" cy="1620070"/>
            <a:chOff x="0" y="0"/>
            <a:chExt cx="1392933" cy="426685"/>
          </a:xfrm>
        </p:grpSpPr>
        <p:sp>
          <p:nvSpPr>
            <p:cNvPr id="4" name="Freeform 4"/>
            <p:cNvSpPr/>
            <p:nvPr/>
          </p:nvSpPr>
          <p:spPr>
            <a:xfrm>
              <a:off x="0" y="0"/>
              <a:ext cx="1392933" cy="426685"/>
            </a:xfrm>
            <a:custGeom>
              <a:avLst/>
              <a:gdLst/>
              <a:ahLst/>
              <a:cxnLst/>
              <a:rect l="l" t="t" r="r" b="b"/>
              <a:pathLst>
                <a:path w="1392933" h="426685">
                  <a:moveTo>
                    <a:pt x="0" y="0"/>
                  </a:moveTo>
                  <a:lnTo>
                    <a:pt x="1392933" y="0"/>
                  </a:lnTo>
                  <a:lnTo>
                    <a:pt x="1392933" y="426685"/>
                  </a:lnTo>
                  <a:lnTo>
                    <a:pt x="0" y="426685"/>
                  </a:lnTo>
                  <a:close/>
                </a:path>
              </a:pathLst>
            </a:custGeom>
            <a:solidFill>
              <a:srgbClr val="FFFFFF"/>
            </a:solidFill>
          </p:spPr>
        </p:sp>
        <p:sp>
          <p:nvSpPr>
            <p:cNvPr id="5" name="TextBox 5"/>
            <p:cNvSpPr txBox="1"/>
            <p:nvPr/>
          </p:nvSpPr>
          <p:spPr>
            <a:xfrm>
              <a:off x="0" y="-57150"/>
              <a:ext cx="1392933" cy="483835"/>
            </a:xfrm>
            <a:prstGeom prst="rect">
              <a:avLst/>
            </a:prstGeom>
          </p:spPr>
          <p:txBody>
            <a:bodyPr lIns="50800" tIns="50800" rIns="50800" bIns="50800" rtlCol="0" anchor="ctr"/>
            <a:lstStyle/>
            <a:p>
              <a:pPr algn="ctr">
                <a:lnSpc>
                  <a:spcPts val="3035"/>
                </a:lnSpc>
              </a:pPr>
              <a:endParaRPr/>
            </a:p>
          </p:txBody>
        </p:sp>
      </p:grpSp>
      <p:sp>
        <p:nvSpPr>
          <p:cNvPr id="6" name="TextBox 6"/>
          <p:cNvSpPr txBox="1"/>
          <p:nvPr/>
        </p:nvSpPr>
        <p:spPr>
          <a:xfrm>
            <a:off x="3490185" y="2529518"/>
            <a:ext cx="11270212" cy="1215390"/>
          </a:xfrm>
          <a:prstGeom prst="rect">
            <a:avLst/>
          </a:prstGeom>
        </p:spPr>
        <p:txBody>
          <a:bodyPr lIns="0" tIns="0" rIns="0" bIns="0" rtlCol="0" anchor="t">
            <a:spAutoFit/>
          </a:bodyPr>
          <a:lstStyle/>
          <a:p>
            <a:pPr algn="ctr">
              <a:lnSpc>
                <a:spcPts val="4830"/>
              </a:lnSpc>
              <a:spcBef>
                <a:spcPct val="0"/>
              </a:spcBef>
            </a:pPr>
            <a:r>
              <a:rPr lang="en-US" sz="3500" b="1">
                <a:solidFill>
                  <a:srgbClr val="1D2F82"/>
                </a:solidFill>
                <a:latin typeface="Roboto Bold"/>
                <a:ea typeface="Roboto Bold"/>
                <a:cs typeface="Roboto Bold"/>
                <a:sym typeface="Roboto Bold"/>
              </a:rPr>
              <a:t>VLSI Physical Design Implementation of a Post-Quantum Cryptographic Accelerator SoC</a:t>
            </a:r>
          </a:p>
        </p:txBody>
      </p:sp>
      <p:grpSp>
        <p:nvGrpSpPr>
          <p:cNvPr id="7" name="Group 7"/>
          <p:cNvGrpSpPr/>
          <p:nvPr/>
        </p:nvGrpSpPr>
        <p:grpSpPr>
          <a:xfrm>
            <a:off x="5094087" y="4236271"/>
            <a:ext cx="5288792" cy="896705"/>
            <a:chOff x="0" y="0"/>
            <a:chExt cx="1392933" cy="236169"/>
          </a:xfrm>
        </p:grpSpPr>
        <p:sp>
          <p:nvSpPr>
            <p:cNvPr id="8" name="Freeform 8"/>
            <p:cNvSpPr/>
            <p:nvPr/>
          </p:nvSpPr>
          <p:spPr>
            <a:xfrm>
              <a:off x="0" y="0"/>
              <a:ext cx="1392933" cy="236169"/>
            </a:xfrm>
            <a:custGeom>
              <a:avLst/>
              <a:gdLst/>
              <a:ahLst/>
              <a:cxnLst/>
              <a:rect l="l" t="t" r="r" b="b"/>
              <a:pathLst>
                <a:path w="1392933" h="236169">
                  <a:moveTo>
                    <a:pt x="0" y="0"/>
                  </a:moveTo>
                  <a:lnTo>
                    <a:pt x="1392933" y="0"/>
                  </a:lnTo>
                  <a:lnTo>
                    <a:pt x="1392933" y="236169"/>
                  </a:lnTo>
                  <a:lnTo>
                    <a:pt x="0" y="236169"/>
                  </a:lnTo>
                  <a:close/>
                </a:path>
              </a:pathLst>
            </a:custGeom>
            <a:solidFill>
              <a:srgbClr val="FFFFFF"/>
            </a:solidFill>
          </p:spPr>
        </p:sp>
        <p:sp>
          <p:nvSpPr>
            <p:cNvPr id="9" name="TextBox 9"/>
            <p:cNvSpPr txBox="1"/>
            <p:nvPr/>
          </p:nvSpPr>
          <p:spPr>
            <a:xfrm>
              <a:off x="0" y="-57150"/>
              <a:ext cx="1392933" cy="293319"/>
            </a:xfrm>
            <a:prstGeom prst="rect">
              <a:avLst/>
            </a:prstGeom>
          </p:spPr>
          <p:txBody>
            <a:bodyPr lIns="50800" tIns="50800" rIns="50800" bIns="50800" rtlCol="0" anchor="ctr"/>
            <a:lstStyle/>
            <a:p>
              <a:pPr algn="ctr">
                <a:lnSpc>
                  <a:spcPts val="3035"/>
                </a:lnSpc>
              </a:pPr>
              <a:endParaRPr/>
            </a:p>
          </p:txBody>
        </p:sp>
      </p:grpSp>
      <p:sp>
        <p:nvSpPr>
          <p:cNvPr id="10" name="TextBox 10"/>
          <p:cNvSpPr txBox="1"/>
          <p:nvPr/>
        </p:nvSpPr>
        <p:spPr>
          <a:xfrm>
            <a:off x="5209663" y="4322064"/>
            <a:ext cx="4354562" cy="821436"/>
          </a:xfrm>
          <a:prstGeom prst="rect">
            <a:avLst/>
          </a:prstGeom>
        </p:spPr>
        <p:txBody>
          <a:bodyPr lIns="0" tIns="0" rIns="0" bIns="0" rtlCol="0" anchor="t">
            <a:spAutoFit/>
          </a:bodyPr>
          <a:lstStyle/>
          <a:p>
            <a:pPr algn="l">
              <a:lnSpc>
                <a:spcPts val="2142"/>
              </a:lnSpc>
            </a:pPr>
            <a:r>
              <a:rPr lang="en-US" sz="1800">
                <a:solidFill>
                  <a:srgbClr val="000000"/>
                </a:solidFill>
                <a:latin typeface="Arimo"/>
                <a:ea typeface="Arimo"/>
                <a:cs typeface="Arimo"/>
                <a:sym typeface="Arimo"/>
              </a:rPr>
              <a:t>Subham Prasad Gupta (23BVD1039)</a:t>
            </a:r>
          </a:p>
          <a:p>
            <a:pPr algn="l">
              <a:lnSpc>
                <a:spcPts val="2142"/>
              </a:lnSpc>
            </a:pPr>
            <a:r>
              <a:rPr lang="en-US" sz="1800">
                <a:solidFill>
                  <a:srgbClr val="000000"/>
                </a:solidFill>
                <a:latin typeface="Arimo"/>
                <a:ea typeface="Arimo"/>
                <a:cs typeface="Arimo"/>
                <a:sym typeface="Arimo"/>
              </a:rPr>
              <a:t>Jairus Solomon Samraj (23BVD1040)</a:t>
            </a:r>
          </a:p>
          <a:p>
            <a:pPr algn="l">
              <a:lnSpc>
                <a:spcPts val="2142"/>
              </a:lnSpc>
            </a:pPr>
            <a:r>
              <a:rPr lang="en-US" sz="1800">
                <a:solidFill>
                  <a:srgbClr val="000000"/>
                </a:solidFill>
                <a:latin typeface="Arimo"/>
                <a:ea typeface="Arimo"/>
                <a:cs typeface="Arimo"/>
                <a:sym typeface="Arimo"/>
              </a:rPr>
              <a:t>Vinayak Shreenivas Salunke (23BVD1062)</a:t>
            </a:r>
          </a:p>
        </p:txBody>
      </p:sp>
      <p:grpSp>
        <p:nvGrpSpPr>
          <p:cNvPr id="11" name="Group 11"/>
          <p:cNvGrpSpPr/>
          <p:nvPr/>
        </p:nvGrpSpPr>
        <p:grpSpPr>
          <a:xfrm>
            <a:off x="5209663" y="5524500"/>
            <a:ext cx="5288792" cy="492283"/>
            <a:chOff x="0" y="0"/>
            <a:chExt cx="1392933" cy="129655"/>
          </a:xfrm>
        </p:grpSpPr>
        <p:sp>
          <p:nvSpPr>
            <p:cNvPr id="12" name="Freeform 12"/>
            <p:cNvSpPr/>
            <p:nvPr/>
          </p:nvSpPr>
          <p:spPr>
            <a:xfrm>
              <a:off x="0" y="0"/>
              <a:ext cx="1392933" cy="129655"/>
            </a:xfrm>
            <a:custGeom>
              <a:avLst/>
              <a:gdLst/>
              <a:ahLst/>
              <a:cxnLst/>
              <a:rect l="l" t="t" r="r" b="b"/>
              <a:pathLst>
                <a:path w="1392933" h="129655">
                  <a:moveTo>
                    <a:pt x="0" y="0"/>
                  </a:moveTo>
                  <a:lnTo>
                    <a:pt x="1392933" y="0"/>
                  </a:lnTo>
                  <a:lnTo>
                    <a:pt x="1392933" y="129655"/>
                  </a:lnTo>
                  <a:lnTo>
                    <a:pt x="0" y="129655"/>
                  </a:lnTo>
                  <a:close/>
                </a:path>
              </a:pathLst>
            </a:custGeom>
            <a:solidFill>
              <a:srgbClr val="FFFFFF"/>
            </a:solidFill>
          </p:spPr>
        </p:sp>
        <p:sp>
          <p:nvSpPr>
            <p:cNvPr id="13" name="TextBox 13"/>
            <p:cNvSpPr txBox="1"/>
            <p:nvPr/>
          </p:nvSpPr>
          <p:spPr>
            <a:xfrm>
              <a:off x="0" y="-57150"/>
              <a:ext cx="1392933" cy="186805"/>
            </a:xfrm>
            <a:prstGeom prst="rect">
              <a:avLst/>
            </a:prstGeom>
          </p:spPr>
          <p:txBody>
            <a:bodyPr lIns="50800" tIns="50800" rIns="50800" bIns="50800" rtlCol="0" anchor="ctr"/>
            <a:lstStyle/>
            <a:p>
              <a:pPr algn="ctr">
                <a:lnSpc>
                  <a:spcPts val="3035"/>
                </a:lnSpc>
              </a:pPr>
              <a:endParaRPr/>
            </a:p>
          </p:txBody>
        </p:sp>
      </p:grpSp>
      <p:sp>
        <p:nvSpPr>
          <p:cNvPr id="14" name="TextBox 14"/>
          <p:cNvSpPr txBox="1"/>
          <p:nvPr/>
        </p:nvSpPr>
        <p:spPr>
          <a:xfrm>
            <a:off x="5209663" y="5638632"/>
            <a:ext cx="2439293" cy="320802"/>
          </a:xfrm>
          <a:prstGeom prst="rect">
            <a:avLst/>
          </a:prstGeom>
        </p:spPr>
        <p:txBody>
          <a:bodyPr lIns="0" tIns="0" rIns="0" bIns="0" rtlCol="0" anchor="t">
            <a:spAutoFit/>
          </a:bodyPr>
          <a:lstStyle/>
          <a:p>
            <a:pPr algn="ctr">
              <a:lnSpc>
                <a:spcPts val="2483"/>
              </a:lnSpc>
              <a:spcBef>
                <a:spcPct val="0"/>
              </a:spcBef>
            </a:pPr>
            <a:r>
              <a:rPr lang="en-US" sz="1800">
                <a:solidFill>
                  <a:srgbClr val="000000"/>
                </a:solidFill>
                <a:latin typeface="Arimo"/>
                <a:ea typeface="Arimo"/>
                <a:cs typeface="Arimo"/>
                <a:sym typeface="Arimo"/>
              </a:rPr>
              <a:t>Dr. Velmathi G., SENSE</a:t>
            </a:r>
          </a:p>
        </p:txBody>
      </p:sp>
      <p:grpSp>
        <p:nvGrpSpPr>
          <p:cNvPr id="15" name="Group 15"/>
          <p:cNvGrpSpPr/>
          <p:nvPr/>
        </p:nvGrpSpPr>
        <p:grpSpPr>
          <a:xfrm>
            <a:off x="1028700" y="8877074"/>
            <a:ext cx="13823735" cy="492283"/>
            <a:chOff x="0" y="0"/>
            <a:chExt cx="3640819" cy="129655"/>
          </a:xfrm>
        </p:grpSpPr>
        <p:sp>
          <p:nvSpPr>
            <p:cNvPr id="16" name="Freeform 16"/>
            <p:cNvSpPr/>
            <p:nvPr/>
          </p:nvSpPr>
          <p:spPr>
            <a:xfrm>
              <a:off x="0" y="0"/>
              <a:ext cx="3640819" cy="129655"/>
            </a:xfrm>
            <a:custGeom>
              <a:avLst/>
              <a:gdLst/>
              <a:ahLst/>
              <a:cxnLst/>
              <a:rect l="l" t="t" r="r" b="b"/>
              <a:pathLst>
                <a:path w="3640819" h="129655">
                  <a:moveTo>
                    <a:pt x="0" y="0"/>
                  </a:moveTo>
                  <a:lnTo>
                    <a:pt x="3640819" y="0"/>
                  </a:lnTo>
                  <a:lnTo>
                    <a:pt x="3640819" y="129655"/>
                  </a:lnTo>
                  <a:lnTo>
                    <a:pt x="0" y="129655"/>
                  </a:lnTo>
                  <a:close/>
                </a:path>
              </a:pathLst>
            </a:custGeom>
            <a:solidFill>
              <a:srgbClr val="FFFFFF"/>
            </a:solidFill>
          </p:spPr>
        </p:sp>
        <p:sp>
          <p:nvSpPr>
            <p:cNvPr id="17" name="TextBox 17"/>
            <p:cNvSpPr txBox="1"/>
            <p:nvPr/>
          </p:nvSpPr>
          <p:spPr>
            <a:xfrm>
              <a:off x="0" y="-57150"/>
              <a:ext cx="3640819" cy="186805"/>
            </a:xfrm>
            <a:prstGeom prst="rect">
              <a:avLst/>
            </a:prstGeom>
          </p:spPr>
          <p:txBody>
            <a:bodyPr lIns="50800" tIns="50800" rIns="50800" bIns="50800" rtlCol="0" anchor="ctr"/>
            <a:lstStyle/>
            <a:p>
              <a:pPr algn="ctr">
                <a:lnSpc>
                  <a:spcPts val="3035"/>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94919" cy="10287000"/>
          </a:xfrm>
          <a:custGeom>
            <a:avLst/>
            <a:gdLst/>
            <a:ahLst/>
            <a:cxnLst/>
            <a:rect l="l" t="t" r="r" b="b"/>
            <a:pathLst>
              <a:path w="18294919" h="10287000">
                <a:moveTo>
                  <a:pt x="0" y="0"/>
                </a:moveTo>
                <a:lnTo>
                  <a:pt x="18294919" y="0"/>
                </a:lnTo>
                <a:lnTo>
                  <a:pt x="18294919" y="10287000"/>
                </a:lnTo>
                <a:lnTo>
                  <a:pt x="0" y="10287000"/>
                </a:lnTo>
                <a:lnTo>
                  <a:pt x="0" y="0"/>
                </a:lnTo>
                <a:close/>
              </a:path>
            </a:pathLst>
          </a:custGeom>
          <a:blipFill>
            <a:blip r:embed="rId2"/>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0" y="8926"/>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1845189" y="3967500"/>
            <a:ext cx="12673358" cy="6632391"/>
          </a:xfrm>
          <a:custGeom>
            <a:avLst/>
            <a:gdLst/>
            <a:ahLst/>
            <a:cxnLst/>
            <a:rect l="l" t="t" r="r" b="b"/>
            <a:pathLst>
              <a:path w="12673358" h="6632391">
                <a:moveTo>
                  <a:pt x="0" y="0"/>
                </a:moveTo>
                <a:lnTo>
                  <a:pt x="12673358" y="0"/>
                </a:lnTo>
                <a:lnTo>
                  <a:pt x="12673358" y="6632391"/>
                </a:lnTo>
                <a:lnTo>
                  <a:pt x="0" y="6632391"/>
                </a:lnTo>
                <a:lnTo>
                  <a:pt x="0" y="0"/>
                </a:lnTo>
                <a:close/>
              </a:path>
            </a:pathLst>
          </a:custGeom>
          <a:blipFill>
            <a:blip r:embed="rId4">
              <a:alphaModFix amt="38000"/>
            </a:blip>
            <a:stretch>
              <a:fillRect/>
            </a:stretch>
          </a:blipFill>
        </p:spPr>
      </p:sp>
      <p:sp>
        <p:nvSpPr>
          <p:cNvPr id="4" name="Freeform 4"/>
          <p:cNvSpPr/>
          <p:nvPr/>
        </p:nvSpPr>
        <p:spPr>
          <a:xfrm>
            <a:off x="736200" y="660500"/>
            <a:ext cx="1140602" cy="1140602"/>
          </a:xfrm>
          <a:custGeom>
            <a:avLst/>
            <a:gdLst/>
            <a:ahLst/>
            <a:cxnLst/>
            <a:rect l="l" t="t" r="r" b="b"/>
            <a:pathLst>
              <a:path w="1140602" h="1140602">
                <a:moveTo>
                  <a:pt x="0" y="0"/>
                </a:moveTo>
                <a:lnTo>
                  <a:pt x="1140602" y="0"/>
                </a:lnTo>
                <a:lnTo>
                  <a:pt x="1140602" y="1140602"/>
                </a:lnTo>
                <a:lnTo>
                  <a:pt x="0" y="1140602"/>
                </a:lnTo>
                <a:lnTo>
                  <a:pt x="0" y="0"/>
                </a:lnTo>
                <a:close/>
              </a:path>
            </a:pathLst>
          </a:custGeom>
          <a:blipFill>
            <a:blip r:embed="rId5"/>
            <a:stretch>
              <a:fillRect/>
            </a:stretch>
          </a:blipFill>
        </p:spPr>
      </p:sp>
      <p:sp>
        <p:nvSpPr>
          <p:cNvPr id="5" name="Freeform 5"/>
          <p:cNvSpPr/>
          <p:nvPr/>
        </p:nvSpPr>
        <p:spPr>
          <a:xfrm rot="-10800000">
            <a:off x="16051058" y="7953576"/>
            <a:ext cx="1870202" cy="1870142"/>
          </a:xfrm>
          <a:custGeom>
            <a:avLst/>
            <a:gdLst/>
            <a:ahLst/>
            <a:cxnLst/>
            <a:rect l="l" t="t" r="r" b="b"/>
            <a:pathLst>
              <a:path w="1870202" h="1870142">
                <a:moveTo>
                  <a:pt x="0" y="0"/>
                </a:moveTo>
                <a:lnTo>
                  <a:pt x="1870202" y="0"/>
                </a:lnTo>
                <a:lnTo>
                  <a:pt x="1870202" y="1870142"/>
                </a:lnTo>
                <a:lnTo>
                  <a:pt x="0" y="1870142"/>
                </a:lnTo>
                <a:lnTo>
                  <a:pt x="0" y="0"/>
                </a:lnTo>
                <a:close/>
              </a:path>
            </a:pathLst>
          </a:custGeom>
          <a:blipFill>
            <a:blip r:embed="rId6"/>
            <a:stretch>
              <a:fillRect b="-3"/>
            </a:stretch>
          </a:blipFill>
        </p:spPr>
      </p:sp>
      <p:sp>
        <p:nvSpPr>
          <p:cNvPr id="6" name="Freeform 6"/>
          <p:cNvSpPr/>
          <p:nvPr/>
        </p:nvSpPr>
        <p:spPr>
          <a:xfrm>
            <a:off x="7566433" y="0"/>
            <a:ext cx="10721575" cy="3671772"/>
          </a:xfrm>
          <a:custGeom>
            <a:avLst/>
            <a:gdLst/>
            <a:ahLst/>
            <a:cxnLst/>
            <a:rect l="l" t="t" r="r" b="b"/>
            <a:pathLst>
              <a:path w="10721575" h="3671772">
                <a:moveTo>
                  <a:pt x="0" y="0"/>
                </a:moveTo>
                <a:lnTo>
                  <a:pt x="10721575" y="0"/>
                </a:lnTo>
                <a:lnTo>
                  <a:pt x="10721575" y="3671772"/>
                </a:lnTo>
                <a:lnTo>
                  <a:pt x="0" y="3671772"/>
                </a:lnTo>
                <a:lnTo>
                  <a:pt x="0" y="0"/>
                </a:lnTo>
                <a:close/>
              </a:path>
            </a:pathLst>
          </a:custGeom>
          <a:blipFill>
            <a:blip r:embed="rId7">
              <a:alphaModFix amt="41000"/>
            </a:blip>
            <a:stretch>
              <a:fillRect/>
            </a:stretch>
          </a:blipFill>
        </p:spPr>
      </p:sp>
      <p:sp>
        <p:nvSpPr>
          <p:cNvPr id="7" name="TextBox 7"/>
          <p:cNvSpPr txBox="1"/>
          <p:nvPr/>
        </p:nvSpPr>
        <p:spPr>
          <a:xfrm>
            <a:off x="4112127" y="2706889"/>
            <a:ext cx="10063755" cy="3603616"/>
          </a:xfrm>
          <a:prstGeom prst="rect">
            <a:avLst/>
          </a:prstGeom>
        </p:spPr>
        <p:txBody>
          <a:bodyPr lIns="0" tIns="0" rIns="0" bIns="0" rtlCol="0" anchor="t">
            <a:spAutoFit/>
          </a:bodyPr>
          <a:lstStyle/>
          <a:p>
            <a:pPr algn="ctr">
              <a:lnSpc>
                <a:spcPts val="7079"/>
              </a:lnSpc>
            </a:pPr>
            <a:r>
              <a:rPr lang="en-US" sz="6555" b="1">
                <a:solidFill>
                  <a:srgbClr val="FFFFFF"/>
                </a:solidFill>
                <a:latin typeface="Darker Grotesque Bold"/>
                <a:ea typeface="Darker Grotesque Bold"/>
                <a:cs typeface="Darker Grotesque Bold"/>
                <a:sym typeface="Darker Grotesque Bold"/>
              </a:rPr>
              <a:t>VLSI Physical Design Implementation of a Post-Quantum Cryptographic Accelerator SoC</a:t>
            </a:r>
          </a:p>
        </p:txBody>
      </p:sp>
      <p:sp>
        <p:nvSpPr>
          <p:cNvPr id="8" name="Freeform 8"/>
          <p:cNvSpPr/>
          <p:nvPr/>
        </p:nvSpPr>
        <p:spPr>
          <a:xfrm>
            <a:off x="7301851" y="639906"/>
            <a:ext cx="3086421" cy="1181789"/>
          </a:xfrm>
          <a:custGeom>
            <a:avLst/>
            <a:gdLst/>
            <a:ahLst/>
            <a:cxnLst/>
            <a:rect l="l" t="t" r="r" b="b"/>
            <a:pathLst>
              <a:path w="3086421" h="1181789">
                <a:moveTo>
                  <a:pt x="0" y="0"/>
                </a:moveTo>
                <a:lnTo>
                  <a:pt x="3086421" y="0"/>
                </a:lnTo>
                <a:lnTo>
                  <a:pt x="3086421" y="1181790"/>
                </a:lnTo>
                <a:lnTo>
                  <a:pt x="0" y="1181790"/>
                </a:lnTo>
                <a:lnTo>
                  <a:pt x="0" y="0"/>
                </a:lnTo>
                <a:close/>
              </a:path>
            </a:pathLst>
          </a:custGeom>
          <a:blipFill>
            <a:blip r:embed="rId8"/>
            <a:stretch>
              <a:fillRect/>
            </a:stretch>
          </a:blipFill>
        </p:spPr>
      </p:sp>
      <p:sp>
        <p:nvSpPr>
          <p:cNvPr id="9" name="TextBox 9"/>
          <p:cNvSpPr txBox="1"/>
          <p:nvPr/>
        </p:nvSpPr>
        <p:spPr>
          <a:xfrm>
            <a:off x="2568529" y="6721721"/>
            <a:ext cx="13150950" cy="2076450"/>
          </a:xfrm>
          <a:prstGeom prst="rect">
            <a:avLst/>
          </a:prstGeom>
        </p:spPr>
        <p:txBody>
          <a:bodyPr lIns="0" tIns="0" rIns="0" bIns="0" rtlCol="0" anchor="t">
            <a:spAutoFit/>
          </a:bodyPr>
          <a:lstStyle/>
          <a:p>
            <a:pPr algn="ctr">
              <a:lnSpc>
                <a:spcPts val="2760"/>
              </a:lnSpc>
            </a:pPr>
            <a:r>
              <a:rPr lang="en-US" sz="2300">
                <a:solidFill>
                  <a:srgbClr val="FFFFFF"/>
                </a:solidFill>
                <a:latin typeface="Arimo"/>
                <a:ea typeface="Arimo"/>
                <a:cs typeface="Arimo"/>
                <a:sym typeface="Arimo"/>
              </a:rPr>
              <a:t>Project Guide: Dr. Velmathi G.</a:t>
            </a:r>
          </a:p>
          <a:p>
            <a:pPr algn="ctr">
              <a:lnSpc>
                <a:spcPts val="2760"/>
              </a:lnSpc>
            </a:pPr>
            <a:endParaRPr lang="en-US" sz="2300">
              <a:solidFill>
                <a:srgbClr val="FFFFFF"/>
              </a:solidFill>
              <a:latin typeface="Arimo"/>
              <a:ea typeface="Arimo"/>
              <a:cs typeface="Arimo"/>
              <a:sym typeface="Arimo"/>
            </a:endParaRPr>
          </a:p>
          <a:p>
            <a:pPr algn="ctr">
              <a:lnSpc>
                <a:spcPts val="2760"/>
              </a:lnSpc>
            </a:pPr>
            <a:r>
              <a:rPr lang="en-US" sz="2300">
                <a:solidFill>
                  <a:srgbClr val="FFFFFF"/>
                </a:solidFill>
                <a:latin typeface="Arimo"/>
                <a:ea typeface="Arimo"/>
                <a:cs typeface="Arimo"/>
                <a:sym typeface="Arimo"/>
              </a:rPr>
              <a:t>Team Members:</a:t>
            </a:r>
          </a:p>
          <a:p>
            <a:pPr algn="ctr">
              <a:lnSpc>
                <a:spcPts val="2760"/>
              </a:lnSpc>
            </a:pPr>
            <a:r>
              <a:rPr lang="en-US" sz="2300">
                <a:solidFill>
                  <a:srgbClr val="FFFFFF"/>
                </a:solidFill>
                <a:latin typeface="Arimo"/>
                <a:ea typeface="Arimo"/>
                <a:cs typeface="Arimo"/>
                <a:sym typeface="Arimo"/>
              </a:rPr>
              <a:t>Subham Prasad Gupta (23BVD1039)</a:t>
            </a:r>
          </a:p>
          <a:p>
            <a:pPr algn="ctr">
              <a:lnSpc>
                <a:spcPts val="2760"/>
              </a:lnSpc>
            </a:pPr>
            <a:r>
              <a:rPr lang="en-US" sz="2300">
                <a:solidFill>
                  <a:srgbClr val="FFFFFF"/>
                </a:solidFill>
                <a:latin typeface="Arimo"/>
                <a:ea typeface="Arimo"/>
                <a:cs typeface="Arimo"/>
                <a:sym typeface="Arimo"/>
              </a:rPr>
              <a:t>Jairus Solomon Samraj (23BVD1040)</a:t>
            </a:r>
          </a:p>
          <a:p>
            <a:pPr algn="ctr">
              <a:lnSpc>
                <a:spcPts val="2760"/>
              </a:lnSpc>
            </a:pPr>
            <a:r>
              <a:rPr lang="en-US" sz="2300">
                <a:solidFill>
                  <a:srgbClr val="FFFFFF"/>
                </a:solidFill>
                <a:latin typeface="Arimo"/>
                <a:ea typeface="Arimo"/>
                <a:cs typeface="Arimo"/>
                <a:sym typeface="Arimo"/>
              </a:rPr>
              <a:t>Vinayak Shreenivas Salunke (23BVD1062)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1174652" y="2030952"/>
            <a:ext cx="21857994" cy="10698580"/>
          </a:xfrm>
          <a:custGeom>
            <a:avLst/>
            <a:gdLst/>
            <a:ahLst/>
            <a:cxnLst/>
            <a:rect l="l" t="t" r="r" b="b"/>
            <a:pathLst>
              <a:path w="21857994" h="10698580">
                <a:moveTo>
                  <a:pt x="0" y="0"/>
                </a:moveTo>
                <a:lnTo>
                  <a:pt x="21857993" y="0"/>
                </a:lnTo>
                <a:lnTo>
                  <a:pt x="21857993" y="10698579"/>
                </a:lnTo>
                <a:lnTo>
                  <a:pt x="0" y="10698579"/>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242951" y="4616597"/>
            <a:ext cx="15519950" cy="2128801"/>
            <a:chOff x="0" y="0"/>
            <a:chExt cx="4382800" cy="601169"/>
          </a:xfrm>
        </p:grpSpPr>
        <p:sp>
          <p:nvSpPr>
            <p:cNvPr id="4" name="Freeform 4"/>
            <p:cNvSpPr/>
            <p:nvPr/>
          </p:nvSpPr>
          <p:spPr>
            <a:xfrm>
              <a:off x="0" y="0"/>
              <a:ext cx="4382800" cy="601169"/>
            </a:xfrm>
            <a:custGeom>
              <a:avLst/>
              <a:gdLst/>
              <a:ahLst/>
              <a:cxnLst/>
              <a:rect l="l" t="t" r="r" b="b"/>
              <a:pathLst>
                <a:path w="4382800" h="601169">
                  <a:moveTo>
                    <a:pt x="16960" y="0"/>
                  </a:moveTo>
                  <a:lnTo>
                    <a:pt x="4365839" y="0"/>
                  </a:lnTo>
                  <a:cubicBezTo>
                    <a:pt x="4370338" y="0"/>
                    <a:pt x="4374652" y="1787"/>
                    <a:pt x="4377832" y="4968"/>
                  </a:cubicBezTo>
                  <a:cubicBezTo>
                    <a:pt x="4381013" y="8148"/>
                    <a:pt x="4382800" y="12462"/>
                    <a:pt x="4382800" y="16960"/>
                  </a:cubicBezTo>
                  <a:lnTo>
                    <a:pt x="4382800" y="584208"/>
                  </a:lnTo>
                  <a:cubicBezTo>
                    <a:pt x="4382800" y="593575"/>
                    <a:pt x="4375207" y="601169"/>
                    <a:pt x="4365839" y="601169"/>
                  </a:cubicBezTo>
                  <a:lnTo>
                    <a:pt x="16960" y="601169"/>
                  </a:lnTo>
                  <a:cubicBezTo>
                    <a:pt x="7593" y="601169"/>
                    <a:pt x="0" y="593575"/>
                    <a:pt x="0" y="584208"/>
                  </a:cubicBezTo>
                  <a:lnTo>
                    <a:pt x="0" y="16960"/>
                  </a:lnTo>
                  <a:cubicBezTo>
                    <a:pt x="0" y="7593"/>
                    <a:pt x="7593" y="0"/>
                    <a:pt x="16960" y="0"/>
                  </a:cubicBezTo>
                  <a:close/>
                </a:path>
              </a:pathLst>
            </a:custGeom>
            <a:solidFill>
              <a:srgbClr val="CFD9E0">
                <a:alpha val="32941"/>
              </a:srgbClr>
            </a:solidFill>
          </p:spPr>
        </p:sp>
        <p:sp>
          <p:nvSpPr>
            <p:cNvPr id="5" name="TextBox 5"/>
            <p:cNvSpPr txBox="1"/>
            <p:nvPr/>
          </p:nvSpPr>
          <p:spPr>
            <a:xfrm>
              <a:off x="0" y="-38100"/>
              <a:ext cx="4382800" cy="639269"/>
            </a:xfrm>
            <a:prstGeom prst="rect">
              <a:avLst/>
            </a:prstGeom>
          </p:spPr>
          <p:txBody>
            <a:bodyPr lIns="50800" tIns="50800" rIns="50800" bIns="50800" rtlCol="0" anchor="ctr"/>
            <a:lstStyle/>
            <a:p>
              <a:pPr algn="ctr">
                <a:lnSpc>
                  <a:spcPts val="3359"/>
                </a:lnSpc>
                <a:spcBef>
                  <a:spcPct val="0"/>
                </a:spcBef>
              </a:pPr>
              <a:endParaRPr/>
            </a:p>
          </p:txBody>
        </p:sp>
      </p:grpSp>
      <p:grpSp>
        <p:nvGrpSpPr>
          <p:cNvPr id="6" name="Group 6"/>
          <p:cNvGrpSpPr/>
          <p:nvPr/>
        </p:nvGrpSpPr>
        <p:grpSpPr>
          <a:xfrm>
            <a:off x="1242951" y="6830011"/>
            <a:ext cx="15519950" cy="2111085"/>
            <a:chOff x="0" y="0"/>
            <a:chExt cx="4382800" cy="596166"/>
          </a:xfrm>
        </p:grpSpPr>
        <p:sp>
          <p:nvSpPr>
            <p:cNvPr id="7" name="Freeform 7"/>
            <p:cNvSpPr/>
            <p:nvPr/>
          </p:nvSpPr>
          <p:spPr>
            <a:xfrm>
              <a:off x="0" y="0"/>
              <a:ext cx="4382800" cy="596166"/>
            </a:xfrm>
            <a:custGeom>
              <a:avLst/>
              <a:gdLst/>
              <a:ahLst/>
              <a:cxnLst/>
              <a:rect l="l" t="t" r="r" b="b"/>
              <a:pathLst>
                <a:path w="4382800" h="596166">
                  <a:moveTo>
                    <a:pt x="16960" y="0"/>
                  </a:moveTo>
                  <a:lnTo>
                    <a:pt x="4365839" y="0"/>
                  </a:lnTo>
                  <a:cubicBezTo>
                    <a:pt x="4370338" y="0"/>
                    <a:pt x="4374652" y="1787"/>
                    <a:pt x="4377832" y="4968"/>
                  </a:cubicBezTo>
                  <a:cubicBezTo>
                    <a:pt x="4381013" y="8148"/>
                    <a:pt x="4382800" y="12462"/>
                    <a:pt x="4382800" y="16960"/>
                  </a:cubicBezTo>
                  <a:lnTo>
                    <a:pt x="4382800" y="579205"/>
                  </a:lnTo>
                  <a:cubicBezTo>
                    <a:pt x="4382800" y="588572"/>
                    <a:pt x="4375207" y="596166"/>
                    <a:pt x="4365839" y="596166"/>
                  </a:cubicBezTo>
                  <a:lnTo>
                    <a:pt x="16960" y="596166"/>
                  </a:lnTo>
                  <a:cubicBezTo>
                    <a:pt x="7593" y="596166"/>
                    <a:pt x="0" y="588572"/>
                    <a:pt x="0" y="579205"/>
                  </a:cubicBezTo>
                  <a:lnTo>
                    <a:pt x="0" y="16960"/>
                  </a:lnTo>
                  <a:cubicBezTo>
                    <a:pt x="0" y="7593"/>
                    <a:pt x="7593" y="0"/>
                    <a:pt x="16960" y="0"/>
                  </a:cubicBezTo>
                  <a:close/>
                </a:path>
              </a:pathLst>
            </a:custGeom>
            <a:solidFill>
              <a:srgbClr val="CFD9E0">
                <a:alpha val="32941"/>
              </a:srgbClr>
            </a:solidFill>
          </p:spPr>
        </p:sp>
        <p:sp>
          <p:nvSpPr>
            <p:cNvPr id="8" name="TextBox 8"/>
            <p:cNvSpPr txBox="1"/>
            <p:nvPr/>
          </p:nvSpPr>
          <p:spPr>
            <a:xfrm>
              <a:off x="0" y="-38100"/>
              <a:ext cx="4382800" cy="634266"/>
            </a:xfrm>
            <a:prstGeom prst="rect">
              <a:avLst/>
            </a:prstGeom>
          </p:spPr>
          <p:txBody>
            <a:bodyPr lIns="50800" tIns="50800" rIns="50800" bIns="50800" rtlCol="0" anchor="ctr"/>
            <a:lstStyle/>
            <a:p>
              <a:pPr algn="ctr">
                <a:lnSpc>
                  <a:spcPts val="3359"/>
                </a:lnSpc>
                <a:spcBef>
                  <a:spcPct val="0"/>
                </a:spcBef>
              </a:pPr>
              <a:endParaRPr/>
            </a:p>
          </p:txBody>
        </p:sp>
      </p:grpSp>
      <p:grpSp>
        <p:nvGrpSpPr>
          <p:cNvPr id="9" name="Group 9"/>
          <p:cNvGrpSpPr/>
          <p:nvPr/>
        </p:nvGrpSpPr>
        <p:grpSpPr>
          <a:xfrm>
            <a:off x="1242951" y="2321725"/>
            <a:ext cx="15519950" cy="2205098"/>
            <a:chOff x="0" y="0"/>
            <a:chExt cx="4382800" cy="622715"/>
          </a:xfrm>
        </p:grpSpPr>
        <p:sp>
          <p:nvSpPr>
            <p:cNvPr id="10" name="Freeform 10"/>
            <p:cNvSpPr/>
            <p:nvPr/>
          </p:nvSpPr>
          <p:spPr>
            <a:xfrm>
              <a:off x="0" y="0"/>
              <a:ext cx="4382800" cy="622715"/>
            </a:xfrm>
            <a:custGeom>
              <a:avLst/>
              <a:gdLst/>
              <a:ahLst/>
              <a:cxnLst/>
              <a:rect l="l" t="t" r="r" b="b"/>
              <a:pathLst>
                <a:path w="4382800" h="622715">
                  <a:moveTo>
                    <a:pt x="16960" y="0"/>
                  </a:moveTo>
                  <a:lnTo>
                    <a:pt x="4365839" y="0"/>
                  </a:lnTo>
                  <a:cubicBezTo>
                    <a:pt x="4370338" y="0"/>
                    <a:pt x="4374652" y="1787"/>
                    <a:pt x="4377832" y="4968"/>
                  </a:cubicBezTo>
                  <a:cubicBezTo>
                    <a:pt x="4381013" y="8148"/>
                    <a:pt x="4382800" y="12462"/>
                    <a:pt x="4382800" y="16960"/>
                  </a:cubicBezTo>
                  <a:lnTo>
                    <a:pt x="4382800" y="605754"/>
                  </a:lnTo>
                  <a:cubicBezTo>
                    <a:pt x="4382800" y="615121"/>
                    <a:pt x="4375207" y="622715"/>
                    <a:pt x="4365839" y="622715"/>
                  </a:cubicBezTo>
                  <a:lnTo>
                    <a:pt x="16960" y="622715"/>
                  </a:lnTo>
                  <a:cubicBezTo>
                    <a:pt x="12462" y="622715"/>
                    <a:pt x="8148" y="620928"/>
                    <a:pt x="4968" y="617747"/>
                  </a:cubicBezTo>
                  <a:cubicBezTo>
                    <a:pt x="1787" y="614567"/>
                    <a:pt x="0" y="610253"/>
                    <a:pt x="0" y="605754"/>
                  </a:cubicBezTo>
                  <a:lnTo>
                    <a:pt x="0" y="16960"/>
                  </a:lnTo>
                  <a:cubicBezTo>
                    <a:pt x="0" y="7593"/>
                    <a:pt x="7593" y="0"/>
                    <a:pt x="16960" y="0"/>
                  </a:cubicBezTo>
                  <a:close/>
                </a:path>
              </a:pathLst>
            </a:custGeom>
            <a:solidFill>
              <a:srgbClr val="CFD9E0">
                <a:alpha val="32941"/>
              </a:srgbClr>
            </a:solidFill>
          </p:spPr>
        </p:sp>
        <p:sp>
          <p:nvSpPr>
            <p:cNvPr id="11" name="TextBox 11"/>
            <p:cNvSpPr txBox="1"/>
            <p:nvPr/>
          </p:nvSpPr>
          <p:spPr>
            <a:xfrm>
              <a:off x="0" y="-38100"/>
              <a:ext cx="4382800" cy="660815"/>
            </a:xfrm>
            <a:prstGeom prst="rect">
              <a:avLst/>
            </a:prstGeom>
          </p:spPr>
          <p:txBody>
            <a:bodyPr lIns="50800" tIns="50800" rIns="50800" bIns="50800" rtlCol="0" anchor="ctr"/>
            <a:lstStyle/>
            <a:p>
              <a:pPr algn="ctr">
                <a:lnSpc>
                  <a:spcPts val="3359"/>
                </a:lnSpc>
                <a:spcBef>
                  <a:spcPct val="0"/>
                </a:spcBef>
              </a:pPr>
              <a:endParaRPr/>
            </a:p>
          </p:txBody>
        </p:sp>
      </p:grpSp>
      <p:sp>
        <p:nvSpPr>
          <p:cNvPr id="12" name="TextBox 12"/>
          <p:cNvSpPr txBox="1"/>
          <p:nvPr/>
        </p:nvSpPr>
        <p:spPr>
          <a:xfrm>
            <a:off x="1242951" y="869445"/>
            <a:ext cx="19440390" cy="923925"/>
          </a:xfrm>
          <a:prstGeom prst="rect">
            <a:avLst/>
          </a:prstGeom>
        </p:spPr>
        <p:txBody>
          <a:bodyPr lIns="0" tIns="0" rIns="0" bIns="0" rtlCol="0" anchor="t">
            <a:spAutoFit/>
          </a:bodyPr>
          <a:lstStyle/>
          <a:p>
            <a:pPr algn="l">
              <a:lnSpc>
                <a:spcPts val="7200"/>
              </a:lnSpc>
            </a:pPr>
            <a:r>
              <a:rPr lang="en-US" sz="6000" b="1" dirty="0">
                <a:solidFill>
                  <a:srgbClr val="40C5C5"/>
                </a:solidFill>
                <a:latin typeface="Darker Grotesque Bold"/>
                <a:ea typeface="Darker Grotesque Bold"/>
                <a:cs typeface="Darker Grotesque Bold"/>
                <a:sym typeface="Darker Grotesque Bold"/>
              </a:rPr>
              <a:t>Team Members </a:t>
            </a:r>
          </a:p>
        </p:txBody>
      </p:sp>
      <p:sp>
        <p:nvSpPr>
          <p:cNvPr id="13" name="TextBox 13"/>
          <p:cNvSpPr txBox="1"/>
          <p:nvPr/>
        </p:nvSpPr>
        <p:spPr>
          <a:xfrm>
            <a:off x="4100215" y="7944329"/>
            <a:ext cx="2450893" cy="624263"/>
          </a:xfrm>
          <a:prstGeom prst="rect">
            <a:avLst/>
          </a:prstGeom>
        </p:spPr>
        <p:txBody>
          <a:bodyPr lIns="0" tIns="0" rIns="0" bIns="0" rtlCol="0" anchor="t">
            <a:spAutoFit/>
          </a:bodyPr>
          <a:lstStyle/>
          <a:p>
            <a:pPr algn="l">
              <a:lnSpc>
                <a:spcPts val="4933"/>
              </a:lnSpc>
            </a:pPr>
            <a:r>
              <a:rPr lang="en-US" sz="3575">
                <a:solidFill>
                  <a:srgbClr val="FFFFFF"/>
                </a:solidFill>
                <a:latin typeface="Arimo"/>
                <a:ea typeface="Arimo"/>
                <a:cs typeface="Arimo"/>
                <a:sym typeface="Arimo"/>
              </a:rPr>
              <a:t>23BVD1062</a:t>
            </a:r>
          </a:p>
        </p:txBody>
      </p:sp>
      <p:sp>
        <p:nvSpPr>
          <p:cNvPr id="14" name="TextBox 14"/>
          <p:cNvSpPr txBox="1"/>
          <p:nvPr/>
        </p:nvSpPr>
        <p:spPr>
          <a:xfrm>
            <a:off x="4100215" y="3554185"/>
            <a:ext cx="2504737" cy="624263"/>
          </a:xfrm>
          <a:prstGeom prst="rect">
            <a:avLst/>
          </a:prstGeom>
        </p:spPr>
        <p:txBody>
          <a:bodyPr lIns="0" tIns="0" rIns="0" bIns="0" rtlCol="0" anchor="t">
            <a:spAutoFit/>
          </a:bodyPr>
          <a:lstStyle/>
          <a:p>
            <a:pPr algn="l">
              <a:lnSpc>
                <a:spcPts val="4933"/>
              </a:lnSpc>
            </a:pPr>
            <a:r>
              <a:rPr lang="en-US" sz="3575">
                <a:solidFill>
                  <a:srgbClr val="FFFFFF"/>
                </a:solidFill>
                <a:latin typeface="Arimo"/>
                <a:ea typeface="Arimo"/>
                <a:cs typeface="Arimo"/>
                <a:sym typeface="Arimo"/>
              </a:rPr>
              <a:t>23BVD1039</a:t>
            </a:r>
          </a:p>
        </p:txBody>
      </p:sp>
      <p:sp>
        <p:nvSpPr>
          <p:cNvPr id="15" name="TextBox 15"/>
          <p:cNvSpPr txBox="1"/>
          <p:nvPr/>
        </p:nvSpPr>
        <p:spPr>
          <a:xfrm>
            <a:off x="1492508" y="2321725"/>
            <a:ext cx="1790917" cy="2012763"/>
          </a:xfrm>
          <a:prstGeom prst="rect">
            <a:avLst/>
          </a:prstGeom>
        </p:spPr>
        <p:txBody>
          <a:bodyPr lIns="0" tIns="0" rIns="0" bIns="0" rtlCol="0" anchor="t">
            <a:spAutoFit/>
          </a:bodyPr>
          <a:lstStyle/>
          <a:p>
            <a:pPr algn="l">
              <a:lnSpc>
                <a:spcPts val="15923"/>
              </a:lnSpc>
            </a:pPr>
            <a:r>
              <a:rPr lang="en-US" sz="13269" b="1">
                <a:solidFill>
                  <a:srgbClr val="40C5C5"/>
                </a:solidFill>
                <a:latin typeface="Darker Grotesque Bold"/>
                <a:ea typeface="Darker Grotesque Bold"/>
                <a:cs typeface="Darker Grotesque Bold"/>
                <a:sym typeface="Darker Grotesque Bold"/>
              </a:rPr>
              <a:t>01</a:t>
            </a:r>
          </a:p>
        </p:txBody>
      </p:sp>
      <p:sp>
        <p:nvSpPr>
          <p:cNvPr id="16" name="TextBox 16"/>
          <p:cNvSpPr txBox="1"/>
          <p:nvPr/>
        </p:nvSpPr>
        <p:spPr>
          <a:xfrm>
            <a:off x="4100215" y="5768967"/>
            <a:ext cx="2450893" cy="624263"/>
          </a:xfrm>
          <a:prstGeom prst="rect">
            <a:avLst/>
          </a:prstGeom>
        </p:spPr>
        <p:txBody>
          <a:bodyPr lIns="0" tIns="0" rIns="0" bIns="0" rtlCol="0" anchor="t">
            <a:spAutoFit/>
          </a:bodyPr>
          <a:lstStyle/>
          <a:p>
            <a:pPr algn="l">
              <a:lnSpc>
                <a:spcPts val="4933"/>
              </a:lnSpc>
            </a:pPr>
            <a:r>
              <a:rPr lang="en-US" sz="3575">
                <a:solidFill>
                  <a:srgbClr val="FFFFFF"/>
                </a:solidFill>
                <a:latin typeface="Arimo"/>
                <a:ea typeface="Arimo"/>
                <a:cs typeface="Arimo"/>
                <a:sym typeface="Arimo"/>
              </a:rPr>
              <a:t>23BVD1040</a:t>
            </a:r>
          </a:p>
        </p:txBody>
      </p:sp>
      <p:sp>
        <p:nvSpPr>
          <p:cNvPr id="17" name="TextBox 17"/>
          <p:cNvSpPr txBox="1"/>
          <p:nvPr/>
        </p:nvSpPr>
        <p:spPr>
          <a:xfrm>
            <a:off x="4100215" y="2349169"/>
            <a:ext cx="5654129" cy="1075105"/>
          </a:xfrm>
          <a:prstGeom prst="rect">
            <a:avLst/>
          </a:prstGeom>
        </p:spPr>
        <p:txBody>
          <a:bodyPr lIns="0" tIns="0" rIns="0" bIns="0" rtlCol="0" anchor="t">
            <a:spAutoFit/>
          </a:bodyPr>
          <a:lstStyle/>
          <a:p>
            <a:pPr algn="l">
              <a:lnSpc>
                <a:spcPts val="8810"/>
              </a:lnSpc>
            </a:pPr>
            <a:r>
              <a:rPr lang="en-US" sz="6384" b="1">
                <a:solidFill>
                  <a:srgbClr val="FFFFFF"/>
                </a:solidFill>
                <a:latin typeface="Darker Grotesque Bold"/>
                <a:ea typeface="Darker Grotesque Bold"/>
                <a:cs typeface="Darker Grotesque Bold"/>
                <a:sym typeface="Darker Grotesque Bold"/>
              </a:rPr>
              <a:t>Subham P. Gupta</a:t>
            </a:r>
          </a:p>
        </p:txBody>
      </p:sp>
      <p:sp>
        <p:nvSpPr>
          <p:cNvPr id="18" name="TextBox 18"/>
          <p:cNvSpPr txBox="1"/>
          <p:nvPr/>
        </p:nvSpPr>
        <p:spPr>
          <a:xfrm>
            <a:off x="4100215" y="4512886"/>
            <a:ext cx="5654129" cy="1075105"/>
          </a:xfrm>
          <a:prstGeom prst="rect">
            <a:avLst/>
          </a:prstGeom>
        </p:spPr>
        <p:txBody>
          <a:bodyPr lIns="0" tIns="0" rIns="0" bIns="0" rtlCol="0" anchor="t">
            <a:spAutoFit/>
          </a:bodyPr>
          <a:lstStyle/>
          <a:p>
            <a:pPr algn="l">
              <a:lnSpc>
                <a:spcPts val="8810"/>
              </a:lnSpc>
            </a:pPr>
            <a:r>
              <a:rPr lang="en-US" sz="6384" b="1">
                <a:solidFill>
                  <a:srgbClr val="FFFFFF"/>
                </a:solidFill>
                <a:latin typeface="Darker Grotesque Bold"/>
                <a:ea typeface="Darker Grotesque Bold"/>
                <a:cs typeface="Darker Grotesque Bold"/>
                <a:sym typeface="Darker Grotesque Bold"/>
              </a:rPr>
              <a:t>Jairus S. Solomon</a:t>
            </a:r>
          </a:p>
        </p:txBody>
      </p:sp>
      <p:sp>
        <p:nvSpPr>
          <p:cNvPr id="19" name="TextBox 19"/>
          <p:cNvSpPr txBox="1"/>
          <p:nvPr/>
        </p:nvSpPr>
        <p:spPr>
          <a:xfrm>
            <a:off x="4100215" y="6735873"/>
            <a:ext cx="6080738" cy="1075105"/>
          </a:xfrm>
          <a:prstGeom prst="rect">
            <a:avLst/>
          </a:prstGeom>
        </p:spPr>
        <p:txBody>
          <a:bodyPr lIns="0" tIns="0" rIns="0" bIns="0" rtlCol="0" anchor="t">
            <a:spAutoFit/>
          </a:bodyPr>
          <a:lstStyle/>
          <a:p>
            <a:pPr algn="l">
              <a:lnSpc>
                <a:spcPts val="8810"/>
              </a:lnSpc>
            </a:pPr>
            <a:r>
              <a:rPr lang="en-US" sz="6384" b="1">
                <a:solidFill>
                  <a:srgbClr val="FFFFFF"/>
                </a:solidFill>
                <a:latin typeface="Darker Grotesque Bold"/>
                <a:ea typeface="Darker Grotesque Bold"/>
                <a:cs typeface="Darker Grotesque Bold"/>
                <a:sym typeface="Darker Grotesque Bold"/>
              </a:rPr>
              <a:t>Vinayak S. Salunke</a:t>
            </a:r>
          </a:p>
        </p:txBody>
      </p:sp>
      <p:sp>
        <p:nvSpPr>
          <p:cNvPr id="20" name="TextBox 20"/>
          <p:cNvSpPr txBox="1"/>
          <p:nvPr/>
        </p:nvSpPr>
        <p:spPr>
          <a:xfrm>
            <a:off x="1416308" y="4566695"/>
            <a:ext cx="1943317" cy="2012763"/>
          </a:xfrm>
          <a:prstGeom prst="rect">
            <a:avLst/>
          </a:prstGeom>
        </p:spPr>
        <p:txBody>
          <a:bodyPr lIns="0" tIns="0" rIns="0" bIns="0" rtlCol="0" anchor="t">
            <a:spAutoFit/>
          </a:bodyPr>
          <a:lstStyle/>
          <a:p>
            <a:pPr algn="l">
              <a:lnSpc>
                <a:spcPts val="15923"/>
              </a:lnSpc>
            </a:pPr>
            <a:r>
              <a:rPr lang="en-US" sz="13269" b="1">
                <a:solidFill>
                  <a:srgbClr val="40C5C5"/>
                </a:solidFill>
                <a:latin typeface="Darker Grotesque Bold"/>
                <a:ea typeface="Darker Grotesque Bold"/>
                <a:cs typeface="Darker Grotesque Bold"/>
                <a:sym typeface="Darker Grotesque Bold"/>
              </a:rPr>
              <a:t>02</a:t>
            </a:r>
          </a:p>
        </p:txBody>
      </p:sp>
      <p:sp>
        <p:nvSpPr>
          <p:cNvPr id="21" name="TextBox 21"/>
          <p:cNvSpPr txBox="1"/>
          <p:nvPr/>
        </p:nvSpPr>
        <p:spPr>
          <a:xfrm>
            <a:off x="1492508" y="6745328"/>
            <a:ext cx="1790917" cy="2012763"/>
          </a:xfrm>
          <a:prstGeom prst="rect">
            <a:avLst/>
          </a:prstGeom>
        </p:spPr>
        <p:txBody>
          <a:bodyPr lIns="0" tIns="0" rIns="0" bIns="0" rtlCol="0" anchor="t">
            <a:spAutoFit/>
          </a:bodyPr>
          <a:lstStyle/>
          <a:p>
            <a:pPr algn="l">
              <a:lnSpc>
                <a:spcPts val="15923"/>
              </a:lnSpc>
            </a:pPr>
            <a:r>
              <a:rPr lang="en-US" sz="13269" b="1">
                <a:solidFill>
                  <a:srgbClr val="40C5C5"/>
                </a:solidFill>
                <a:latin typeface="Darker Grotesque Bold"/>
                <a:ea typeface="Darker Grotesque Bold"/>
                <a:cs typeface="Darker Grotesque Bold"/>
                <a:sym typeface="Darker Grotesque Bold"/>
              </a:rPr>
              <a:t>03</a:t>
            </a:r>
          </a:p>
        </p:txBody>
      </p:sp>
      <p:sp>
        <p:nvSpPr>
          <p:cNvPr id="25" name="Freeform 2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4"/>
            <a:stretch>
              <a:fillRect/>
            </a:stretch>
          </a:blipFill>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1430272" y="-1941822"/>
            <a:ext cx="17832834" cy="14848990"/>
          </a:xfrm>
          <a:custGeom>
            <a:avLst/>
            <a:gdLst/>
            <a:ahLst/>
            <a:cxnLst/>
            <a:rect l="l" t="t" r="r" b="b"/>
            <a:pathLst>
              <a:path w="17832834" h="14848990">
                <a:moveTo>
                  <a:pt x="0" y="0"/>
                </a:moveTo>
                <a:lnTo>
                  <a:pt x="17832834" y="0"/>
                </a:lnTo>
                <a:lnTo>
                  <a:pt x="17832834" y="14848990"/>
                </a:lnTo>
                <a:lnTo>
                  <a:pt x="0" y="1484899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447800" y="509587"/>
            <a:ext cx="1522515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Contents of this Presentation</a:t>
            </a:r>
          </a:p>
        </p:txBody>
      </p:sp>
      <p:graphicFrame>
        <p:nvGraphicFramePr>
          <p:cNvPr id="4" name="Table 4"/>
          <p:cNvGraphicFramePr>
            <a:graphicFrameLocks noGrp="1"/>
          </p:cNvGraphicFramePr>
          <p:nvPr/>
        </p:nvGraphicFramePr>
        <p:xfrm>
          <a:off x="1447800" y="1875629"/>
          <a:ext cx="15392400" cy="7214088"/>
        </p:xfrm>
        <a:graphic>
          <a:graphicData uri="http://schemas.openxmlformats.org/drawingml/2006/table">
            <a:tbl>
              <a:tblPr/>
              <a:tblGrid>
                <a:gridCol w="5246560">
                  <a:extLst>
                    <a:ext uri="{9D8B030D-6E8A-4147-A177-3AD203B41FA5}">
                      <a16:colId xmlns:a16="http://schemas.microsoft.com/office/drawing/2014/main" val="20000"/>
                    </a:ext>
                  </a:extLst>
                </a:gridCol>
                <a:gridCol w="10145840">
                  <a:extLst>
                    <a:ext uri="{9D8B030D-6E8A-4147-A177-3AD203B41FA5}">
                      <a16:colId xmlns:a16="http://schemas.microsoft.com/office/drawing/2014/main" val="20001"/>
                    </a:ext>
                  </a:extLst>
                </a:gridCol>
              </a:tblGrid>
              <a:tr h="716833">
                <a:tc>
                  <a:txBody>
                    <a:bodyPr/>
                    <a:lstStyle/>
                    <a:p>
                      <a:pPr algn="l">
                        <a:lnSpc>
                          <a:spcPts val="3311"/>
                        </a:lnSpc>
                        <a:defRPr/>
                      </a:pPr>
                      <a:r>
                        <a:rPr lang="en-US" sz="2400" b="1">
                          <a:solidFill>
                            <a:srgbClr val="40C5C5"/>
                          </a:solidFill>
                          <a:latin typeface="Arimo Bold"/>
                          <a:ea typeface="Arimo Bold"/>
                          <a:cs typeface="Arimo Bold"/>
                          <a:sym typeface="Arimo Bold"/>
                        </a:rPr>
                        <a:t>S.No.</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74957"/>
                    </a:solidFill>
                  </a:tcPr>
                </a:tc>
                <a:tc>
                  <a:txBody>
                    <a:bodyPr/>
                    <a:lstStyle/>
                    <a:p>
                      <a:pPr algn="l">
                        <a:lnSpc>
                          <a:spcPts val="3311"/>
                        </a:lnSpc>
                        <a:defRPr/>
                      </a:pPr>
                      <a:r>
                        <a:rPr lang="en-US" sz="2399" b="1">
                          <a:solidFill>
                            <a:srgbClr val="40C5C5"/>
                          </a:solidFill>
                          <a:latin typeface="Arimo Bold"/>
                          <a:ea typeface="Arimo Bold"/>
                          <a:cs typeface="Arimo Bold"/>
                          <a:sym typeface="Arimo Bold"/>
                        </a:rPr>
                        <a:t>Title</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374957"/>
                    </a:solidFill>
                  </a:tcPr>
                </a:tc>
                <a:extLst>
                  <a:ext uri="{0D108BD9-81ED-4DB2-BD59-A6C34878D82A}">
                    <a16:rowId xmlns:a16="http://schemas.microsoft.com/office/drawing/2014/main" val="10000"/>
                  </a:ext>
                </a:extLst>
              </a:tr>
              <a:tr h="656948">
                <a:tc>
                  <a:txBody>
                    <a:bodyPr/>
                    <a:lstStyle/>
                    <a:p>
                      <a:pPr algn="l">
                        <a:lnSpc>
                          <a:spcPts val="3035"/>
                        </a:lnSpc>
                        <a:defRPr/>
                      </a:pPr>
                      <a:r>
                        <a:rPr lang="en-US" sz="2199">
                          <a:solidFill>
                            <a:srgbClr val="40C5C5"/>
                          </a:solidFill>
                          <a:latin typeface="Arimo"/>
                          <a:ea typeface="Arimo"/>
                          <a:cs typeface="Arimo"/>
                          <a:sym typeface="Arimo"/>
                        </a:rPr>
                        <a:t>1</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Problem Statement &amp; Background</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648923">
                <a:tc>
                  <a:txBody>
                    <a:bodyPr/>
                    <a:lstStyle/>
                    <a:p>
                      <a:pPr algn="l">
                        <a:lnSpc>
                          <a:spcPts val="3035"/>
                        </a:lnSpc>
                        <a:defRPr/>
                      </a:pPr>
                      <a:r>
                        <a:rPr lang="en-US" sz="2199">
                          <a:solidFill>
                            <a:srgbClr val="40C5C5"/>
                          </a:solidFill>
                          <a:latin typeface="Arimo"/>
                          <a:ea typeface="Arimo"/>
                          <a:cs typeface="Arimo"/>
                          <a:sym typeface="Arimo"/>
                        </a:rPr>
                        <a:t>2</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Existing Solutions &amp; Research Gap</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648923">
                <a:tc>
                  <a:txBody>
                    <a:bodyPr/>
                    <a:lstStyle/>
                    <a:p>
                      <a:pPr algn="l">
                        <a:lnSpc>
                          <a:spcPts val="3035"/>
                        </a:lnSpc>
                        <a:defRPr/>
                      </a:pPr>
                      <a:r>
                        <a:rPr lang="en-US" sz="2199">
                          <a:solidFill>
                            <a:srgbClr val="40C5C5"/>
                          </a:solidFill>
                          <a:latin typeface="Arimo"/>
                          <a:ea typeface="Arimo"/>
                          <a:cs typeface="Arimo"/>
                          <a:sym typeface="Arimo"/>
                        </a:rPr>
                        <a:t>3</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Literature Survey</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648923">
                <a:tc>
                  <a:txBody>
                    <a:bodyPr/>
                    <a:lstStyle/>
                    <a:p>
                      <a:pPr algn="l">
                        <a:lnSpc>
                          <a:spcPts val="3035"/>
                        </a:lnSpc>
                        <a:defRPr/>
                      </a:pPr>
                      <a:r>
                        <a:rPr lang="en-US" sz="2199">
                          <a:solidFill>
                            <a:srgbClr val="40C5C5"/>
                          </a:solidFill>
                          <a:latin typeface="Arimo"/>
                          <a:ea typeface="Arimo"/>
                          <a:cs typeface="Arimo"/>
                          <a:sym typeface="Arimo"/>
                        </a:rPr>
                        <a:t>4</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Proposed Solution</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648923">
                <a:tc>
                  <a:txBody>
                    <a:bodyPr/>
                    <a:lstStyle/>
                    <a:p>
                      <a:pPr algn="l">
                        <a:lnSpc>
                          <a:spcPts val="3035"/>
                        </a:lnSpc>
                        <a:defRPr/>
                      </a:pPr>
                      <a:r>
                        <a:rPr lang="en-US" sz="2199" b="1" u="sng">
                          <a:solidFill>
                            <a:srgbClr val="40C5C5"/>
                          </a:solidFill>
                          <a:latin typeface="Arimo Bold"/>
                          <a:ea typeface="Arimo Bold"/>
                          <a:cs typeface="Arimo Bold"/>
                          <a:sym typeface="Arimo Bold"/>
                        </a:rPr>
                        <a:t>5</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Methodology / Approach</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648923">
                <a:tc>
                  <a:txBody>
                    <a:bodyPr/>
                    <a:lstStyle/>
                    <a:p>
                      <a:pPr algn="l">
                        <a:lnSpc>
                          <a:spcPts val="3035"/>
                        </a:lnSpc>
                        <a:defRPr/>
                      </a:pPr>
                      <a:r>
                        <a:rPr lang="en-US" sz="2199" b="1" u="sng">
                          <a:solidFill>
                            <a:srgbClr val="40C5C5"/>
                          </a:solidFill>
                          <a:latin typeface="Arimo Bold"/>
                          <a:ea typeface="Arimo Bold"/>
                          <a:cs typeface="Arimo Bold"/>
                          <a:sym typeface="Arimo Bold"/>
                        </a:rPr>
                        <a:t>6</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Scope &amp; Limitations</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r h="648923">
                <a:tc>
                  <a:txBody>
                    <a:bodyPr/>
                    <a:lstStyle/>
                    <a:p>
                      <a:pPr algn="l">
                        <a:lnSpc>
                          <a:spcPts val="3035"/>
                        </a:lnSpc>
                        <a:defRPr/>
                      </a:pPr>
                      <a:r>
                        <a:rPr lang="en-US" sz="2199" b="1" u="sng">
                          <a:solidFill>
                            <a:srgbClr val="40C5C5"/>
                          </a:solidFill>
                          <a:latin typeface="Arimo Bold"/>
                          <a:ea typeface="Arimo Bold"/>
                          <a:cs typeface="Arimo Bold"/>
                          <a:sym typeface="Arimo Bold"/>
                        </a:rPr>
                        <a:t>7</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Work Completed Till Review 1</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7"/>
                  </a:ext>
                </a:extLst>
              </a:tr>
              <a:tr h="648923">
                <a:tc>
                  <a:txBody>
                    <a:bodyPr/>
                    <a:lstStyle/>
                    <a:p>
                      <a:pPr algn="l">
                        <a:lnSpc>
                          <a:spcPts val="3035"/>
                        </a:lnSpc>
                        <a:defRPr/>
                      </a:pPr>
                      <a:r>
                        <a:rPr lang="en-US" sz="2199">
                          <a:solidFill>
                            <a:srgbClr val="40C5C5"/>
                          </a:solidFill>
                          <a:latin typeface="Arimo"/>
                          <a:ea typeface="Arimo"/>
                          <a:cs typeface="Arimo"/>
                          <a:sym typeface="Arimo"/>
                        </a:rPr>
                        <a:t>8</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Work Completed Since</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8"/>
                  </a:ext>
                </a:extLst>
              </a:tr>
              <a:tr h="648923">
                <a:tc>
                  <a:txBody>
                    <a:bodyPr/>
                    <a:lstStyle/>
                    <a:p>
                      <a:pPr algn="l">
                        <a:lnSpc>
                          <a:spcPts val="3035"/>
                        </a:lnSpc>
                        <a:defRPr/>
                      </a:pPr>
                      <a:r>
                        <a:rPr lang="en-US" sz="2199">
                          <a:solidFill>
                            <a:srgbClr val="40C5C5"/>
                          </a:solidFill>
                          <a:latin typeface="Arimo"/>
                          <a:ea typeface="Arimo"/>
                          <a:cs typeface="Arimo"/>
                          <a:sym typeface="Arimo"/>
                        </a:rPr>
                        <a:t>9</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Results and Graphs</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9"/>
                  </a:ext>
                </a:extLst>
              </a:tr>
              <a:tr h="648923">
                <a:tc>
                  <a:txBody>
                    <a:bodyPr/>
                    <a:lstStyle/>
                    <a:p>
                      <a:pPr algn="l">
                        <a:lnSpc>
                          <a:spcPts val="3035"/>
                        </a:lnSpc>
                        <a:defRPr/>
                      </a:pPr>
                      <a:r>
                        <a:rPr lang="en-US" sz="2199" b="1" u="sng">
                          <a:solidFill>
                            <a:srgbClr val="40C5C5"/>
                          </a:solidFill>
                          <a:latin typeface="Arimo Bold"/>
                          <a:ea typeface="Arimo Bold"/>
                          <a:cs typeface="Arimo Bold"/>
                          <a:sym typeface="Arimo Bold"/>
                        </a:rPr>
                        <a:t>10</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l">
                        <a:lnSpc>
                          <a:spcPts val="2760"/>
                        </a:lnSpc>
                        <a:defRPr/>
                      </a:pPr>
                      <a:r>
                        <a:rPr lang="en-US" sz="2000">
                          <a:solidFill>
                            <a:srgbClr val="FFFFFF"/>
                          </a:solidFill>
                          <a:latin typeface="Arimo"/>
                          <a:ea typeface="Arimo"/>
                          <a:cs typeface="Arimo"/>
                          <a:sym typeface="Arimo"/>
                        </a:rPr>
                        <a:t>References</a:t>
                      </a:r>
                      <a:endParaRPr lang="en-US" sz="1100"/>
                    </a:p>
                  </a:txBody>
                  <a:tcPr marL="91425" marR="91425" marT="91425" marB="91425"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4"/>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290811"/>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3124335" y="793206"/>
            <a:ext cx="24558827" cy="8709653"/>
          </a:xfrm>
          <a:custGeom>
            <a:avLst/>
            <a:gdLst/>
            <a:ahLst/>
            <a:cxnLst/>
            <a:rect l="l" t="t" r="r" b="b"/>
            <a:pathLst>
              <a:path w="24558827" h="8709653">
                <a:moveTo>
                  <a:pt x="0" y="0"/>
                </a:moveTo>
                <a:lnTo>
                  <a:pt x="24558827" y="0"/>
                </a:lnTo>
                <a:lnTo>
                  <a:pt x="24558827" y="8709653"/>
                </a:lnTo>
                <a:lnTo>
                  <a:pt x="0" y="8709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16329550" y="4401480"/>
            <a:ext cx="1484052" cy="1484052"/>
          </a:xfrm>
          <a:custGeom>
            <a:avLst/>
            <a:gdLst/>
            <a:ahLst/>
            <a:cxnLst/>
            <a:rect l="l" t="t" r="r" b="b"/>
            <a:pathLst>
              <a:path w="1484052" h="1484052">
                <a:moveTo>
                  <a:pt x="0" y="0"/>
                </a:moveTo>
                <a:lnTo>
                  <a:pt x="1484052" y="0"/>
                </a:lnTo>
                <a:lnTo>
                  <a:pt x="1484052" y="1484052"/>
                </a:lnTo>
                <a:lnTo>
                  <a:pt x="0" y="1484052"/>
                </a:lnTo>
                <a:lnTo>
                  <a:pt x="0" y="0"/>
                </a:lnTo>
                <a:close/>
              </a:path>
            </a:pathLst>
          </a:custGeom>
          <a:blipFill>
            <a:blip r:embed="rId5"/>
            <a:stretch>
              <a:fillRect/>
            </a:stretch>
          </a:blipFill>
        </p:spPr>
      </p:sp>
      <p:sp>
        <p:nvSpPr>
          <p:cNvPr id="5" name="TextBox 5"/>
          <p:cNvSpPr txBox="1"/>
          <p:nvPr/>
        </p:nvSpPr>
        <p:spPr>
          <a:xfrm>
            <a:off x="5100029" y="6790362"/>
            <a:ext cx="8037150" cy="1259586"/>
          </a:xfrm>
          <a:prstGeom prst="rect">
            <a:avLst/>
          </a:prstGeom>
        </p:spPr>
        <p:txBody>
          <a:bodyPr lIns="0" tIns="0" rIns="0" bIns="0" rtlCol="0" anchor="t">
            <a:spAutoFit/>
          </a:bodyPr>
          <a:lstStyle/>
          <a:p>
            <a:pPr algn="ctr">
              <a:lnSpc>
                <a:spcPts val="3311"/>
              </a:lnSpc>
            </a:pPr>
            <a:r>
              <a:rPr lang="en-US" sz="2400">
                <a:solidFill>
                  <a:srgbClr val="FFFFFF"/>
                </a:solidFill>
                <a:latin typeface="Arimo"/>
                <a:ea typeface="Arimo"/>
                <a:cs typeface="Arimo"/>
                <a:sym typeface="Arimo"/>
              </a:rPr>
              <a:t>Problem Statement &amp; Background</a:t>
            </a:r>
          </a:p>
          <a:p>
            <a:pPr algn="ctr">
              <a:lnSpc>
                <a:spcPts val="3311"/>
              </a:lnSpc>
            </a:pPr>
            <a:r>
              <a:rPr lang="en-US" sz="2400">
                <a:solidFill>
                  <a:srgbClr val="FFFFFF"/>
                </a:solidFill>
                <a:latin typeface="Arimo"/>
                <a:ea typeface="Arimo"/>
                <a:cs typeface="Arimo"/>
                <a:sym typeface="Arimo"/>
              </a:rPr>
              <a:t>Existing Solutions &amp; Research Gap</a:t>
            </a:r>
          </a:p>
          <a:p>
            <a:pPr algn="ctr">
              <a:lnSpc>
                <a:spcPts val="3311"/>
              </a:lnSpc>
            </a:pPr>
            <a:r>
              <a:rPr lang="en-US" sz="2400">
                <a:solidFill>
                  <a:srgbClr val="FFFFFF"/>
                </a:solidFill>
                <a:latin typeface="Arimo"/>
                <a:ea typeface="Arimo"/>
                <a:cs typeface="Arimo"/>
                <a:sym typeface="Arimo"/>
              </a:rPr>
              <a:t>Literature Survey</a:t>
            </a:r>
          </a:p>
        </p:txBody>
      </p:sp>
      <p:sp>
        <p:nvSpPr>
          <p:cNvPr id="6" name="Freeform 6"/>
          <p:cNvSpPr/>
          <p:nvPr/>
        </p:nvSpPr>
        <p:spPr>
          <a:xfrm>
            <a:off x="1032400" y="1530252"/>
            <a:ext cx="1760604" cy="1760552"/>
          </a:xfrm>
          <a:custGeom>
            <a:avLst/>
            <a:gdLst/>
            <a:ahLst/>
            <a:cxnLst/>
            <a:rect l="l" t="t" r="r" b="b"/>
            <a:pathLst>
              <a:path w="1760604" h="1760552">
                <a:moveTo>
                  <a:pt x="0" y="0"/>
                </a:moveTo>
                <a:lnTo>
                  <a:pt x="1760604" y="0"/>
                </a:lnTo>
                <a:lnTo>
                  <a:pt x="1760604" y="1760552"/>
                </a:lnTo>
                <a:lnTo>
                  <a:pt x="0" y="1760552"/>
                </a:lnTo>
                <a:lnTo>
                  <a:pt x="0" y="0"/>
                </a:lnTo>
                <a:close/>
              </a:path>
            </a:pathLst>
          </a:custGeom>
          <a:blipFill>
            <a:blip r:embed="rId6"/>
            <a:stretch>
              <a:fillRect b="-2"/>
            </a:stretch>
          </a:blipFill>
        </p:spPr>
      </p:sp>
      <p:sp>
        <p:nvSpPr>
          <p:cNvPr id="7" name="TextBox 7"/>
          <p:cNvSpPr txBox="1"/>
          <p:nvPr/>
        </p:nvSpPr>
        <p:spPr>
          <a:xfrm>
            <a:off x="5225856" y="2509754"/>
            <a:ext cx="7836288" cy="971550"/>
          </a:xfrm>
          <a:prstGeom prst="rect">
            <a:avLst/>
          </a:prstGeom>
        </p:spPr>
        <p:txBody>
          <a:bodyPr lIns="0" tIns="0" rIns="0" bIns="0" rtlCol="0" anchor="t">
            <a:spAutoFit/>
          </a:bodyPr>
          <a:lstStyle/>
          <a:p>
            <a:pPr algn="ctr">
              <a:lnSpc>
                <a:spcPts val="7679"/>
              </a:lnSpc>
            </a:pPr>
            <a:r>
              <a:rPr lang="en-US" sz="6399" b="1">
                <a:solidFill>
                  <a:srgbClr val="765DF3"/>
                </a:solidFill>
                <a:latin typeface="Darker Grotesque Bold"/>
                <a:ea typeface="Darker Grotesque Bold"/>
                <a:cs typeface="Darker Grotesque Bold"/>
                <a:sym typeface="Darker Grotesque Bold"/>
              </a:rPr>
              <a:t>Section - 01</a:t>
            </a:r>
          </a:p>
        </p:txBody>
      </p:sp>
      <p:sp>
        <p:nvSpPr>
          <p:cNvPr id="8" name="TextBox 8"/>
          <p:cNvSpPr txBox="1"/>
          <p:nvPr/>
        </p:nvSpPr>
        <p:spPr>
          <a:xfrm>
            <a:off x="1608611" y="3728228"/>
            <a:ext cx="15019987" cy="2605659"/>
          </a:xfrm>
          <a:prstGeom prst="rect">
            <a:avLst/>
          </a:prstGeom>
        </p:spPr>
        <p:txBody>
          <a:bodyPr lIns="0" tIns="0" rIns="0" bIns="0" rtlCol="0" anchor="t">
            <a:spAutoFit/>
          </a:bodyPr>
          <a:lstStyle/>
          <a:p>
            <a:pPr algn="ctr">
              <a:lnSpc>
                <a:spcPts val="10098"/>
              </a:lnSpc>
            </a:pPr>
            <a:r>
              <a:rPr lang="en-US" sz="10200" b="1">
                <a:solidFill>
                  <a:srgbClr val="869FB2"/>
                </a:solidFill>
                <a:latin typeface="Darker Grotesque Bold"/>
                <a:ea typeface="Darker Grotesque Bold"/>
                <a:cs typeface="Darker Grotesque Bold"/>
                <a:sym typeface="Darker Grotesque Bold"/>
              </a:rPr>
              <a:t>Problem &amp; Research Foundation</a:t>
            </a:r>
          </a:p>
        </p:txBody>
      </p:sp>
      <p:sp>
        <p:nvSpPr>
          <p:cNvPr id="9" name="Freeform 9"/>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7"/>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531425" y="1893823"/>
            <a:ext cx="14714271" cy="8746617"/>
          </a:xfrm>
          <a:prstGeom prst="rect">
            <a:avLst/>
          </a:prstGeom>
        </p:spPr>
        <p:txBody>
          <a:bodyPr lIns="0" tIns="0" rIns="0" bIns="0" rtlCol="0" anchor="t">
            <a:spAutoFit/>
          </a:bodyPr>
          <a:lstStyle/>
          <a:p>
            <a:pPr marL="604519" lvl="1" indent="-302260" algn="l">
              <a:lnSpc>
                <a:spcPts val="3863"/>
              </a:lnSpc>
              <a:buFont typeface="Arial"/>
              <a:buChar char="•"/>
            </a:pPr>
            <a:r>
              <a:rPr lang="en-US" sz="2799">
                <a:solidFill>
                  <a:srgbClr val="FFFFFF"/>
                </a:solidFill>
                <a:latin typeface="Arimo"/>
                <a:ea typeface="Arimo"/>
                <a:cs typeface="Arimo"/>
                <a:sym typeface="Arimo"/>
              </a:rPr>
              <a:t>The emergence of large-scale quantum computing threatens widely used public-key cryptographic schemes such as RSA and ECC.</a:t>
            </a:r>
          </a:p>
          <a:p>
            <a:pPr algn="l">
              <a:lnSpc>
                <a:spcPts val="3863"/>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ML-KEM (CRYSTALS-Kyber) is the NIST-standardized post-quantum key-encapsulation mechanism based on the hardness of the Module Learning With Errors (Module-LWE) problem. </a:t>
            </a:r>
          </a:p>
          <a:p>
            <a:pPr algn="l">
              <a:lnSpc>
                <a:spcPts val="3863"/>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ML-KEM relies heavily on computationally intensive polynomial arithmetic, modular arithmetic, NTT/INTT, sampling and hashing operations.</a:t>
            </a:r>
          </a:p>
          <a:p>
            <a:pPr algn="l">
              <a:lnSpc>
                <a:spcPts val="3863"/>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Software-only execution of these operations can become a performance bottleneck in resource-constrained embedded systems.</a:t>
            </a:r>
          </a:p>
          <a:p>
            <a:pPr algn="l">
              <a:lnSpc>
                <a:spcPts val="3863"/>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Dedicated hardware acceleration can exploit parallelism and specialized datapaths to improve execution efficiency.</a:t>
            </a:r>
          </a:p>
          <a:p>
            <a:pPr algn="l">
              <a:lnSpc>
                <a:spcPts val="3863"/>
              </a:lnSpc>
            </a:pPr>
            <a:endParaRPr lang="en-US" sz="2799">
              <a:solidFill>
                <a:srgbClr val="FFFFFF"/>
              </a:solidFill>
              <a:latin typeface="Arimo"/>
              <a:ea typeface="Arimo"/>
              <a:cs typeface="Arimo"/>
              <a:sym typeface="Arimo"/>
            </a:endParaRPr>
          </a:p>
          <a:p>
            <a:pPr algn="l">
              <a:lnSpc>
                <a:spcPts val="3863"/>
              </a:lnSpc>
            </a:pPr>
            <a:endParaRPr lang="en-US" sz="2799">
              <a:solidFill>
                <a:srgbClr val="FFFFFF"/>
              </a:solidFill>
              <a:latin typeface="Arimo"/>
              <a:ea typeface="Arimo"/>
              <a:cs typeface="Arimo"/>
              <a:sym typeface="Arimo"/>
            </a:endParaRPr>
          </a:p>
          <a:p>
            <a:pPr algn="l">
              <a:lnSpc>
                <a:spcPts val="3863"/>
              </a:lnSpc>
            </a:pPr>
            <a:endParaRPr lang="en-US" sz="2799">
              <a:solidFill>
                <a:srgbClr val="FFFFFF"/>
              </a:solidFill>
              <a:latin typeface="Arimo"/>
              <a:ea typeface="Arimo"/>
              <a:cs typeface="Arimo"/>
              <a:sym typeface="Arimo"/>
            </a:endParaRPr>
          </a:p>
        </p:txBody>
      </p:sp>
      <p:sp>
        <p:nvSpPr>
          <p:cNvPr id="5" name="TextBox 5"/>
          <p:cNvSpPr txBox="1"/>
          <p:nvPr/>
        </p:nvSpPr>
        <p:spPr>
          <a:xfrm>
            <a:off x="1531425" y="715388"/>
            <a:ext cx="11201093"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Problem Statement:</a:t>
            </a:r>
          </a:p>
        </p:txBody>
      </p:sp>
      <p:sp>
        <p:nvSpPr>
          <p:cNvPr id="6" name="Freeform 6"/>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aphicFrame>
        <p:nvGraphicFramePr>
          <p:cNvPr id="4" name="Table 4"/>
          <p:cNvGraphicFramePr>
            <a:graphicFrameLocks noGrp="1"/>
          </p:cNvGraphicFramePr>
          <p:nvPr/>
        </p:nvGraphicFramePr>
        <p:xfrm>
          <a:off x="1531425" y="5600700"/>
          <a:ext cx="7726240" cy="3617952"/>
        </p:xfrm>
        <a:graphic>
          <a:graphicData uri="http://schemas.openxmlformats.org/drawingml/2006/table">
            <a:tbl>
              <a:tblPr/>
              <a:tblGrid>
                <a:gridCol w="3238585">
                  <a:extLst>
                    <a:ext uri="{9D8B030D-6E8A-4147-A177-3AD203B41FA5}">
                      <a16:colId xmlns:a16="http://schemas.microsoft.com/office/drawing/2014/main" val="20000"/>
                    </a:ext>
                  </a:extLst>
                </a:gridCol>
                <a:gridCol w="2076568">
                  <a:extLst>
                    <a:ext uri="{9D8B030D-6E8A-4147-A177-3AD203B41FA5}">
                      <a16:colId xmlns:a16="http://schemas.microsoft.com/office/drawing/2014/main" val="20001"/>
                    </a:ext>
                  </a:extLst>
                </a:gridCol>
                <a:gridCol w="2411088">
                  <a:extLst>
                    <a:ext uri="{9D8B030D-6E8A-4147-A177-3AD203B41FA5}">
                      <a16:colId xmlns:a16="http://schemas.microsoft.com/office/drawing/2014/main" val="20002"/>
                    </a:ext>
                  </a:extLst>
                </a:gridCol>
              </a:tblGrid>
              <a:tr h="904488">
                <a:tc>
                  <a:txBody>
                    <a:bodyPr/>
                    <a:lstStyle/>
                    <a:p>
                      <a:pPr algn="ctr">
                        <a:lnSpc>
                          <a:spcPts val="3359"/>
                        </a:lnSpc>
                        <a:defRPr/>
                      </a:pPr>
                      <a:r>
                        <a:rPr lang="en-US" sz="2400" b="1">
                          <a:solidFill>
                            <a:srgbClr val="FFFFFF"/>
                          </a:solidFill>
                          <a:latin typeface="Arimo Bold"/>
                          <a:ea typeface="Arimo Bold"/>
                          <a:cs typeface="Arimo Bold"/>
                          <a:sym typeface="Arimo Bold"/>
                        </a:rPr>
                        <a:t>Purpose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b="1">
                          <a:solidFill>
                            <a:srgbClr val="FFFFFF"/>
                          </a:solidFill>
                          <a:latin typeface="Arimo Bold"/>
                          <a:ea typeface="Arimo Bold"/>
                          <a:cs typeface="Arimo Bold"/>
                          <a:sym typeface="Arimo Bold"/>
                        </a:rPr>
                        <a:t>Standard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b="1">
                          <a:solidFill>
                            <a:srgbClr val="FFFFFF"/>
                          </a:solidFill>
                          <a:latin typeface="Arimo Bold"/>
                          <a:ea typeface="Arimo Bold"/>
                          <a:cs typeface="Arimo Bold"/>
                          <a:sym typeface="Arimo Bold"/>
                        </a:rPr>
                        <a:t>Algorithm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0"/>
                  </a:ext>
                </a:extLst>
              </a:tr>
              <a:tr h="904488">
                <a:tc>
                  <a:txBody>
                    <a:bodyPr/>
                    <a:lstStyle/>
                    <a:p>
                      <a:pPr algn="ctr">
                        <a:lnSpc>
                          <a:spcPts val="3359"/>
                        </a:lnSpc>
                        <a:defRPr/>
                      </a:pPr>
                      <a:r>
                        <a:rPr lang="en-US" sz="2400">
                          <a:solidFill>
                            <a:srgbClr val="FFFFFF"/>
                          </a:solidFill>
                          <a:latin typeface="Arimo"/>
                          <a:ea typeface="Arimo"/>
                          <a:cs typeface="Arimo"/>
                          <a:sym typeface="Arimo"/>
                        </a:rPr>
                        <a:t>Key Encapsulation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FIPS 203</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ML-KEM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904488">
                <a:tc>
                  <a:txBody>
                    <a:bodyPr/>
                    <a:lstStyle/>
                    <a:p>
                      <a:pPr algn="ctr">
                        <a:lnSpc>
                          <a:spcPts val="3359"/>
                        </a:lnSpc>
                        <a:defRPr/>
                      </a:pPr>
                      <a:r>
                        <a:rPr lang="en-US" sz="2400">
                          <a:solidFill>
                            <a:srgbClr val="FFFFFF"/>
                          </a:solidFill>
                          <a:latin typeface="Arimo"/>
                          <a:ea typeface="Arimo"/>
                          <a:cs typeface="Arimo"/>
                          <a:sym typeface="Arimo"/>
                        </a:rPr>
                        <a:t>Digital Signature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FIPS 204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ML-DSA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904488">
                <a:tc>
                  <a:txBody>
                    <a:bodyPr/>
                    <a:lstStyle/>
                    <a:p>
                      <a:pPr algn="ctr">
                        <a:lnSpc>
                          <a:spcPts val="3359"/>
                        </a:lnSpc>
                        <a:defRPr/>
                      </a:pPr>
                      <a:r>
                        <a:rPr lang="en-US" sz="2400">
                          <a:solidFill>
                            <a:srgbClr val="FFFFFF"/>
                          </a:solidFill>
                          <a:latin typeface="Arimo"/>
                          <a:ea typeface="Arimo"/>
                          <a:cs typeface="Arimo"/>
                          <a:sym typeface="Arimo"/>
                        </a:rPr>
                        <a:t>Digital Signature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FIPS 205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SLH-DSA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Box 5"/>
          <p:cNvSpPr txBox="1"/>
          <p:nvPr/>
        </p:nvSpPr>
        <p:spPr>
          <a:xfrm>
            <a:off x="1531425" y="633413"/>
            <a:ext cx="1522515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Post-Quantum Cryptography</a:t>
            </a:r>
          </a:p>
        </p:txBody>
      </p:sp>
      <p:sp>
        <p:nvSpPr>
          <p:cNvPr id="6" name="TextBox 6"/>
          <p:cNvSpPr txBox="1"/>
          <p:nvPr/>
        </p:nvSpPr>
        <p:spPr>
          <a:xfrm>
            <a:off x="1531425" y="3011966"/>
            <a:ext cx="8106150" cy="2431542"/>
          </a:xfrm>
          <a:prstGeom prst="rect">
            <a:avLst/>
          </a:prstGeom>
        </p:spPr>
        <p:txBody>
          <a:bodyPr lIns="0" tIns="0" rIns="0" bIns="0" rtlCol="0" anchor="t">
            <a:spAutoFit/>
          </a:bodyPr>
          <a:lstStyle/>
          <a:p>
            <a:pPr algn="l">
              <a:lnSpc>
                <a:spcPts val="3863"/>
              </a:lnSpc>
            </a:pPr>
            <a:r>
              <a:rPr lang="en-US" sz="2799">
                <a:solidFill>
                  <a:srgbClr val="FFFFFF"/>
                </a:solidFill>
                <a:latin typeface="Arimo"/>
                <a:ea typeface="Arimo"/>
                <a:cs typeface="Arimo"/>
                <a:sym typeface="Arimo"/>
              </a:rPr>
              <a:t>Cryptographic algorithms designed to remain secure against attacks from both:</a:t>
            </a:r>
          </a:p>
          <a:p>
            <a:pPr algn="l">
              <a:lnSpc>
                <a:spcPts val="3863"/>
              </a:lnSpc>
            </a:pPr>
            <a:r>
              <a:rPr lang="en-US" sz="2799">
                <a:solidFill>
                  <a:srgbClr val="FFFFFF"/>
                </a:solidFill>
                <a:latin typeface="Arimo"/>
                <a:ea typeface="Arimo"/>
                <a:cs typeface="Arimo"/>
                <a:sym typeface="Arimo"/>
              </a:rPr>
              <a:t>Classical Computers + Quantum Computers</a:t>
            </a:r>
          </a:p>
          <a:p>
            <a:pPr algn="l">
              <a:lnSpc>
                <a:spcPts val="3863"/>
              </a:lnSpc>
            </a:pPr>
            <a:endParaRPr lang="en-US" sz="2799">
              <a:solidFill>
                <a:srgbClr val="FFFFFF"/>
              </a:solidFill>
              <a:latin typeface="Arimo"/>
              <a:ea typeface="Arimo"/>
              <a:cs typeface="Arimo"/>
              <a:sym typeface="Arimo"/>
            </a:endParaRPr>
          </a:p>
          <a:p>
            <a:pPr algn="l">
              <a:lnSpc>
                <a:spcPts val="3863"/>
              </a:lnSpc>
            </a:pPr>
            <a:r>
              <a:rPr lang="en-US" sz="2799">
                <a:solidFill>
                  <a:srgbClr val="FFFFFF"/>
                </a:solidFill>
                <a:latin typeface="Arimo"/>
                <a:ea typeface="Arimo"/>
                <a:cs typeface="Arimo"/>
                <a:sym typeface="Arimo"/>
              </a:rPr>
              <a:t>NIST Standardized Algorithms :</a:t>
            </a:r>
          </a:p>
        </p:txBody>
      </p:sp>
      <p:sp>
        <p:nvSpPr>
          <p:cNvPr id="7" name="TextBox 7"/>
          <p:cNvSpPr txBox="1"/>
          <p:nvPr/>
        </p:nvSpPr>
        <p:spPr>
          <a:xfrm>
            <a:off x="1531425" y="2078516"/>
            <a:ext cx="8106150" cy="847725"/>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Definition</a:t>
            </a:r>
          </a:p>
        </p:txBody>
      </p:sp>
      <p:grpSp>
        <p:nvGrpSpPr>
          <p:cNvPr id="8" name="Group 8"/>
          <p:cNvGrpSpPr/>
          <p:nvPr/>
        </p:nvGrpSpPr>
        <p:grpSpPr>
          <a:xfrm>
            <a:off x="12790585" y="2380004"/>
            <a:ext cx="1745778" cy="853992"/>
            <a:chOff x="0" y="0"/>
            <a:chExt cx="493004" cy="241165"/>
          </a:xfrm>
        </p:grpSpPr>
        <p:sp>
          <p:nvSpPr>
            <p:cNvPr id="9" name="Freeform 9"/>
            <p:cNvSpPr/>
            <p:nvPr/>
          </p:nvSpPr>
          <p:spPr>
            <a:xfrm>
              <a:off x="0" y="0"/>
              <a:ext cx="493004" cy="241165"/>
            </a:xfrm>
            <a:custGeom>
              <a:avLst/>
              <a:gdLst/>
              <a:ahLst/>
              <a:cxnLst/>
              <a:rect l="l" t="t" r="r" b="b"/>
              <a:pathLst>
                <a:path w="493004" h="241165">
                  <a:moveTo>
                    <a:pt x="120583" y="0"/>
                  </a:moveTo>
                  <a:lnTo>
                    <a:pt x="372421" y="0"/>
                  </a:lnTo>
                  <a:cubicBezTo>
                    <a:pt x="439017" y="0"/>
                    <a:pt x="493004" y="53987"/>
                    <a:pt x="493004" y="120583"/>
                  </a:cubicBezTo>
                  <a:lnTo>
                    <a:pt x="493004" y="120583"/>
                  </a:lnTo>
                  <a:cubicBezTo>
                    <a:pt x="493004" y="187179"/>
                    <a:pt x="439017" y="241165"/>
                    <a:pt x="372421" y="241165"/>
                  </a:cubicBezTo>
                  <a:lnTo>
                    <a:pt x="120583" y="241165"/>
                  </a:lnTo>
                  <a:cubicBezTo>
                    <a:pt x="53987" y="241165"/>
                    <a:pt x="0" y="187179"/>
                    <a:pt x="0" y="120583"/>
                  </a:cubicBezTo>
                  <a:lnTo>
                    <a:pt x="0" y="120583"/>
                  </a:lnTo>
                  <a:cubicBezTo>
                    <a:pt x="0" y="53987"/>
                    <a:pt x="53987" y="0"/>
                    <a:pt x="120583" y="0"/>
                  </a:cubicBezTo>
                  <a:close/>
                </a:path>
              </a:pathLst>
            </a:custGeom>
            <a:solidFill>
              <a:srgbClr val="0C6161"/>
            </a:solidFill>
          </p:spPr>
        </p:sp>
        <p:sp>
          <p:nvSpPr>
            <p:cNvPr id="10" name="TextBox 10"/>
            <p:cNvSpPr txBox="1"/>
            <p:nvPr/>
          </p:nvSpPr>
          <p:spPr>
            <a:xfrm>
              <a:off x="0" y="-38100"/>
              <a:ext cx="493004"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PQC</a:t>
              </a:r>
            </a:p>
          </p:txBody>
        </p:sp>
      </p:grpSp>
      <p:grpSp>
        <p:nvGrpSpPr>
          <p:cNvPr id="11" name="Group 11"/>
          <p:cNvGrpSpPr/>
          <p:nvPr/>
        </p:nvGrpSpPr>
        <p:grpSpPr>
          <a:xfrm>
            <a:off x="10229619" y="4072196"/>
            <a:ext cx="2677762" cy="1071305"/>
            <a:chOff x="0" y="0"/>
            <a:chExt cx="756194" cy="302534"/>
          </a:xfrm>
        </p:grpSpPr>
        <p:sp>
          <p:nvSpPr>
            <p:cNvPr id="12" name="Freeform 12"/>
            <p:cNvSpPr/>
            <p:nvPr/>
          </p:nvSpPr>
          <p:spPr>
            <a:xfrm>
              <a:off x="0" y="0"/>
              <a:ext cx="756194" cy="302534"/>
            </a:xfrm>
            <a:custGeom>
              <a:avLst/>
              <a:gdLst/>
              <a:ahLst/>
              <a:cxnLst/>
              <a:rect l="l" t="t" r="r" b="b"/>
              <a:pathLst>
                <a:path w="756194" h="302534">
                  <a:moveTo>
                    <a:pt x="147451" y="0"/>
                  </a:moveTo>
                  <a:lnTo>
                    <a:pt x="608744" y="0"/>
                  </a:lnTo>
                  <a:cubicBezTo>
                    <a:pt x="647850" y="0"/>
                    <a:pt x="685355" y="15535"/>
                    <a:pt x="713007" y="43187"/>
                  </a:cubicBezTo>
                  <a:cubicBezTo>
                    <a:pt x="740659" y="70840"/>
                    <a:pt x="756194" y="108344"/>
                    <a:pt x="756194" y="147451"/>
                  </a:cubicBezTo>
                  <a:lnTo>
                    <a:pt x="756194" y="155083"/>
                  </a:lnTo>
                  <a:cubicBezTo>
                    <a:pt x="756194" y="194190"/>
                    <a:pt x="740659" y="231694"/>
                    <a:pt x="713007" y="259347"/>
                  </a:cubicBezTo>
                  <a:cubicBezTo>
                    <a:pt x="685355" y="286999"/>
                    <a:pt x="647850" y="302534"/>
                    <a:pt x="608744" y="302534"/>
                  </a:cubicBezTo>
                  <a:lnTo>
                    <a:pt x="147451" y="302534"/>
                  </a:lnTo>
                  <a:cubicBezTo>
                    <a:pt x="108344" y="302534"/>
                    <a:pt x="70840" y="286999"/>
                    <a:pt x="43187" y="259347"/>
                  </a:cubicBezTo>
                  <a:cubicBezTo>
                    <a:pt x="15535" y="231694"/>
                    <a:pt x="0" y="194190"/>
                    <a:pt x="0" y="155083"/>
                  </a:cubicBezTo>
                  <a:lnTo>
                    <a:pt x="0" y="147451"/>
                  </a:lnTo>
                  <a:cubicBezTo>
                    <a:pt x="0" y="108344"/>
                    <a:pt x="15535" y="70840"/>
                    <a:pt x="43187" y="43187"/>
                  </a:cubicBezTo>
                  <a:cubicBezTo>
                    <a:pt x="70840" y="15535"/>
                    <a:pt x="108344" y="0"/>
                    <a:pt x="147451" y="0"/>
                  </a:cubicBezTo>
                  <a:close/>
                </a:path>
              </a:pathLst>
            </a:custGeom>
            <a:solidFill>
              <a:srgbClr val="0C6161"/>
            </a:solidFill>
          </p:spPr>
        </p:sp>
        <p:sp>
          <p:nvSpPr>
            <p:cNvPr id="13" name="TextBox 13"/>
            <p:cNvSpPr txBox="1"/>
            <p:nvPr/>
          </p:nvSpPr>
          <p:spPr>
            <a:xfrm>
              <a:off x="0" y="-38100"/>
              <a:ext cx="756194" cy="340634"/>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Key Establishment</a:t>
              </a:r>
            </a:p>
          </p:txBody>
        </p:sp>
      </p:grpSp>
      <p:grpSp>
        <p:nvGrpSpPr>
          <p:cNvPr id="14" name="Group 14"/>
          <p:cNvGrpSpPr/>
          <p:nvPr/>
        </p:nvGrpSpPr>
        <p:grpSpPr>
          <a:xfrm>
            <a:off x="14135580" y="4072196"/>
            <a:ext cx="3352320" cy="860289"/>
            <a:chOff x="0" y="0"/>
            <a:chExt cx="946688" cy="242944"/>
          </a:xfrm>
        </p:grpSpPr>
        <p:sp>
          <p:nvSpPr>
            <p:cNvPr id="15" name="Freeform 15"/>
            <p:cNvSpPr/>
            <p:nvPr/>
          </p:nvSpPr>
          <p:spPr>
            <a:xfrm>
              <a:off x="0" y="0"/>
              <a:ext cx="946688" cy="242944"/>
            </a:xfrm>
            <a:custGeom>
              <a:avLst/>
              <a:gdLst/>
              <a:ahLst/>
              <a:cxnLst/>
              <a:rect l="l" t="t" r="r" b="b"/>
              <a:pathLst>
                <a:path w="946688" h="242944">
                  <a:moveTo>
                    <a:pt x="117781" y="0"/>
                  </a:moveTo>
                  <a:lnTo>
                    <a:pt x="828907" y="0"/>
                  </a:lnTo>
                  <a:cubicBezTo>
                    <a:pt x="860144" y="0"/>
                    <a:pt x="890102" y="12409"/>
                    <a:pt x="912191" y="34497"/>
                  </a:cubicBezTo>
                  <a:cubicBezTo>
                    <a:pt x="934279" y="56585"/>
                    <a:pt x="946688" y="86543"/>
                    <a:pt x="946688" y="117781"/>
                  </a:cubicBezTo>
                  <a:lnTo>
                    <a:pt x="946688" y="125163"/>
                  </a:lnTo>
                  <a:cubicBezTo>
                    <a:pt x="946688" y="156401"/>
                    <a:pt x="934279" y="186359"/>
                    <a:pt x="912191" y="208447"/>
                  </a:cubicBezTo>
                  <a:cubicBezTo>
                    <a:pt x="890102" y="230535"/>
                    <a:pt x="860144" y="242944"/>
                    <a:pt x="828907" y="242944"/>
                  </a:cubicBezTo>
                  <a:lnTo>
                    <a:pt x="117781" y="242944"/>
                  </a:lnTo>
                  <a:cubicBezTo>
                    <a:pt x="52732" y="242944"/>
                    <a:pt x="0" y="190212"/>
                    <a:pt x="0" y="125163"/>
                  </a:cubicBezTo>
                  <a:lnTo>
                    <a:pt x="0" y="117781"/>
                  </a:lnTo>
                  <a:cubicBezTo>
                    <a:pt x="0" y="86543"/>
                    <a:pt x="12409" y="56585"/>
                    <a:pt x="34497" y="34497"/>
                  </a:cubicBezTo>
                  <a:cubicBezTo>
                    <a:pt x="56585" y="12409"/>
                    <a:pt x="86543" y="0"/>
                    <a:pt x="117781" y="0"/>
                  </a:cubicBezTo>
                  <a:close/>
                </a:path>
              </a:pathLst>
            </a:custGeom>
            <a:solidFill>
              <a:srgbClr val="0C6161"/>
            </a:solidFill>
          </p:spPr>
        </p:sp>
        <p:sp>
          <p:nvSpPr>
            <p:cNvPr id="16" name="TextBox 16"/>
            <p:cNvSpPr txBox="1"/>
            <p:nvPr/>
          </p:nvSpPr>
          <p:spPr>
            <a:xfrm>
              <a:off x="0" y="-38100"/>
              <a:ext cx="946688" cy="281044"/>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Digital Signature</a:t>
              </a:r>
            </a:p>
          </p:txBody>
        </p:sp>
      </p:grpSp>
      <p:sp>
        <p:nvSpPr>
          <p:cNvPr id="17" name="AutoShape 17"/>
          <p:cNvSpPr/>
          <p:nvPr/>
        </p:nvSpPr>
        <p:spPr>
          <a:xfrm flipH="1">
            <a:off x="11568501" y="3233996"/>
            <a:ext cx="2094974" cy="838200"/>
          </a:xfrm>
          <a:prstGeom prst="line">
            <a:avLst/>
          </a:prstGeom>
          <a:ln w="38100" cap="flat">
            <a:solidFill>
              <a:srgbClr val="FFFFFF"/>
            </a:solidFill>
            <a:prstDash val="solid"/>
            <a:headEnd type="none" w="sm" len="sm"/>
            <a:tailEnd type="arrow" w="med" len="sm"/>
          </a:ln>
        </p:spPr>
      </p:sp>
      <p:sp>
        <p:nvSpPr>
          <p:cNvPr id="18" name="AutoShape 18"/>
          <p:cNvSpPr/>
          <p:nvPr/>
        </p:nvSpPr>
        <p:spPr>
          <a:xfrm>
            <a:off x="13663474" y="3233996"/>
            <a:ext cx="2148266" cy="838200"/>
          </a:xfrm>
          <a:prstGeom prst="line">
            <a:avLst/>
          </a:prstGeom>
          <a:ln w="38100" cap="flat">
            <a:solidFill>
              <a:srgbClr val="FFFFFF"/>
            </a:solidFill>
            <a:prstDash val="solid"/>
            <a:headEnd type="none" w="sm" len="sm"/>
            <a:tailEnd type="arrow" w="med" len="sm"/>
          </a:ln>
        </p:spPr>
      </p:sp>
      <p:grpSp>
        <p:nvGrpSpPr>
          <p:cNvPr id="19" name="Group 19"/>
          <p:cNvGrpSpPr/>
          <p:nvPr/>
        </p:nvGrpSpPr>
        <p:grpSpPr>
          <a:xfrm>
            <a:off x="10229619" y="5600700"/>
            <a:ext cx="2677762" cy="754782"/>
            <a:chOff x="0" y="0"/>
            <a:chExt cx="756194" cy="213149"/>
          </a:xfrm>
        </p:grpSpPr>
        <p:sp>
          <p:nvSpPr>
            <p:cNvPr id="20" name="Freeform 20"/>
            <p:cNvSpPr/>
            <p:nvPr/>
          </p:nvSpPr>
          <p:spPr>
            <a:xfrm>
              <a:off x="0" y="0"/>
              <a:ext cx="756194" cy="213149"/>
            </a:xfrm>
            <a:custGeom>
              <a:avLst/>
              <a:gdLst/>
              <a:ahLst/>
              <a:cxnLst/>
              <a:rect l="l" t="t" r="r" b="b"/>
              <a:pathLst>
                <a:path w="756194" h="213149">
                  <a:moveTo>
                    <a:pt x="106574" y="0"/>
                  </a:moveTo>
                  <a:lnTo>
                    <a:pt x="649620" y="0"/>
                  </a:lnTo>
                  <a:cubicBezTo>
                    <a:pt x="708479" y="0"/>
                    <a:pt x="756194" y="47715"/>
                    <a:pt x="756194" y="106574"/>
                  </a:cubicBezTo>
                  <a:lnTo>
                    <a:pt x="756194" y="106574"/>
                  </a:lnTo>
                  <a:cubicBezTo>
                    <a:pt x="756194" y="134840"/>
                    <a:pt x="744966" y="161947"/>
                    <a:pt x="724979" y="181934"/>
                  </a:cubicBezTo>
                  <a:cubicBezTo>
                    <a:pt x="704993" y="201920"/>
                    <a:pt x="677885" y="213149"/>
                    <a:pt x="649620" y="213149"/>
                  </a:cubicBezTo>
                  <a:lnTo>
                    <a:pt x="106574" y="213149"/>
                  </a:lnTo>
                  <a:cubicBezTo>
                    <a:pt x="78309" y="213149"/>
                    <a:pt x="51201" y="201920"/>
                    <a:pt x="31215" y="181934"/>
                  </a:cubicBezTo>
                  <a:cubicBezTo>
                    <a:pt x="11228" y="161947"/>
                    <a:pt x="0" y="134840"/>
                    <a:pt x="0" y="106574"/>
                  </a:cubicBezTo>
                  <a:lnTo>
                    <a:pt x="0" y="106574"/>
                  </a:lnTo>
                  <a:cubicBezTo>
                    <a:pt x="0" y="78309"/>
                    <a:pt x="11228" y="51201"/>
                    <a:pt x="31215" y="31215"/>
                  </a:cubicBezTo>
                  <a:cubicBezTo>
                    <a:pt x="51201" y="11228"/>
                    <a:pt x="78309" y="0"/>
                    <a:pt x="106574" y="0"/>
                  </a:cubicBezTo>
                  <a:close/>
                </a:path>
              </a:pathLst>
            </a:custGeom>
            <a:solidFill>
              <a:srgbClr val="0C6161"/>
            </a:solidFill>
          </p:spPr>
        </p:sp>
        <p:sp>
          <p:nvSpPr>
            <p:cNvPr id="21" name="TextBox 21"/>
            <p:cNvSpPr txBox="1"/>
            <p:nvPr/>
          </p:nvSpPr>
          <p:spPr>
            <a:xfrm>
              <a:off x="0" y="-38100"/>
              <a:ext cx="756194" cy="251249"/>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ML-KEM</a:t>
              </a:r>
            </a:p>
          </p:txBody>
        </p:sp>
      </p:grpSp>
      <p:grpSp>
        <p:nvGrpSpPr>
          <p:cNvPr id="22" name="Group 22"/>
          <p:cNvGrpSpPr/>
          <p:nvPr/>
        </p:nvGrpSpPr>
        <p:grpSpPr>
          <a:xfrm>
            <a:off x="14198712" y="5600700"/>
            <a:ext cx="3226056" cy="754782"/>
            <a:chOff x="0" y="0"/>
            <a:chExt cx="911031" cy="213149"/>
          </a:xfrm>
        </p:grpSpPr>
        <p:sp>
          <p:nvSpPr>
            <p:cNvPr id="23" name="Freeform 23"/>
            <p:cNvSpPr/>
            <p:nvPr/>
          </p:nvSpPr>
          <p:spPr>
            <a:xfrm>
              <a:off x="0" y="0"/>
              <a:ext cx="911031" cy="213149"/>
            </a:xfrm>
            <a:custGeom>
              <a:avLst/>
              <a:gdLst/>
              <a:ahLst/>
              <a:cxnLst/>
              <a:rect l="l" t="t" r="r" b="b"/>
              <a:pathLst>
                <a:path w="911031" h="213149">
                  <a:moveTo>
                    <a:pt x="106574" y="0"/>
                  </a:moveTo>
                  <a:lnTo>
                    <a:pt x="804457" y="0"/>
                  </a:lnTo>
                  <a:cubicBezTo>
                    <a:pt x="863316" y="0"/>
                    <a:pt x="911031" y="47715"/>
                    <a:pt x="911031" y="106574"/>
                  </a:cubicBezTo>
                  <a:lnTo>
                    <a:pt x="911031" y="106574"/>
                  </a:lnTo>
                  <a:cubicBezTo>
                    <a:pt x="911031" y="134840"/>
                    <a:pt x="899803" y="161947"/>
                    <a:pt x="879816" y="181934"/>
                  </a:cubicBezTo>
                  <a:cubicBezTo>
                    <a:pt x="859830" y="201920"/>
                    <a:pt x="832722" y="213149"/>
                    <a:pt x="804457" y="213149"/>
                  </a:cubicBezTo>
                  <a:lnTo>
                    <a:pt x="106574" y="213149"/>
                  </a:lnTo>
                  <a:cubicBezTo>
                    <a:pt x="78309" y="213149"/>
                    <a:pt x="51201" y="201920"/>
                    <a:pt x="31215" y="181934"/>
                  </a:cubicBezTo>
                  <a:cubicBezTo>
                    <a:pt x="11228" y="161947"/>
                    <a:pt x="0" y="134840"/>
                    <a:pt x="0" y="106574"/>
                  </a:cubicBezTo>
                  <a:lnTo>
                    <a:pt x="0" y="106574"/>
                  </a:lnTo>
                  <a:cubicBezTo>
                    <a:pt x="0" y="78309"/>
                    <a:pt x="11228" y="51201"/>
                    <a:pt x="31215" y="31215"/>
                  </a:cubicBezTo>
                  <a:cubicBezTo>
                    <a:pt x="51201" y="11228"/>
                    <a:pt x="78309" y="0"/>
                    <a:pt x="106574" y="0"/>
                  </a:cubicBezTo>
                  <a:close/>
                </a:path>
              </a:pathLst>
            </a:custGeom>
            <a:solidFill>
              <a:srgbClr val="0C6161"/>
            </a:solidFill>
          </p:spPr>
        </p:sp>
        <p:sp>
          <p:nvSpPr>
            <p:cNvPr id="24" name="TextBox 24"/>
            <p:cNvSpPr txBox="1"/>
            <p:nvPr/>
          </p:nvSpPr>
          <p:spPr>
            <a:xfrm>
              <a:off x="0" y="-38100"/>
              <a:ext cx="911031" cy="251249"/>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ML-DSA / SLH-DSA</a:t>
              </a:r>
            </a:p>
          </p:txBody>
        </p:sp>
      </p:grpSp>
      <p:sp>
        <p:nvSpPr>
          <p:cNvPr id="25" name="AutoShape 25"/>
          <p:cNvSpPr/>
          <p:nvPr/>
        </p:nvSpPr>
        <p:spPr>
          <a:xfrm>
            <a:off x="11568501" y="5143501"/>
            <a:ext cx="0" cy="457199"/>
          </a:xfrm>
          <a:prstGeom prst="line">
            <a:avLst/>
          </a:prstGeom>
          <a:ln w="38100" cap="flat">
            <a:solidFill>
              <a:srgbClr val="FFFFFF"/>
            </a:solidFill>
            <a:prstDash val="solid"/>
            <a:headEnd type="none" w="sm" len="sm"/>
            <a:tailEnd type="arrow" w="med" len="sm"/>
          </a:ln>
        </p:spPr>
      </p:sp>
      <p:sp>
        <p:nvSpPr>
          <p:cNvPr id="26" name="AutoShape 26"/>
          <p:cNvSpPr/>
          <p:nvPr/>
        </p:nvSpPr>
        <p:spPr>
          <a:xfrm>
            <a:off x="15811740" y="4932486"/>
            <a:ext cx="0" cy="668214"/>
          </a:xfrm>
          <a:prstGeom prst="line">
            <a:avLst/>
          </a:prstGeom>
          <a:ln w="38100" cap="flat">
            <a:solidFill>
              <a:srgbClr val="FFFFFF"/>
            </a:solidFill>
            <a:prstDash val="solid"/>
            <a:headEnd type="none" w="sm" len="sm"/>
            <a:tailEnd type="arrow" w="med" len="sm"/>
          </a:ln>
        </p:spPr>
      </p:sp>
      <p:sp>
        <p:nvSpPr>
          <p:cNvPr id="27" name="Freeform 2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1255838" y="2241680"/>
            <a:ext cx="5616692" cy="7016620"/>
            <a:chOff x="0" y="0"/>
            <a:chExt cx="1586142" cy="1981478"/>
          </a:xfrm>
        </p:grpSpPr>
        <p:sp>
          <p:nvSpPr>
            <p:cNvPr id="5" name="Freeform 5"/>
            <p:cNvSpPr/>
            <p:nvPr/>
          </p:nvSpPr>
          <p:spPr>
            <a:xfrm>
              <a:off x="0" y="0"/>
              <a:ext cx="1586142" cy="1981478"/>
            </a:xfrm>
            <a:custGeom>
              <a:avLst/>
              <a:gdLst/>
              <a:ahLst/>
              <a:cxnLst/>
              <a:rect l="l" t="t" r="r" b="b"/>
              <a:pathLst>
                <a:path w="1586142" h="1981478">
                  <a:moveTo>
                    <a:pt x="46865" y="0"/>
                  </a:moveTo>
                  <a:lnTo>
                    <a:pt x="1539277" y="0"/>
                  </a:lnTo>
                  <a:cubicBezTo>
                    <a:pt x="1551706" y="0"/>
                    <a:pt x="1563626" y="4938"/>
                    <a:pt x="1572415" y="13726"/>
                  </a:cubicBezTo>
                  <a:cubicBezTo>
                    <a:pt x="1581204" y="22515"/>
                    <a:pt x="1586142" y="34435"/>
                    <a:pt x="1586142" y="46865"/>
                  </a:cubicBezTo>
                  <a:lnTo>
                    <a:pt x="1586142" y="1934613"/>
                  </a:lnTo>
                  <a:cubicBezTo>
                    <a:pt x="1586142" y="1947042"/>
                    <a:pt x="1581204" y="1958963"/>
                    <a:pt x="1572415" y="1967752"/>
                  </a:cubicBezTo>
                  <a:cubicBezTo>
                    <a:pt x="1563626" y="1976540"/>
                    <a:pt x="1551706" y="1981478"/>
                    <a:pt x="1539277" y="1981478"/>
                  </a:cubicBezTo>
                  <a:lnTo>
                    <a:pt x="46865" y="1981478"/>
                  </a:lnTo>
                  <a:cubicBezTo>
                    <a:pt x="34435" y="1981478"/>
                    <a:pt x="22515" y="1976540"/>
                    <a:pt x="13726" y="1967752"/>
                  </a:cubicBezTo>
                  <a:cubicBezTo>
                    <a:pt x="4938" y="1958963"/>
                    <a:pt x="0" y="1947042"/>
                    <a:pt x="0" y="1934613"/>
                  </a:cubicBezTo>
                  <a:lnTo>
                    <a:pt x="0" y="46865"/>
                  </a:lnTo>
                  <a:cubicBezTo>
                    <a:pt x="0" y="34435"/>
                    <a:pt x="4938" y="22515"/>
                    <a:pt x="13726" y="13726"/>
                  </a:cubicBezTo>
                  <a:cubicBezTo>
                    <a:pt x="22515" y="4938"/>
                    <a:pt x="34435" y="0"/>
                    <a:pt x="46865" y="0"/>
                  </a:cubicBezTo>
                  <a:close/>
                </a:path>
              </a:pathLst>
            </a:custGeom>
            <a:solidFill>
              <a:srgbClr val="CFD9E0">
                <a:alpha val="32941"/>
              </a:srgbClr>
            </a:solidFill>
          </p:spPr>
        </p:sp>
        <p:sp>
          <p:nvSpPr>
            <p:cNvPr id="6" name="TextBox 6"/>
            <p:cNvSpPr txBox="1"/>
            <p:nvPr/>
          </p:nvSpPr>
          <p:spPr>
            <a:xfrm>
              <a:off x="0" y="-38100"/>
              <a:ext cx="1586142" cy="2019578"/>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8" name="Group 8"/>
          <p:cNvGrpSpPr/>
          <p:nvPr/>
        </p:nvGrpSpPr>
        <p:grpSpPr>
          <a:xfrm>
            <a:off x="7234152" y="2241680"/>
            <a:ext cx="10025148" cy="7016620"/>
            <a:chOff x="0" y="0"/>
            <a:chExt cx="2831080" cy="1981478"/>
          </a:xfrm>
        </p:grpSpPr>
        <p:sp>
          <p:nvSpPr>
            <p:cNvPr id="9" name="Freeform 9"/>
            <p:cNvSpPr/>
            <p:nvPr/>
          </p:nvSpPr>
          <p:spPr>
            <a:xfrm>
              <a:off x="0" y="0"/>
              <a:ext cx="2831080" cy="1981478"/>
            </a:xfrm>
            <a:custGeom>
              <a:avLst/>
              <a:gdLst/>
              <a:ahLst/>
              <a:cxnLst/>
              <a:rect l="l" t="t" r="r" b="b"/>
              <a:pathLst>
                <a:path w="2831080" h="1981478">
                  <a:moveTo>
                    <a:pt x="26257" y="0"/>
                  </a:moveTo>
                  <a:lnTo>
                    <a:pt x="2804823" y="0"/>
                  </a:lnTo>
                  <a:cubicBezTo>
                    <a:pt x="2819324" y="0"/>
                    <a:pt x="2831080" y="11755"/>
                    <a:pt x="2831080" y="26257"/>
                  </a:cubicBezTo>
                  <a:lnTo>
                    <a:pt x="2831080" y="1955221"/>
                  </a:lnTo>
                  <a:cubicBezTo>
                    <a:pt x="2831080" y="1969722"/>
                    <a:pt x="2819324" y="1981478"/>
                    <a:pt x="2804823" y="1981478"/>
                  </a:cubicBezTo>
                  <a:lnTo>
                    <a:pt x="26257" y="1981478"/>
                  </a:lnTo>
                  <a:cubicBezTo>
                    <a:pt x="11755" y="1981478"/>
                    <a:pt x="0" y="1969722"/>
                    <a:pt x="0" y="1955221"/>
                  </a:cubicBezTo>
                  <a:lnTo>
                    <a:pt x="0" y="26257"/>
                  </a:lnTo>
                  <a:cubicBezTo>
                    <a:pt x="0" y="11755"/>
                    <a:pt x="11755" y="0"/>
                    <a:pt x="26257" y="0"/>
                  </a:cubicBezTo>
                  <a:close/>
                </a:path>
              </a:pathLst>
            </a:custGeom>
            <a:solidFill>
              <a:srgbClr val="CFD9E0">
                <a:alpha val="32941"/>
              </a:srgbClr>
            </a:solidFill>
          </p:spPr>
        </p:sp>
        <p:sp>
          <p:nvSpPr>
            <p:cNvPr id="10" name="TextBox 10"/>
            <p:cNvSpPr txBox="1"/>
            <p:nvPr/>
          </p:nvSpPr>
          <p:spPr>
            <a:xfrm>
              <a:off x="0" y="-38100"/>
              <a:ext cx="2831080" cy="2019578"/>
            </a:xfrm>
            <a:prstGeom prst="rect">
              <a:avLst/>
            </a:prstGeom>
          </p:spPr>
          <p:txBody>
            <a:bodyPr lIns="50800" tIns="50800" rIns="50800" bIns="50800" rtlCol="0" anchor="ctr"/>
            <a:lstStyle/>
            <a:p>
              <a:pPr algn="ctr">
                <a:lnSpc>
                  <a:spcPts val="3359"/>
                </a:lnSpc>
                <a:spcBef>
                  <a:spcPct val="0"/>
                </a:spcBef>
              </a:pPr>
              <a:endParaRPr/>
            </a:p>
          </p:txBody>
        </p:sp>
      </p:grpSp>
      <p:sp>
        <p:nvSpPr>
          <p:cNvPr id="11" name="Freeform 11"/>
          <p:cNvSpPr/>
          <p:nvPr/>
        </p:nvSpPr>
        <p:spPr>
          <a:xfrm>
            <a:off x="7478975" y="3730499"/>
            <a:ext cx="9519916" cy="5194304"/>
          </a:xfrm>
          <a:custGeom>
            <a:avLst/>
            <a:gdLst/>
            <a:ahLst/>
            <a:cxnLst/>
            <a:rect l="l" t="t" r="r" b="b"/>
            <a:pathLst>
              <a:path w="9519916" h="5194304">
                <a:moveTo>
                  <a:pt x="0" y="0"/>
                </a:moveTo>
                <a:lnTo>
                  <a:pt x="9519916" y="0"/>
                </a:lnTo>
                <a:lnTo>
                  <a:pt x="9519916" y="5194304"/>
                </a:lnTo>
                <a:lnTo>
                  <a:pt x="0" y="5194304"/>
                </a:lnTo>
                <a:lnTo>
                  <a:pt x="0" y="0"/>
                </a:lnTo>
                <a:close/>
              </a:path>
            </a:pathLst>
          </a:custGeom>
          <a:blipFill>
            <a:blip r:embed="rId6"/>
            <a:stretch>
              <a:fillRect/>
            </a:stretch>
          </a:blipFill>
        </p:spPr>
      </p:sp>
      <p:sp>
        <p:nvSpPr>
          <p:cNvPr id="12" name="TextBox 12"/>
          <p:cNvSpPr txBox="1"/>
          <p:nvPr/>
        </p:nvSpPr>
        <p:spPr>
          <a:xfrm>
            <a:off x="1255838" y="1089155"/>
            <a:ext cx="6820965" cy="819150"/>
          </a:xfrm>
          <a:prstGeom prst="rect">
            <a:avLst/>
          </a:prstGeom>
        </p:spPr>
        <p:txBody>
          <a:bodyPr lIns="0" tIns="0" rIns="0" bIns="0" rtlCol="0" anchor="t">
            <a:spAutoFit/>
          </a:bodyPr>
          <a:lstStyle/>
          <a:p>
            <a:pPr algn="l">
              <a:lnSpc>
                <a:spcPts val="6599"/>
              </a:lnSpc>
            </a:pPr>
            <a:r>
              <a:rPr lang="en-US" sz="5499" b="1">
                <a:solidFill>
                  <a:srgbClr val="FFFFFF"/>
                </a:solidFill>
                <a:latin typeface="Darker Grotesque Bold"/>
                <a:ea typeface="Darker Grotesque Bold"/>
                <a:cs typeface="Darker Grotesque Bold"/>
                <a:sym typeface="Darker Grotesque Bold"/>
              </a:rPr>
              <a:t>What is ML-KEM?</a:t>
            </a:r>
          </a:p>
        </p:txBody>
      </p:sp>
      <p:sp>
        <p:nvSpPr>
          <p:cNvPr id="13" name="TextBox 13"/>
          <p:cNvSpPr txBox="1"/>
          <p:nvPr/>
        </p:nvSpPr>
        <p:spPr>
          <a:xfrm>
            <a:off x="7478975" y="2506589"/>
            <a:ext cx="7493290" cy="893064"/>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Operational Phases:</a:t>
            </a:r>
          </a:p>
          <a:p>
            <a:pPr algn="l">
              <a:lnSpc>
                <a:spcPts val="3588"/>
              </a:lnSpc>
            </a:pPr>
            <a:r>
              <a:rPr lang="en-US" sz="2600">
                <a:solidFill>
                  <a:srgbClr val="FFFFFF"/>
                </a:solidFill>
                <a:latin typeface="Arimo"/>
                <a:ea typeface="Arimo"/>
                <a:cs typeface="Arimo"/>
                <a:sym typeface="Arimo"/>
              </a:rPr>
              <a:t>3 operational phases of the ML-KEM Process</a:t>
            </a:r>
          </a:p>
        </p:txBody>
      </p:sp>
      <p:sp>
        <p:nvSpPr>
          <p:cNvPr id="14" name="TextBox 14"/>
          <p:cNvSpPr txBox="1"/>
          <p:nvPr/>
        </p:nvSpPr>
        <p:spPr>
          <a:xfrm>
            <a:off x="1573436" y="2497064"/>
            <a:ext cx="4981496" cy="6986778"/>
          </a:xfrm>
          <a:prstGeom prst="rect">
            <a:avLst/>
          </a:prstGeom>
        </p:spPr>
        <p:txBody>
          <a:bodyPr lIns="0" tIns="0" rIns="0" bIns="0" rtlCol="0" anchor="t">
            <a:spAutoFit/>
          </a:bodyPr>
          <a:lstStyle/>
          <a:p>
            <a:pPr algn="l">
              <a:lnSpc>
                <a:spcPts val="3863"/>
              </a:lnSpc>
            </a:pPr>
            <a:r>
              <a:rPr lang="en-US" sz="2799" b="1">
                <a:solidFill>
                  <a:srgbClr val="FFFFFF"/>
                </a:solidFill>
                <a:latin typeface="Arimo Bold"/>
                <a:ea typeface="Arimo Bold"/>
                <a:cs typeface="Arimo Bold"/>
                <a:sym typeface="Arimo Bold"/>
              </a:rPr>
              <a:t>ML-KEM (Module-Lattice-Based Key-Encapsulation Mechanism)</a:t>
            </a:r>
            <a:r>
              <a:rPr lang="en-US" sz="2799">
                <a:solidFill>
                  <a:srgbClr val="FFFFFF"/>
                </a:solidFill>
                <a:latin typeface="Arimo"/>
                <a:ea typeface="Arimo"/>
                <a:cs typeface="Arimo"/>
                <a:sym typeface="Arimo"/>
              </a:rPr>
              <a:t> is the post-quantum cryptographic standard finalized by NIST as FIPS 203, derived from the CRYSTALS-Kyber algorithm.</a:t>
            </a:r>
          </a:p>
          <a:p>
            <a:pPr algn="l">
              <a:lnSpc>
                <a:spcPts val="3588"/>
              </a:lnSpc>
            </a:pPr>
            <a:r>
              <a:rPr lang="en-US" sz="2600">
                <a:solidFill>
                  <a:srgbClr val="FFFFFF"/>
                </a:solidFill>
                <a:latin typeface="Arimo"/>
                <a:ea typeface="Arimo"/>
                <a:cs typeface="Arimo"/>
                <a:sym typeface="Arimo"/>
              </a:rPr>
              <a:t>Its primary purpose is secure key establishment: allowing two parties to establish a shared secret key over an insecure channel, even against adversaries equipped with large-scale quantum computers.</a:t>
            </a:r>
          </a:p>
          <a:p>
            <a:pPr algn="l">
              <a:lnSpc>
                <a:spcPts val="3588"/>
              </a:lnSpc>
            </a:pPr>
            <a:endParaRPr lang="en-US" sz="2600">
              <a:solidFill>
                <a:srgbClr val="FFFFFF"/>
              </a:solidFill>
              <a:latin typeface="Arimo"/>
              <a:ea typeface="Arimo"/>
              <a:cs typeface="Arimo"/>
              <a:sym typeface="Arim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9204910" y="1577514"/>
            <a:ext cx="5844265"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Why ML-KEM?</a:t>
            </a:r>
          </a:p>
        </p:txBody>
      </p:sp>
      <p:grpSp>
        <p:nvGrpSpPr>
          <p:cNvPr id="5" name="Group 5"/>
          <p:cNvGrpSpPr/>
          <p:nvPr/>
        </p:nvGrpSpPr>
        <p:grpSpPr>
          <a:xfrm>
            <a:off x="1028700" y="1732661"/>
            <a:ext cx="7949073" cy="2205098"/>
            <a:chOff x="0" y="0"/>
            <a:chExt cx="2244801" cy="622715"/>
          </a:xfrm>
        </p:grpSpPr>
        <p:sp>
          <p:nvSpPr>
            <p:cNvPr id="6" name="Freeform 6"/>
            <p:cNvSpPr/>
            <p:nvPr/>
          </p:nvSpPr>
          <p:spPr>
            <a:xfrm>
              <a:off x="0" y="0"/>
              <a:ext cx="2244801" cy="622715"/>
            </a:xfrm>
            <a:custGeom>
              <a:avLst/>
              <a:gdLst/>
              <a:ahLst/>
              <a:cxnLst/>
              <a:rect l="l" t="t" r="r" b="b"/>
              <a:pathLst>
                <a:path w="2244801" h="622715">
                  <a:moveTo>
                    <a:pt x="33114" y="0"/>
                  </a:moveTo>
                  <a:lnTo>
                    <a:pt x="2211687" y="0"/>
                  </a:lnTo>
                  <a:cubicBezTo>
                    <a:pt x="2229975" y="0"/>
                    <a:pt x="2244801" y="14826"/>
                    <a:pt x="2244801" y="33114"/>
                  </a:cubicBezTo>
                  <a:lnTo>
                    <a:pt x="2244801" y="589601"/>
                  </a:lnTo>
                  <a:cubicBezTo>
                    <a:pt x="2244801" y="607889"/>
                    <a:pt x="2229975" y="622715"/>
                    <a:pt x="2211687" y="622715"/>
                  </a:cubicBezTo>
                  <a:lnTo>
                    <a:pt x="33114" y="622715"/>
                  </a:lnTo>
                  <a:cubicBezTo>
                    <a:pt x="14826" y="622715"/>
                    <a:pt x="0" y="607889"/>
                    <a:pt x="0" y="589601"/>
                  </a:cubicBezTo>
                  <a:lnTo>
                    <a:pt x="0" y="33114"/>
                  </a:lnTo>
                  <a:cubicBezTo>
                    <a:pt x="0" y="14826"/>
                    <a:pt x="14826" y="0"/>
                    <a:pt x="33114" y="0"/>
                  </a:cubicBezTo>
                  <a:close/>
                </a:path>
              </a:pathLst>
            </a:custGeom>
            <a:solidFill>
              <a:srgbClr val="CFD9E0">
                <a:alpha val="32941"/>
              </a:srgbClr>
            </a:solidFill>
          </p:spPr>
        </p:sp>
        <p:sp>
          <p:nvSpPr>
            <p:cNvPr id="7" name="TextBox 7"/>
            <p:cNvSpPr txBox="1"/>
            <p:nvPr/>
          </p:nvSpPr>
          <p:spPr>
            <a:xfrm>
              <a:off x="0" y="-38100"/>
              <a:ext cx="2244801" cy="660815"/>
            </a:xfrm>
            <a:prstGeom prst="rect">
              <a:avLst/>
            </a:prstGeom>
          </p:spPr>
          <p:txBody>
            <a:bodyPr lIns="50800" tIns="50800" rIns="50800" bIns="50800" rtlCol="0" anchor="ctr"/>
            <a:lstStyle/>
            <a:p>
              <a:pPr algn="ctr">
                <a:lnSpc>
                  <a:spcPts val="3359"/>
                </a:lnSpc>
                <a:spcBef>
                  <a:spcPct val="0"/>
                </a:spcBef>
              </a:pPr>
              <a:endParaRPr/>
            </a:p>
          </p:txBody>
        </p:sp>
      </p:grpSp>
      <p:sp>
        <p:nvSpPr>
          <p:cNvPr id="8" name="TextBox 8"/>
          <p:cNvSpPr txBox="1"/>
          <p:nvPr/>
        </p:nvSpPr>
        <p:spPr>
          <a:xfrm>
            <a:off x="1323500" y="1912428"/>
            <a:ext cx="7333086" cy="1788414"/>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Directly addresses key establishment</a:t>
            </a:r>
          </a:p>
          <a:p>
            <a:pPr algn="l">
              <a:lnSpc>
                <a:spcPts val="3588"/>
              </a:lnSpc>
            </a:pPr>
            <a:r>
              <a:rPr lang="en-US" sz="2600">
                <a:solidFill>
                  <a:srgbClr val="FFFFFF"/>
                </a:solidFill>
                <a:latin typeface="Arimo"/>
                <a:ea typeface="Arimo"/>
                <a:cs typeface="Arimo"/>
                <a:sym typeface="Arimo"/>
              </a:rPr>
              <a:t>ML-KEM is a KEM, rather than a digital-signature algorithm, making it directly relevant to secure key establishment.</a:t>
            </a:r>
          </a:p>
        </p:txBody>
      </p:sp>
      <p:sp>
        <p:nvSpPr>
          <p:cNvPr id="9" name="Freeform 9"/>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10" name="Group 10"/>
          <p:cNvGrpSpPr/>
          <p:nvPr/>
        </p:nvGrpSpPr>
        <p:grpSpPr>
          <a:xfrm>
            <a:off x="1028700" y="4182015"/>
            <a:ext cx="7949073" cy="4786762"/>
            <a:chOff x="0" y="0"/>
            <a:chExt cx="2244801" cy="1351771"/>
          </a:xfrm>
        </p:grpSpPr>
        <p:sp>
          <p:nvSpPr>
            <p:cNvPr id="11" name="Freeform 11"/>
            <p:cNvSpPr/>
            <p:nvPr/>
          </p:nvSpPr>
          <p:spPr>
            <a:xfrm>
              <a:off x="0" y="0"/>
              <a:ext cx="2244801" cy="1351771"/>
            </a:xfrm>
            <a:custGeom>
              <a:avLst/>
              <a:gdLst/>
              <a:ahLst/>
              <a:cxnLst/>
              <a:rect l="l" t="t" r="r" b="b"/>
              <a:pathLst>
                <a:path w="2244801" h="1351771">
                  <a:moveTo>
                    <a:pt x="33114" y="0"/>
                  </a:moveTo>
                  <a:lnTo>
                    <a:pt x="2211687" y="0"/>
                  </a:lnTo>
                  <a:cubicBezTo>
                    <a:pt x="2229975" y="0"/>
                    <a:pt x="2244801" y="14826"/>
                    <a:pt x="2244801" y="33114"/>
                  </a:cubicBezTo>
                  <a:lnTo>
                    <a:pt x="2244801" y="1318657"/>
                  </a:lnTo>
                  <a:cubicBezTo>
                    <a:pt x="2244801" y="1336945"/>
                    <a:pt x="2229975" y="1351771"/>
                    <a:pt x="2211687" y="1351771"/>
                  </a:cubicBezTo>
                  <a:lnTo>
                    <a:pt x="33114" y="1351771"/>
                  </a:lnTo>
                  <a:cubicBezTo>
                    <a:pt x="14826" y="1351771"/>
                    <a:pt x="0" y="1336945"/>
                    <a:pt x="0" y="1318657"/>
                  </a:cubicBezTo>
                  <a:lnTo>
                    <a:pt x="0" y="33114"/>
                  </a:lnTo>
                  <a:cubicBezTo>
                    <a:pt x="0" y="14826"/>
                    <a:pt x="14826" y="0"/>
                    <a:pt x="33114" y="0"/>
                  </a:cubicBezTo>
                  <a:close/>
                </a:path>
              </a:pathLst>
            </a:custGeom>
            <a:solidFill>
              <a:srgbClr val="CFD9E0">
                <a:alpha val="32941"/>
              </a:srgbClr>
            </a:solidFill>
          </p:spPr>
        </p:sp>
        <p:sp>
          <p:nvSpPr>
            <p:cNvPr id="12" name="TextBox 12"/>
            <p:cNvSpPr txBox="1"/>
            <p:nvPr/>
          </p:nvSpPr>
          <p:spPr>
            <a:xfrm>
              <a:off x="0" y="-38100"/>
              <a:ext cx="2244801" cy="1389871"/>
            </a:xfrm>
            <a:prstGeom prst="rect">
              <a:avLst/>
            </a:prstGeom>
          </p:spPr>
          <p:txBody>
            <a:bodyPr lIns="50800" tIns="50800" rIns="50800" bIns="50800" rtlCol="0" anchor="ctr"/>
            <a:lstStyle/>
            <a:p>
              <a:pPr algn="ctr">
                <a:lnSpc>
                  <a:spcPts val="3359"/>
                </a:lnSpc>
                <a:spcBef>
                  <a:spcPct val="0"/>
                </a:spcBef>
              </a:pPr>
              <a:endParaRPr/>
            </a:p>
          </p:txBody>
        </p:sp>
      </p:grpSp>
      <p:sp>
        <p:nvSpPr>
          <p:cNvPr id="13" name="TextBox 13"/>
          <p:cNvSpPr txBox="1"/>
          <p:nvPr/>
        </p:nvSpPr>
        <p:spPr>
          <a:xfrm>
            <a:off x="1323500" y="4323676"/>
            <a:ext cx="7285972" cy="4474464"/>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Strong hardware-acceleration opportunity</a:t>
            </a:r>
          </a:p>
          <a:p>
            <a:pPr algn="l">
              <a:lnSpc>
                <a:spcPts val="3588"/>
              </a:lnSpc>
            </a:pPr>
            <a:r>
              <a:rPr lang="en-US" sz="2600">
                <a:solidFill>
                  <a:srgbClr val="FFFFFF"/>
                </a:solidFill>
                <a:latin typeface="Arimo"/>
                <a:ea typeface="Arimo"/>
                <a:cs typeface="Arimo"/>
                <a:sym typeface="Arimo"/>
              </a:rPr>
              <a:t>ML-KEM contains repeated:</a:t>
            </a:r>
          </a:p>
          <a:p>
            <a:pPr marL="561341" lvl="1" indent="-280670" algn="l">
              <a:lnSpc>
                <a:spcPts val="3588"/>
              </a:lnSpc>
              <a:buFont typeface="Arial"/>
              <a:buChar char="•"/>
            </a:pPr>
            <a:r>
              <a:rPr lang="en-US" sz="2600">
                <a:solidFill>
                  <a:srgbClr val="FFFFFF"/>
                </a:solidFill>
                <a:latin typeface="Arimo"/>
                <a:ea typeface="Arimo"/>
                <a:cs typeface="Arimo"/>
                <a:sym typeface="Arimo"/>
              </a:rPr>
              <a:t>NTT / INTT</a:t>
            </a:r>
          </a:p>
          <a:p>
            <a:pPr marL="561341" lvl="1" indent="-280670" algn="l">
              <a:lnSpc>
                <a:spcPts val="3588"/>
              </a:lnSpc>
              <a:buFont typeface="Arial"/>
              <a:buChar char="•"/>
            </a:pPr>
            <a:r>
              <a:rPr lang="en-US" sz="2600">
                <a:solidFill>
                  <a:srgbClr val="FFFFFF"/>
                </a:solidFill>
                <a:latin typeface="Arimo"/>
                <a:ea typeface="Arimo"/>
                <a:cs typeface="Arimo"/>
                <a:sym typeface="Arimo"/>
              </a:rPr>
              <a:t>Polynomial multiplication</a:t>
            </a:r>
          </a:p>
          <a:p>
            <a:pPr marL="561341" lvl="1" indent="-280670" algn="l">
              <a:lnSpc>
                <a:spcPts val="3588"/>
              </a:lnSpc>
              <a:buFont typeface="Arial"/>
              <a:buChar char="•"/>
            </a:pPr>
            <a:r>
              <a:rPr lang="en-US" sz="2600">
                <a:solidFill>
                  <a:srgbClr val="FFFFFF"/>
                </a:solidFill>
                <a:latin typeface="Arimo"/>
                <a:ea typeface="Arimo"/>
                <a:cs typeface="Arimo"/>
                <a:sym typeface="Arimo"/>
              </a:rPr>
              <a:t>Modular multiplication/reduction</a:t>
            </a:r>
          </a:p>
          <a:p>
            <a:pPr marL="561341" lvl="1" indent="-280670" algn="l">
              <a:lnSpc>
                <a:spcPts val="3588"/>
              </a:lnSpc>
              <a:buFont typeface="Arial"/>
              <a:buChar char="•"/>
            </a:pPr>
            <a:r>
              <a:rPr lang="en-US" sz="2600">
                <a:solidFill>
                  <a:srgbClr val="FFFFFF"/>
                </a:solidFill>
                <a:latin typeface="Arimo"/>
                <a:ea typeface="Arimo"/>
                <a:cs typeface="Arimo"/>
                <a:sym typeface="Arimo"/>
              </a:rPr>
              <a:t>Polynomial arithmetic</a:t>
            </a:r>
          </a:p>
          <a:p>
            <a:pPr marL="561341" lvl="1" indent="-280670" algn="l">
              <a:lnSpc>
                <a:spcPts val="3588"/>
              </a:lnSpc>
              <a:buFont typeface="Arial"/>
              <a:buChar char="•"/>
            </a:pPr>
            <a:r>
              <a:rPr lang="en-US" sz="2600">
                <a:solidFill>
                  <a:srgbClr val="FFFFFF"/>
                </a:solidFill>
                <a:latin typeface="Arimo"/>
                <a:ea typeface="Arimo"/>
                <a:cs typeface="Arimo"/>
                <a:sym typeface="Arimo"/>
              </a:rPr>
              <a:t>Sampling</a:t>
            </a:r>
          </a:p>
          <a:p>
            <a:pPr marL="561341" lvl="1" indent="-280670" algn="l">
              <a:lnSpc>
                <a:spcPts val="3588"/>
              </a:lnSpc>
              <a:buFont typeface="Arial"/>
              <a:buChar char="•"/>
            </a:pPr>
            <a:r>
              <a:rPr lang="en-US" sz="2600">
                <a:solidFill>
                  <a:srgbClr val="FFFFFF"/>
                </a:solidFill>
                <a:latin typeface="Arimo"/>
                <a:ea typeface="Arimo"/>
                <a:cs typeface="Arimo"/>
                <a:sym typeface="Arimo"/>
              </a:rPr>
              <a:t>SHAKE/Keccak</a:t>
            </a:r>
          </a:p>
          <a:p>
            <a:pPr algn="l">
              <a:lnSpc>
                <a:spcPts val="3588"/>
              </a:lnSpc>
            </a:pPr>
            <a:r>
              <a:rPr lang="en-US" sz="2600">
                <a:solidFill>
                  <a:srgbClr val="FFFFFF"/>
                </a:solidFill>
                <a:latin typeface="Arimo"/>
                <a:ea typeface="Arimo"/>
                <a:cs typeface="Arimo"/>
                <a:sym typeface="Arimo"/>
              </a:rPr>
              <a:t>These provide clear opportunities for dedicated datapaths and pipelining.</a:t>
            </a:r>
          </a:p>
        </p:txBody>
      </p:sp>
      <p:grpSp>
        <p:nvGrpSpPr>
          <p:cNvPr id="14" name="Group 14"/>
          <p:cNvGrpSpPr/>
          <p:nvPr/>
        </p:nvGrpSpPr>
        <p:grpSpPr>
          <a:xfrm>
            <a:off x="9204910" y="2710989"/>
            <a:ext cx="8054390" cy="2575790"/>
            <a:chOff x="0" y="0"/>
            <a:chExt cx="2274542" cy="727397"/>
          </a:xfrm>
        </p:grpSpPr>
        <p:sp>
          <p:nvSpPr>
            <p:cNvPr id="15" name="Freeform 15"/>
            <p:cNvSpPr/>
            <p:nvPr/>
          </p:nvSpPr>
          <p:spPr>
            <a:xfrm>
              <a:off x="0" y="0"/>
              <a:ext cx="2274542" cy="727397"/>
            </a:xfrm>
            <a:custGeom>
              <a:avLst/>
              <a:gdLst/>
              <a:ahLst/>
              <a:cxnLst/>
              <a:rect l="l" t="t" r="r" b="b"/>
              <a:pathLst>
                <a:path w="2274542" h="727397">
                  <a:moveTo>
                    <a:pt x="32681" y="0"/>
                  </a:moveTo>
                  <a:lnTo>
                    <a:pt x="2241861" y="0"/>
                  </a:lnTo>
                  <a:cubicBezTo>
                    <a:pt x="2250528" y="0"/>
                    <a:pt x="2258841" y="3443"/>
                    <a:pt x="2264970" y="9572"/>
                  </a:cubicBezTo>
                  <a:cubicBezTo>
                    <a:pt x="2271099" y="15701"/>
                    <a:pt x="2274542" y="24013"/>
                    <a:pt x="2274542" y="32681"/>
                  </a:cubicBezTo>
                  <a:lnTo>
                    <a:pt x="2274542" y="694716"/>
                  </a:lnTo>
                  <a:cubicBezTo>
                    <a:pt x="2274542" y="703384"/>
                    <a:pt x="2271099" y="711696"/>
                    <a:pt x="2264970" y="717825"/>
                  </a:cubicBezTo>
                  <a:cubicBezTo>
                    <a:pt x="2258841" y="723954"/>
                    <a:pt x="2250528" y="727397"/>
                    <a:pt x="2241861" y="727397"/>
                  </a:cubicBezTo>
                  <a:lnTo>
                    <a:pt x="32681" y="727397"/>
                  </a:lnTo>
                  <a:cubicBezTo>
                    <a:pt x="24013" y="727397"/>
                    <a:pt x="15701" y="723954"/>
                    <a:pt x="9572" y="717825"/>
                  </a:cubicBezTo>
                  <a:cubicBezTo>
                    <a:pt x="3443" y="711696"/>
                    <a:pt x="0" y="703384"/>
                    <a:pt x="0" y="694716"/>
                  </a:cubicBezTo>
                  <a:lnTo>
                    <a:pt x="0" y="32681"/>
                  </a:lnTo>
                  <a:cubicBezTo>
                    <a:pt x="0" y="24013"/>
                    <a:pt x="3443" y="15701"/>
                    <a:pt x="9572" y="9572"/>
                  </a:cubicBezTo>
                  <a:cubicBezTo>
                    <a:pt x="15701" y="3443"/>
                    <a:pt x="24013" y="0"/>
                    <a:pt x="32681" y="0"/>
                  </a:cubicBezTo>
                  <a:close/>
                </a:path>
              </a:pathLst>
            </a:custGeom>
            <a:solidFill>
              <a:srgbClr val="CFD9E0">
                <a:alpha val="32941"/>
              </a:srgbClr>
            </a:solidFill>
          </p:spPr>
        </p:sp>
        <p:sp>
          <p:nvSpPr>
            <p:cNvPr id="16" name="TextBox 16"/>
            <p:cNvSpPr txBox="1"/>
            <p:nvPr/>
          </p:nvSpPr>
          <p:spPr>
            <a:xfrm>
              <a:off x="0" y="-38100"/>
              <a:ext cx="2274542" cy="765497"/>
            </a:xfrm>
            <a:prstGeom prst="rect">
              <a:avLst/>
            </a:prstGeom>
          </p:spPr>
          <p:txBody>
            <a:bodyPr lIns="50800" tIns="50800" rIns="50800" bIns="50800" rtlCol="0" anchor="ctr"/>
            <a:lstStyle/>
            <a:p>
              <a:pPr algn="ctr">
                <a:lnSpc>
                  <a:spcPts val="3359"/>
                </a:lnSpc>
                <a:spcBef>
                  <a:spcPct val="0"/>
                </a:spcBef>
              </a:pPr>
              <a:endParaRPr/>
            </a:p>
          </p:txBody>
        </p:sp>
      </p:grpSp>
      <p:sp>
        <p:nvSpPr>
          <p:cNvPr id="17" name="TextBox 17"/>
          <p:cNvSpPr txBox="1"/>
          <p:nvPr/>
        </p:nvSpPr>
        <p:spPr>
          <a:xfrm>
            <a:off x="9499711" y="2779770"/>
            <a:ext cx="7493290" cy="2236089"/>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Appropriate project scope</a:t>
            </a:r>
          </a:p>
          <a:p>
            <a:pPr algn="l">
              <a:lnSpc>
                <a:spcPts val="3588"/>
              </a:lnSpc>
            </a:pPr>
            <a:r>
              <a:rPr lang="en-US" sz="2600">
                <a:solidFill>
                  <a:srgbClr val="FFFFFF"/>
                </a:solidFill>
                <a:latin typeface="Arimo"/>
                <a:ea typeface="Arimo"/>
                <a:cs typeface="Arimo"/>
                <a:sym typeface="Arimo"/>
              </a:rPr>
              <a:t>Implementing one complete standardized KEM through RTL → synthesis → physical design → GDSII provides a realistic end-to-end VLSI objective within the project duration.</a:t>
            </a:r>
          </a:p>
        </p:txBody>
      </p:sp>
      <p:grpSp>
        <p:nvGrpSpPr>
          <p:cNvPr id="18" name="Group 18"/>
          <p:cNvGrpSpPr/>
          <p:nvPr/>
        </p:nvGrpSpPr>
        <p:grpSpPr>
          <a:xfrm>
            <a:off x="9204910" y="5473469"/>
            <a:ext cx="8054390" cy="3495308"/>
            <a:chOff x="0" y="0"/>
            <a:chExt cx="2274542" cy="987067"/>
          </a:xfrm>
        </p:grpSpPr>
        <p:sp>
          <p:nvSpPr>
            <p:cNvPr id="19" name="Freeform 19"/>
            <p:cNvSpPr/>
            <p:nvPr/>
          </p:nvSpPr>
          <p:spPr>
            <a:xfrm>
              <a:off x="0" y="0"/>
              <a:ext cx="2274542" cy="987067"/>
            </a:xfrm>
            <a:custGeom>
              <a:avLst/>
              <a:gdLst/>
              <a:ahLst/>
              <a:cxnLst/>
              <a:rect l="l" t="t" r="r" b="b"/>
              <a:pathLst>
                <a:path w="2274542" h="987067">
                  <a:moveTo>
                    <a:pt x="32681" y="0"/>
                  </a:moveTo>
                  <a:lnTo>
                    <a:pt x="2241861" y="0"/>
                  </a:lnTo>
                  <a:cubicBezTo>
                    <a:pt x="2250528" y="0"/>
                    <a:pt x="2258841" y="3443"/>
                    <a:pt x="2264970" y="9572"/>
                  </a:cubicBezTo>
                  <a:cubicBezTo>
                    <a:pt x="2271099" y="15701"/>
                    <a:pt x="2274542" y="24013"/>
                    <a:pt x="2274542" y="32681"/>
                  </a:cubicBezTo>
                  <a:lnTo>
                    <a:pt x="2274542" y="954386"/>
                  </a:lnTo>
                  <a:cubicBezTo>
                    <a:pt x="2274542" y="963054"/>
                    <a:pt x="2271099" y="971366"/>
                    <a:pt x="2264970" y="977495"/>
                  </a:cubicBezTo>
                  <a:cubicBezTo>
                    <a:pt x="2258841" y="983624"/>
                    <a:pt x="2250528" y="987067"/>
                    <a:pt x="2241861" y="987067"/>
                  </a:cubicBezTo>
                  <a:lnTo>
                    <a:pt x="32681" y="987067"/>
                  </a:lnTo>
                  <a:cubicBezTo>
                    <a:pt x="24013" y="987067"/>
                    <a:pt x="15701" y="983624"/>
                    <a:pt x="9572" y="977495"/>
                  </a:cubicBezTo>
                  <a:cubicBezTo>
                    <a:pt x="3443" y="971366"/>
                    <a:pt x="0" y="963054"/>
                    <a:pt x="0" y="954386"/>
                  </a:cubicBezTo>
                  <a:lnTo>
                    <a:pt x="0" y="32681"/>
                  </a:lnTo>
                  <a:cubicBezTo>
                    <a:pt x="0" y="24013"/>
                    <a:pt x="3443" y="15701"/>
                    <a:pt x="9572" y="9572"/>
                  </a:cubicBezTo>
                  <a:cubicBezTo>
                    <a:pt x="15701" y="3443"/>
                    <a:pt x="24013" y="0"/>
                    <a:pt x="32681" y="0"/>
                  </a:cubicBezTo>
                  <a:close/>
                </a:path>
              </a:pathLst>
            </a:custGeom>
            <a:solidFill>
              <a:srgbClr val="40C5C5">
                <a:alpha val="64706"/>
              </a:srgbClr>
            </a:solidFill>
          </p:spPr>
        </p:sp>
        <p:sp>
          <p:nvSpPr>
            <p:cNvPr id="20" name="TextBox 20"/>
            <p:cNvSpPr txBox="1"/>
            <p:nvPr/>
          </p:nvSpPr>
          <p:spPr>
            <a:xfrm>
              <a:off x="0" y="-38100"/>
              <a:ext cx="2274542" cy="1025167"/>
            </a:xfrm>
            <a:prstGeom prst="rect">
              <a:avLst/>
            </a:prstGeom>
          </p:spPr>
          <p:txBody>
            <a:bodyPr lIns="50800" tIns="50800" rIns="50800" bIns="50800" rtlCol="0" anchor="ctr"/>
            <a:lstStyle/>
            <a:p>
              <a:pPr algn="ctr">
                <a:lnSpc>
                  <a:spcPts val="3359"/>
                </a:lnSpc>
                <a:spcBef>
                  <a:spcPct val="0"/>
                </a:spcBef>
              </a:pPr>
              <a:endParaRPr/>
            </a:p>
          </p:txBody>
        </p:sp>
      </p:grpSp>
      <p:sp>
        <p:nvSpPr>
          <p:cNvPr id="21" name="TextBox 21"/>
          <p:cNvSpPr txBox="1"/>
          <p:nvPr/>
        </p:nvSpPr>
        <p:spPr>
          <a:xfrm>
            <a:off x="9499711" y="5617303"/>
            <a:ext cx="7493290" cy="3131439"/>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Bottom line</a:t>
            </a:r>
          </a:p>
          <a:p>
            <a:pPr algn="l">
              <a:lnSpc>
                <a:spcPts val="3588"/>
              </a:lnSpc>
            </a:pPr>
            <a:r>
              <a:rPr lang="en-US" sz="2600">
                <a:solidFill>
                  <a:srgbClr val="FFFFFF"/>
                </a:solidFill>
                <a:latin typeface="Arimo"/>
                <a:ea typeface="Arimo"/>
                <a:cs typeface="Arimo"/>
                <a:sym typeface="Arimo"/>
              </a:rPr>
              <a:t>ML-KEM was selected not because the other PQC algorithms are inferior, but because it combines a standardized KEM use-case, substantial hardware acceleration opportunities, and a manageable architecture for an end-to-end ASIC implementation study.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686707" y="1895475"/>
          <a:ext cx="16914587" cy="7362825"/>
        </p:xfrm>
        <a:graphic>
          <a:graphicData uri="http://schemas.openxmlformats.org/drawingml/2006/table">
            <a:tbl>
              <a:tblPr/>
              <a:tblGrid>
                <a:gridCol w="1859315">
                  <a:extLst>
                    <a:ext uri="{9D8B030D-6E8A-4147-A177-3AD203B41FA5}">
                      <a16:colId xmlns:a16="http://schemas.microsoft.com/office/drawing/2014/main" val="20000"/>
                    </a:ext>
                  </a:extLst>
                </a:gridCol>
                <a:gridCol w="3934911">
                  <a:extLst>
                    <a:ext uri="{9D8B030D-6E8A-4147-A177-3AD203B41FA5}">
                      <a16:colId xmlns:a16="http://schemas.microsoft.com/office/drawing/2014/main" val="20001"/>
                    </a:ext>
                  </a:extLst>
                </a:gridCol>
                <a:gridCol w="3499699">
                  <a:extLst>
                    <a:ext uri="{9D8B030D-6E8A-4147-A177-3AD203B41FA5}">
                      <a16:colId xmlns:a16="http://schemas.microsoft.com/office/drawing/2014/main" val="20002"/>
                    </a:ext>
                  </a:extLst>
                </a:gridCol>
                <a:gridCol w="4061848">
                  <a:extLst>
                    <a:ext uri="{9D8B030D-6E8A-4147-A177-3AD203B41FA5}">
                      <a16:colId xmlns:a16="http://schemas.microsoft.com/office/drawing/2014/main" val="20003"/>
                    </a:ext>
                  </a:extLst>
                </a:gridCol>
                <a:gridCol w="3558814">
                  <a:extLst>
                    <a:ext uri="{9D8B030D-6E8A-4147-A177-3AD203B41FA5}">
                      <a16:colId xmlns:a16="http://schemas.microsoft.com/office/drawing/2014/main" val="20004"/>
                    </a:ext>
                  </a:extLst>
                </a:gridCol>
              </a:tblGrid>
              <a:tr h="877435">
                <a:tc>
                  <a:txBody>
                    <a:bodyPr/>
                    <a:lstStyle/>
                    <a:p>
                      <a:pPr algn="ctr">
                        <a:lnSpc>
                          <a:spcPts val="3359"/>
                        </a:lnSpc>
                        <a:defRPr/>
                      </a:pPr>
                      <a:r>
                        <a:rPr lang="en-US" sz="2400" b="1">
                          <a:solidFill>
                            <a:srgbClr val="FFFFFF"/>
                          </a:solidFill>
                          <a:latin typeface="Arimo Bold"/>
                          <a:ea typeface="Arimo Bold"/>
                          <a:cs typeface="Arimo Bold"/>
                          <a:sym typeface="Arimo Bold"/>
                        </a:rPr>
                        <a:t>Algorithm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3359"/>
                        </a:lnSpc>
                        <a:defRPr/>
                      </a:pPr>
                      <a:r>
                        <a:rPr lang="en-US" sz="2400" b="1">
                          <a:solidFill>
                            <a:srgbClr val="FFFFFF"/>
                          </a:solidFill>
                          <a:latin typeface="Arimo Bold"/>
                          <a:ea typeface="Arimo Bold"/>
                          <a:cs typeface="Arimo Bold"/>
                          <a:sym typeface="Arimo Bold"/>
                        </a:rPr>
                        <a:t>Standardized role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3359"/>
                        </a:lnSpc>
                        <a:defRPr/>
                      </a:pPr>
                      <a:r>
                        <a:rPr lang="en-US" sz="2400" b="1">
                          <a:solidFill>
                            <a:srgbClr val="FFFFFF"/>
                          </a:solidFill>
                          <a:latin typeface="Arimo Bold"/>
                          <a:ea typeface="Arimo Bold"/>
                          <a:cs typeface="Arimo Bold"/>
                          <a:sym typeface="Arimo Bold"/>
                        </a:rPr>
                        <a:t>Mathematical basis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3359"/>
                        </a:lnSpc>
                        <a:defRPr/>
                      </a:pPr>
                      <a:r>
                        <a:rPr lang="en-US" sz="2400" b="1">
                          <a:solidFill>
                            <a:srgbClr val="FFFFFF"/>
                          </a:solidFill>
                          <a:latin typeface="Arimo Bold"/>
                          <a:ea typeface="Arimo Bold"/>
                          <a:cs typeface="Arimo Bold"/>
                          <a:sym typeface="Arimo Bold"/>
                        </a:rPr>
                        <a:t>Hardware characteristics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3359"/>
                        </a:lnSpc>
                        <a:defRPr/>
                      </a:pPr>
                      <a:r>
                        <a:rPr lang="en-US" sz="2400" b="1">
                          <a:solidFill>
                            <a:srgbClr val="FFFFFF"/>
                          </a:solidFill>
                          <a:latin typeface="Arimo Bold"/>
                          <a:ea typeface="Arimo Bold"/>
                          <a:cs typeface="Arimo Bold"/>
                          <a:sym typeface="Arimo Bold"/>
                        </a:rPr>
                        <a:t>Relevance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extLst>
                  <a:ext uri="{0D108BD9-81ED-4DB2-BD59-A6C34878D82A}">
                    <a16:rowId xmlns:a16="http://schemas.microsoft.com/office/drawing/2014/main" val="10000"/>
                  </a:ext>
                </a:extLst>
              </a:tr>
              <a:tr h="1297078">
                <a:tc>
                  <a:txBody>
                    <a:bodyPr/>
                    <a:lstStyle/>
                    <a:p>
                      <a:pPr algn="ctr">
                        <a:lnSpc>
                          <a:spcPts val="3359"/>
                        </a:lnSpc>
                        <a:defRPr/>
                      </a:pPr>
                      <a:r>
                        <a:rPr lang="en-US" sz="2400">
                          <a:solidFill>
                            <a:srgbClr val="FFFFFF"/>
                          </a:solidFill>
                          <a:latin typeface="Arimo"/>
                          <a:ea typeface="Arimo"/>
                          <a:cs typeface="Arimo"/>
                          <a:sym typeface="Arimo"/>
                        </a:rPr>
                        <a:t>ML-KEM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KEM — FIPS 203</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Module-LWE / lattice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NTT, modular arithmetic, polynomial operations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Selected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297078">
                <a:tc>
                  <a:txBody>
                    <a:bodyPr/>
                    <a:lstStyle/>
                    <a:p>
                      <a:pPr algn="ctr">
                        <a:lnSpc>
                          <a:spcPts val="3359"/>
                        </a:lnSpc>
                        <a:defRPr/>
                      </a:pPr>
                      <a:r>
                        <a:rPr lang="en-US" sz="2400">
                          <a:solidFill>
                            <a:srgbClr val="FFFFFF"/>
                          </a:solidFill>
                          <a:latin typeface="Arimo"/>
                          <a:ea typeface="Arimo"/>
                          <a:cs typeface="Arimo"/>
                          <a:sym typeface="Arimo"/>
                        </a:rPr>
                        <a:t>ML-DSA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Digital signature — FIPS 204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Module-LWE / lattice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NTT + polynomial arithmetic + hashing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High complexity; signature-focused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297078">
                <a:tc>
                  <a:txBody>
                    <a:bodyPr/>
                    <a:lstStyle/>
                    <a:p>
                      <a:pPr algn="ctr">
                        <a:lnSpc>
                          <a:spcPts val="3359"/>
                        </a:lnSpc>
                        <a:defRPr/>
                      </a:pPr>
                      <a:r>
                        <a:rPr lang="en-US" sz="2400">
                          <a:solidFill>
                            <a:srgbClr val="FFFFFF"/>
                          </a:solidFill>
                          <a:latin typeface="Arimo"/>
                          <a:ea typeface="Arimo"/>
                          <a:cs typeface="Arimo"/>
                          <a:sym typeface="Arimo"/>
                        </a:rPr>
                        <a:t>SLH-DSA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Digital signature — FIPS 205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Hash-based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Dominated by hash/tree operations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Different hardware architecture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297078">
                <a:tc>
                  <a:txBody>
                    <a:bodyPr/>
                    <a:lstStyle/>
                    <a:p>
                      <a:pPr algn="ctr">
                        <a:lnSpc>
                          <a:spcPts val="3359"/>
                        </a:lnSpc>
                        <a:defRPr/>
                      </a:pPr>
                      <a:r>
                        <a:rPr lang="en-US" sz="2400">
                          <a:solidFill>
                            <a:srgbClr val="FFFFFF"/>
                          </a:solidFill>
                          <a:latin typeface="Arimo"/>
                          <a:ea typeface="Arimo"/>
                          <a:cs typeface="Arimo"/>
                          <a:sym typeface="Arimo"/>
                        </a:rPr>
                        <a:t>FN-DSA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Digital signature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NTRU lattice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FFT/Falcon-specific arithmetic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Different datapath requirements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297078">
                <a:tc>
                  <a:txBody>
                    <a:bodyPr/>
                    <a:lstStyle/>
                    <a:p>
                      <a:pPr algn="ctr">
                        <a:lnSpc>
                          <a:spcPts val="3359"/>
                        </a:lnSpc>
                        <a:defRPr/>
                      </a:pPr>
                      <a:r>
                        <a:rPr lang="en-US" sz="2400">
                          <a:solidFill>
                            <a:srgbClr val="FFFFFF"/>
                          </a:solidFill>
                          <a:latin typeface="Arimo"/>
                          <a:ea typeface="Arimo"/>
                          <a:cs typeface="Arimo"/>
                          <a:sym typeface="Arimo"/>
                        </a:rPr>
                        <a:t>HQC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KEM — future FIPS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Error-correcting codes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Code-based arithmetic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3359"/>
                        </a:lnSpc>
                        <a:defRPr/>
                      </a:pPr>
                      <a:r>
                        <a:rPr lang="en-US" sz="2400">
                          <a:solidFill>
                            <a:srgbClr val="FFFFFF"/>
                          </a:solidFill>
                          <a:latin typeface="Arimo"/>
                          <a:ea typeface="Arimo"/>
                          <a:cs typeface="Arimo"/>
                          <a:sym typeface="Arimo"/>
                        </a:rPr>
                        <a:t>Backup KEM; different architecture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3" name="TextBox 3"/>
          <p:cNvSpPr txBox="1"/>
          <p:nvPr/>
        </p:nvSpPr>
        <p:spPr>
          <a:xfrm>
            <a:off x="686707" y="509587"/>
            <a:ext cx="15349021"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Qualitative Analysis of Topic Selection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73200" y="654037"/>
            <a:ext cx="16899304" cy="5110431"/>
            <a:chOff x="0" y="0"/>
            <a:chExt cx="4772326" cy="1443174"/>
          </a:xfrm>
        </p:grpSpPr>
        <p:sp>
          <p:nvSpPr>
            <p:cNvPr id="5" name="Freeform 5"/>
            <p:cNvSpPr/>
            <p:nvPr/>
          </p:nvSpPr>
          <p:spPr>
            <a:xfrm>
              <a:off x="0" y="0"/>
              <a:ext cx="4772326" cy="1443174"/>
            </a:xfrm>
            <a:custGeom>
              <a:avLst/>
              <a:gdLst/>
              <a:ahLst/>
              <a:cxnLst/>
              <a:rect l="l" t="t" r="r" b="b"/>
              <a:pathLst>
                <a:path w="4772326" h="1443174">
                  <a:moveTo>
                    <a:pt x="15576" y="0"/>
                  </a:moveTo>
                  <a:lnTo>
                    <a:pt x="4756750" y="0"/>
                  </a:lnTo>
                  <a:cubicBezTo>
                    <a:pt x="4760881" y="0"/>
                    <a:pt x="4764843" y="1641"/>
                    <a:pt x="4767764" y="4562"/>
                  </a:cubicBezTo>
                  <a:cubicBezTo>
                    <a:pt x="4770685" y="7483"/>
                    <a:pt x="4772326" y="11445"/>
                    <a:pt x="4772326" y="15576"/>
                  </a:cubicBezTo>
                  <a:lnTo>
                    <a:pt x="4772326" y="1427598"/>
                  </a:lnTo>
                  <a:cubicBezTo>
                    <a:pt x="4772326" y="1436201"/>
                    <a:pt x="4765353" y="1443174"/>
                    <a:pt x="4756750" y="1443174"/>
                  </a:cubicBezTo>
                  <a:lnTo>
                    <a:pt x="15576" y="1443174"/>
                  </a:lnTo>
                  <a:cubicBezTo>
                    <a:pt x="11445" y="1443174"/>
                    <a:pt x="7483" y="1441533"/>
                    <a:pt x="4562" y="1438612"/>
                  </a:cubicBezTo>
                  <a:cubicBezTo>
                    <a:pt x="1641" y="1435691"/>
                    <a:pt x="0" y="1431729"/>
                    <a:pt x="0" y="1427598"/>
                  </a:cubicBezTo>
                  <a:lnTo>
                    <a:pt x="0" y="15576"/>
                  </a:lnTo>
                  <a:cubicBezTo>
                    <a:pt x="0" y="6974"/>
                    <a:pt x="6974" y="0"/>
                    <a:pt x="15576" y="0"/>
                  </a:cubicBezTo>
                  <a:close/>
                </a:path>
              </a:pathLst>
            </a:custGeom>
            <a:solidFill>
              <a:srgbClr val="CFD9E0">
                <a:alpha val="32941"/>
              </a:srgbClr>
            </a:solidFill>
          </p:spPr>
        </p:sp>
        <p:sp>
          <p:nvSpPr>
            <p:cNvPr id="6" name="TextBox 6"/>
            <p:cNvSpPr txBox="1"/>
            <p:nvPr/>
          </p:nvSpPr>
          <p:spPr>
            <a:xfrm>
              <a:off x="0" y="-38100"/>
              <a:ext cx="4772326" cy="1481274"/>
            </a:xfrm>
            <a:prstGeom prst="rect">
              <a:avLst/>
            </a:prstGeom>
          </p:spPr>
          <p:txBody>
            <a:bodyPr lIns="50800" tIns="50800" rIns="50800" bIns="50800" rtlCol="0" anchor="ctr"/>
            <a:lstStyle/>
            <a:p>
              <a:pPr algn="ctr">
                <a:lnSpc>
                  <a:spcPts val="3359"/>
                </a:lnSpc>
                <a:spcBef>
                  <a:spcPct val="0"/>
                </a:spcBef>
              </a:pPr>
              <a:endParaRPr/>
            </a:p>
          </p:txBody>
        </p:sp>
      </p:grpSp>
      <p:sp>
        <p:nvSpPr>
          <p:cNvPr id="7" name="TextBox 7"/>
          <p:cNvSpPr txBox="1"/>
          <p:nvPr/>
        </p:nvSpPr>
        <p:spPr>
          <a:xfrm>
            <a:off x="986876" y="1850453"/>
            <a:ext cx="16173052" cy="3603117"/>
          </a:xfrm>
          <a:prstGeom prst="rect">
            <a:avLst/>
          </a:prstGeom>
        </p:spPr>
        <p:txBody>
          <a:bodyPr lIns="0" tIns="0" rIns="0" bIns="0" rtlCol="0" anchor="t">
            <a:spAutoFit/>
          </a:bodyPr>
          <a:lstStyle/>
          <a:p>
            <a:pPr marL="604519" lvl="1" indent="-302260" algn="l">
              <a:lnSpc>
                <a:spcPts val="3863"/>
              </a:lnSpc>
              <a:buFont typeface="Arial"/>
              <a:buChar char="•"/>
            </a:pPr>
            <a:r>
              <a:rPr lang="en-US" sz="2799">
                <a:solidFill>
                  <a:srgbClr val="FFFFFF"/>
                </a:solidFill>
                <a:latin typeface="Arimo"/>
                <a:ea typeface="Arimo"/>
                <a:cs typeface="Arimo"/>
                <a:sym typeface="Arimo"/>
              </a:rPr>
              <a:t>Previous research has developed dedicated hardware for:NTT/INTT and polynomial multiplication</a:t>
            </a:r>
          </a:p>
          <a:p>
            <a:pPr algn="l">
              <a:lnSpc>
                <a:spcPts val="1379"/>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Modular arithmetic and butterfly operations</a:t>
            </a:r>
          </a:p>
          <a:p>
            <a:pPr algn="l">
              <a:lnSpc>
                <a:spcPts val="1379"/>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RISC-V-based hardware/software co-design</a:t>
            </a:r>
          </a:p>
          <a:p>
            <a:pPr algn="l">
              <a:lnSpc>
                <a:spcPts val="1379"/>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FPGA-based accelerator implementations</a:t>
            </a:r>
          </a:p>
          <a:p>
            <a:pPr algn="l">
              <a:lnSpc>
                <a:spcPts val="1379"/>
              </a:lnSpc>
            </a:pPr>
            <a:endParaRPr lang="en-US" sz="2799">
              <a:solidFill>
                <a:srgbClr val="FFFFFF"/>
              </a:solidFill>
              <a:latin typeface="Arimo"/>
              <a:ea typeface="Arimo"/>
              <a:cs typeface="Arimo"/>
              <a:sym typeface="Arimo"/>
            </a:endParaRPr>
          </a:p>
          <a:p>
            <a:pPr marL="604519" lvl="1" indent="-302260" algn="l">
              <a:lnSpc>
                <a:spcPts val="3863"/>
              </a:lnSpc>
              <a:buFont typeface="Arial"/>
              <a:buChar char="•"/>
            </a:pPr>
            <a:r>
              <a:rPr lang="en-US" sz="2799">
                <a:solidFill>
                  <a:srgbClr val="FFFFFF"/>
                </a:solidFill>
                <a:latin typeface="Arimo"/>
                <a:ea typeface="Arimo"/>
                <a:cs typeface="Arimo"/>
                <a:sym typeface="Arimo"/>
              </a:rPr>
              <a:t>Recent work has also demonstrated system-level ML-KEM integration with RISC-V SoCs, including the 2026 Chipyard-based accelerator by Tsai et al.</a:t>
            </a:r>
          </a:p>
        </p:txBody>
      </p:sp>
      <p:sp>
        <p:nvSpPr>
          <p:cNvPr id="8" name="TextBox 8"/>
          <p:cNvSpPr txBox="1"/>
          <p:nvPr/>
        </p:nvSpPr>
        <p:spPr>
          <a:xfrm>
            <a:off x="1044026" y="783653"/>
            <a:ext cx="6642326"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Existing Solution</a:t>
            </a:r>
          </a:p>
        </p:txBody>
      </p:sp>
      <p:grpSp>
        <p:nvGrpSpPr>
          <p:cNvPr id="9" name="Group 9"/>
          <p:cNvGrpSpPr/>
          <p:nvPr/>
        </p:nvGrpSpPr>
        <p:grpSpPr>
          <a:xfrm>
            <a:off x="673200" y="6040693"/>
            <a:ext cx="16899304" cy="3512832"/>
            <a:chOff x="0" y="0"/>
            <a:chExt cx="4772326" cy="992016"/>
          </a:xfrm>
        </p:grpSpPr>
        <p:sp>
          <p:nvSpPr>
            <p:cNvPr id="10" name="Freeform 10"/>
            <p:cNvSpPr/>
            <p:nvPr/>
          </p:nvSpPr>
          <p:spPr>
            <a:xfrm>
              <a:off x="0" y="0"/>
              <a:ext cx="4772326" cy="992016"/>
            </a:xfrm>
            <a:custGeom>
              <a:avLst/>
              <a:gdLst/>
              <a:ahLst/>
              <a:cxnLst/>
              <a:rect l="l" t="t" r="r" b="b"/>
              <a:pathLst>
                <a:path w="4772326" h="992016">
                  <a:moveTo>
                    <a:pt x="15576" y="0"/>
                  </a:moveTo>
                  <a:lnTo>
                    <a:pt x="4756750" y="0"/>
                  </a:lnTo>
                  <a:cubicBezTo>
                    <a:pt x="4760881" y="0"/>
                    <a:pt x="4764843" y="1641"/>
                    <a:pt x="4767764" y="4562"/>
                  </a:cubicBezTo>
                  <a:cubicBezTo>
                    <a:pt x="4770685" y="7483"/>
                    <a:pt x="4772326" y="11445"/>
                    <a:pt x="4772326" y="15576"/>
                  </a:cubicBezTo>
                  <a:lnTo>
                    <a:pt x="4772326" y="976440"/>
                  </a:lnTo>
                  <a:cubicBezTo>
                    <a:pt x="4772326" y="985042"/>
                    <a:pt x="4765353" y="992016"/>
                    <a:pt x="4756750" y="992016"/>
                  </a:cubicBezTo>
                  <a:lnTo>
                    <a:pt x="15576" y="992016"/>
                  </a:lnTo>
                  <a:cubicBezTo>
                    <a:pt x="11445" y="992016"/>
                    <a:pt x="7483" y="990375"/>
                    <a:pt x="4562" y="987454"/>
                  </a:cubicBezTo>
                  <a:cubicBezTo>
                    <a:pt x="1641" y="984533"/>
                    <a:pt x="0" y="980571"/>
                    <a:pt x="0" y="976440"/>
                  </a:cubicBezTo>
                  <a:lnTo>
                    <a:pt x="0" y="15576"/>
                  </a:lnTo>
                  <a:cubicBezTo>
                    <a:pt x="0" y="6974"/>
                    <a:pt x="6974" y="0"/>
                    <a:pt x="15576" y="0"/>
                  </a:cubicBezTo>
                  <a:close/>
                </a:path>
              </a:pathLst>
            </a:custGeom>
            <a:solidFill>
              <a:srgbClr val="40C5C5">
                <a:alpha val="32941"/>
              </a:srgbClr>
            </a:solidFill>
          </p:spPr>
        </p:sp>
        <p:sp>
          <p:nvSpPr>
            <p:cNvPr id="11" name="TextBox 11"/>
            <p:cNvSpPr txBox="1"/>
            <p:nvPr/>
          </p:nvSpPr>
          <p:spPr>
            <a:xfrm>
              <a:off x="0" y="-38100"/>
              <a:ext cx="4772326" cy="1030116"/>
            </a:xfrm>
            <a:prstGeom prst="rect">
              <a:avLst/>
            </a:prstGeom>
          </p:spPr>
          <p:txBody>
            <a:bodyPr lIns="50800" tIns="50800" rIns="50800" bIns="50800" rtlCol="0" anchor="ctr"/>
            <a:lstStyle/>
            <a:p>
              <a:pPr algn="ctr">
                <a:lnSpc>
                  <a:spcPts val="3359"/>
                </a:lnSpc>
                <a:spcBef>
                  <a:spcPct val="0"/>
                </a:spcBef>
              </a:pPr>
              <a:endParaRPr/>
            </a:p>
          </p:txBody>
        </p:sp>
      </p:grpSp>
      <p:sp>
        <p:nvSpPr>
          <p:cNvPr id="12" name="TextBox 12"/>
          <p:cNvSpPr txBox="1"/>
          <p:nvPr/>
        </p:nvSpPr>
        <p:spPr>
          <a:xfrm>
            <a:off x="1028700" y="7206322"/>
            <a:ext cx="16131228" cy="1945767"/>
          </a:xfrm>
          <a:prstGeom prst="rect">
            <a:avLst/>
          </a:prstGeom>
        </p:spPr>
        <p:txBody>
          <a:bodyPr lIns="0" tIns="0" rIns="0" bIns="0" rtlCol="0" anchor="t">
            <a:spAutoFit/>
          </a:bodyPr>
          <a:lstStyle/>
          <a:p>
            <a:pPr algn="l">
              <a:lnSpc>
                <a:spcPts val="3863"/>
              </a:lnSpc>
            </a:pPr>
            <a:r>
              <a:rPr lang="en-US" sz="2799">
                <a:solidFill>
                  <a:srgbClr val="FFFFFF"/>
                </a:solidFill>
                <a:latin typeface="Arimo"/>
                <a:ea typeface="Arimo"/>
                <a:cs typeface="Arimo"/>
                <a:sym typeface="Arimo"/>
              </a:rPr>
              <a:t>Existing works largely emphasize individual ML-KEM computational kernels, FPGA implementations, or system-level accelerator evaluation. A complete open RTL implementation that integrates the ML-KEM accelerator with a lightweight RISC-V host and carries the design through synthesis, physical design and final GDSII generation is less explored.</a:t>
            </a:r>
          </a:p>
        </p:txBody>
      </p:sp>
      <p:sp>
        <p:nvSpPr>
          <p:cNvPr id="13" name="TextBox 13"/>
          <p:cNvSpPr txBox="1"/>
          <p:nvPr/>
        </p:nvSpPr>
        <p:spPr>
          <a:xfrm>
            <a:off x="1044026" y="6139522"/>
            <a:ext cx="6642326"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Research Gap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8108543"/>
          </a:xfrm>
          <a:custGeom>
            <a:avLst/>
            <a:gdLst/>
            <a:ahLst/>
            <a:cxnLst/>
            <a:rect l="l" t="t" r="r" b="b"/>
            <a:pathLst>
              <a:path w="18288008" h="8108543">
                <a:moveTo>
                  <a:pt x="0" y="0"/>
                </a:moveTo>
                <a:lnTo>
                  <a:pt x="18288008" y="0"/>
                </a:lnTo>
                <a:lnTo>
                  <a:pt x="18288008" y="8108543"/>
                </a:lnTo>
                <a:lnTo>
                  <a:pt x="0" y="8108543"/>
                </a:lnTo>
                <a:lnTo>
                  <a:pt x="0" y="0"/>
                </a:lnTo>
                <a:close/>
              </a:path>
            </a:pathLst>
          </a:custGeom>
          <a:blipFill>
            <a:blip r:embed="rId3">
              <a:alphaModFix amt="62000"/>
            </a:blip>
            <a:stretch>
              <a:fillRect t="-13402" b="-13402"/>
            </a:stretch>
          </a:blipFill>
        </p:spPr>
      </p:sp>
      <p:graphicFrame>
        <p:nvGraphicFramePr>
          <p:cNvPr id="3" name="Table 3"/>
          <p:cNvGraphicFramePr>
            <a:graphicFrameLocks noGrp="1"/>
          </p:cNvGraphicFramePr>
          <p:nvPr/>
        </p:nvGraphicFramePr>
        <p:xfrm>
          <a:off x="1182506" y="1652846"/>
          <a:ext cx="15922987" cy="7605454"/>
        </p:xfrm>
        <a:graphic>
          <a:graphicData uri="http://schemas.openxmlformats.org/drawingml/2006/table">
            <a:tbl>
              <a:tblPr/>
              <a:tblGrid>
                <a:gridCol w="2422731">
                  <a:extLst>
                    <a:ext uri="{9D8B030D-6E8A-4147-A177-3AD203B41FA5}">
                      <a16:colId xmlns:a16="http://schemas.microsoft.com/office/drawing/2014/main" val="20000"/>
                    </a:ext>
                  </a:extLst>
                </a:gridCol>
                <a:gridCol w="1448126">
                  <a:extLst>
                    <a:ext uri="{9D8B030D-6E8A-4147-A177-3AD203B41FA5}">
                      <a16:colId xmlns:a16="http://schemas.microsoft.com/office/drawing/2014/main" val="20001"/>
                    </a:ext>
                  </a:extLst>
                </a:gridCol>
                <a:gridCol w="2419116">
                  <a:extLst>
                    <a:ext uri="{9D8B030D-6E8A-4147-A177-3AD203B41FA5}">
                      <a16:colId xmlns:a16="http://schemas.microsoft.com/office/drawing/2014/main" val="20002"/>
                    </a:ext>
                  </a:extLst>
                </a:gridCol>
                <a:gridCol w="2111416">
                  <a:extLst>
                    <a:ext uri="{9D8B030D-6E8A-4147-A177-3AD203B41FA5}">
                      <a16:colId xmlns:a16="http://schemas.microsoft.com/office/drawing/2014/main" val="20003"/>
                    </a:ext>
                  </a:extLst>
                </a:gridCol>
                <a:gridCol w="4453820">
                  <a:extLst>
                    <a:ext uri="{9D8B030D-6E8A-4147-A177-3AD203B41FA5}">
                      <a16:colId xmlns:a16="http://schemas.microsoft.com/office/drawing/2014/main" val="20004"/>
                    </a:ext>
                  </a:extLst>
                </a:gridCol>
                <a:gridCol w="3067778">
                  <a:extLst>
                    <a:ext uri="{9D8B030D-6E8A-4147-A177-3AD203B41FA5}">
                      <a16:colId xmlns:a16="http://schemas.microsoft.com/office/drawing/2014/main" val="20005"/>
                    </a:ext>
                  </a:extLst>
                </a:gridCol>
              </a:tblGrid>
              <a:tr h="991842">
                <a:tc>
                  <a:txBody>
                    <a:bodyPr/>
                    <a:lstStyle/>
                    <a:p>
                      <a:pPr algn="ctr">
                        <a:lnSpc>
                          <a:spcPts val="1818"/>
                        </a:lnSpc>
                        <a:defRPr/>
                      </a:pPr>
                      <a:r>
                        <a:rPr lang="en-US" sz="1800" b="1">
                          <a:solidFill>
                            <a:srgbClr val="000000"/>
                          </a:solidFill>
                          <a:latin typeface="Arimo Bold"/>
                          <a:ea typeface="Arimo Bold"/>
                          <a:cs typeface="Arimo Bold"/>
                          <a:sym typeface="Arimo Bold"/>
                        </a:rPr>
                        <a:t>Paper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Year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Relevance to Our Work</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Key Contribution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Implementation / Platform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Main Focus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extLst>
                  <a:ext uri="{0D108BD9-81ED-4DB2-BD59-A6C34878D82A}">
                    <a16:rowId xmlns:a16="http://schemas.microsoft.com/office/drawing/2014/main" val="10000"/>
                  </a:ext>
                </a:extLst>
              </a:tr>
              <a:tr h="1268414">
                <a:tc>
                  <a:txBody>
                    <a:bodyPr/>
                    <a:lstStyle/>
                    <a:p>
                      <a:pPr algn="ctr">
                        <a:lnSpc>
                          <a:spcPts val="2239"/>
                        </a:lnSpc>
                        <a:defRPr/>
                      </a:pPr>
                      <a:r>
                        <a:rPr lang="en-US" sz="1599">
                          <a:solidFill>
                            <a:srgbClr val="FFFFFF"/>
                          </a:solidFill>
                          <a:latin typeface="Arimo"/>
                          <a:ea typeface="Arimo"/>
                          <a:cs typeface="Arimo"/>
                          <a:sym typeface="Arimo"/>
                        </a:rPr>
                        <a:t>Taghavi et al. – ParallelNTT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useful for NTT datapath design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Highly parallel NTT architecture eliminating RAM bottlenecks; supports ML-KEM and ML-DSA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FPGA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High-performance NTT/INTT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539958">
                <a:tc>
                  <a:txBody>
                    <a:bodyPr/>
                    <a:lstStyle/>
                    <a:p>
                      <a:pPr algn="ctr">
                        <a:lnSpc>
                          <a:spcPts val="2239"/>
                        </a:lnSpc>
                        <a:defRPr/>
                      </a:pPr>
                      <a:r>
                        <a:rPr lang="en-US" sz="1599">
                          <a:solidFill>
                            <a:srgbClr val="FFFFFF"/>
                          </a:solidFill>
                          <a:latin typeface="Arimo"/>
                          <a:ea typeface="Arimo"/>
                          <a:cs typeface="Arimo"/>
                          <a:sym typeface="Arimo"/>
                        </a:rPr>
                        <a:t>Kundi et al. – High-Performance NTT Hardware Accelerator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relevant to polynomial arithmetic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Shared butterfly architecture and multi-path delay commutator for high-throughput NTT/INTT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Zynq UltraScale+ FPGA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Unified NTT/INTT accelerator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268414">
                <a:tc>
                  <a:txBody>
                    <a:bodyPr/>
                    <a:lstStyle/>
                    <a:p>
                      <a:pPr algn="ctr">
                        <a:lnSpc>
                          <a:spcPts val="2239"/>
                        </a:lnSpc>
                        <a:defRPr/>
                      </a:pPr>
                      <a:r>
                        <a:rPr lang="en-US" sz="1599">
                          <a:solidFill>
                            <a:srgbClr val="FFFFFF"/>
                          </a:solidFill>
                          <a:latin typeface="Arimo"/>
                          <a:ea typeface="Arimo"/>
                          <a:cs typeface="Arimo"/>
                          <a:sym typeface="Arimo"/>
                        </a:rPr>
                        <a:t>Gao et al. – High-Throughput BRAM-Efficient NTT/INTT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relevant to memory architecture and accelerator interfacing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32-way parallel streaming datapath with hybrid BRAM/distributed-RAM architecture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FPGA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NTT memory architecture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268414">
                <a:tc>
                  <a:txBody>
                    <a:bodyPr/>
                    <a:lstStyle/>
                    <a:p>
                      <a:pPr algn="ctr">
                        <a:lnSpc>
                          <a:spcPts val="2239"/>
                        </a:lnSpc>
                        <a:defRPr/>
                      </a:pPr>
                      <a:r>
                        <a:rPr lang="en-US" sz="1599">
                          <a:solidFill>
                            <a:srgbClr val="FFFFFF"/>
                          </a:solidFill>
                          <a:latin typeface="Arimo"/>
                          <a:ea typeface="Arimo"/>
                          <a:cs typeface="Arimo"/>
                          <a:sym typeface="Arimo"/>
                        </a:rPr>
                        <a:t>Ras et al. – PHOENIX</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Very High – demonstrates processor/accelerator system integration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Shared hardware accelerator for ML-KEM and HQC; integrates accelerator into SoC environment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SoC FPGA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HW/SW co-design and crypto-agility</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268414">
                <a:tc>
                  <a:txBody>
                    <a:bodyPr/>
                    <a:lstStyle/>
                    <a:p>
                      <a:pPr algn="ctr">
                        <a:lnSpc>
                          <a:spcPts val="2239"/>
                        </a:lnSpc>
                        <a:defRPr/>
                      </a:pPr>
                      <a:r>
                        <a:rPr lang="en-US" sz="1599">
                          <a:solidFill>
                            <a:srgbClr val="FFFFFF"/>
                          </a:solidFill>
                          <a:latin typeface="Arimo"/>
                          <a:ea typeface="Arimo"/>
                          <a:cs typeface="Arimo"/>
                          <a:sym typeface="Arimo"/>
                        </a:rPr>
                        <a:t>Ando &amp; Nakashima – NTT Arithmetic on CGLA</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2026</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relevant to accelerator/processor interface considerations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Maps ML-KEM NTT onto a programmable linear-array accelerator and examines host/accelerator data movement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FPGA + projected ASIC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Processor/accelerator NTT mapping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Box 4"/>
          <p:cNvSpPr txBox="1"/>
          <p:nvPr/>
        </p:nvSpPr>
        <p:spPr>
          <a:xfrm>
            <a:off x="1182506" y="297601"/>
            <a:ext cx="9280605"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Literature Survey</a:t>
            </a:r>
          </a:p>
        </p:txBody>
      </p:sp>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4"/>
            <a:stretch>
              <a:fillRect/>
            </a:stretch>
          </a:blipFill>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nvGraphicFramePr>
        <p:xfrm>
          <a:off x="813966" y="704850"/>
          <a:ext cx="16660068" cy="8877300"/>
        </p:xfrm>
        <a:graphic>
          <a:graphicData uri="http://schemas.openxmlformats.org/drawingml/2006/table">
            <a:tbl>
              <a:tblPr/>
              <a:tblGrid>
                <a:gridCol w="2736378">
                  <a:extLst>
                    <a:ext uri="{9D8B030D-6E8A-4147-A177-3AD203B41FA5}">
                      <a16:colId xmlns:a16="http://schemas.microsoft.com/office/drawing/2014/main" val="20000"/>
                    </a:ext>
                  </a:extLst>
                </a:gridCol>
                <a:gridCol w="1458834">
                  <a:extLst>
                    <a:ext uri="{9D8B030D-6E8A-4147-A177-3AD203B41FA5}">
                      <a16:colId xmlns:a16="http://schemas.microsoft.com/office/drawing/2014/main" val="20001"/>
                    </a:ext>
                  </a:extLst>
                </a:gridCol>
                <a:gridCol w="2402522">
                  <a:extLst>
                    <a:ext uri="{9D8B030D-6E8A-4147-A177-3AD203B41FA5}">
                      <a16:colId xmlns:a16="http://schemas.microsoft.com/office/drawing/2014/main" val="20002"/>
                    </a:ext>
                  </a:extLst>
                </a:gridCol>
                <a:gridCol w="2096932">
                  <a:extLst>
                    <a:ext uri="{9D8B030D-6E8A-4147-A177-3AD203B41FA5}">
                      <a16:colId xmlns:a16="http://schemas.microsoft.com/office/drawing/2014/main" val="20003"/>
                    </a:ext>
                  </a:extLst>
                </a:gridCol>
                <a:gridCol w="4423268">
                  <a:extLst>
                    <a:ext uri="{9D8B030D-6E8A-4147-A177-3AD203B41FA5}">
                      <a16:colId xmlns:a16="http://schemas.microsoft.com/office/drawing/2014/main" val="20004"/>
                    </a:ext>
                  </a:extLst>
                </a:gridCol>
                <a:gridCol w="3542133">
                  <a:extLst>
                    <a:ext uri="{9D8B030D-6E8A-4147-A177-3AD203B41FA5}">
                      <a16:colId xmlns:a16="http://schemas.microsoft.com/office/drawing/2014/main" val="20005"/>
                    </a:ext>
                  </a:extLst>
                </a:gridCol>
              </a:tblGrid>
              <a:tr h="991664">
                <a:tc>
                  <a:txBody>
                    <a:bodyPr/>
                    <a:lstStyle/>
                    <a:p>
                      <a:pPr algn="ctr">
                        <a:lnSpc>
                          <a:spcPts val="1818"/>
                        </a:lnSpc>
                        <a:defRPr/>
                      </a:pPr>
                      <a:r>
                        <a:rPr lang="en-US" sz="1800" b="1">
                          <a:solidFill>
                            <a:srgbClr val="000000"/>
                          </a:solidFill>
                          <a:latin typeface="Arimo Bold"/>
                          <a:ea typeface="Arimo Bold"/>
                          <a:cs typeface="Arimo Bold"/>
                          <a:sym typeface="Arimo Bold"/>
                        </a:rPr>
                        <a:t>Paper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Year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Main Focus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Implementation / Platform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Key Contribution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Relevance to Our Work</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extLst>
                  <a:ext uri="{0D108BD9-81ED-4DB2-BD59-A6C34878D82A}">
                    <a16:rowId xmlns:a16="http://schemas.microsoft.com/office/drawing/2014/main" val="10000"/>
                  </a:ext>
                </a:extLst>
              </a:tr>
              <a:tr h="1268186">
                <a:tc>
                  <a:txBody>
                    <a:bodyPr/>
                    <a:lstStyle/>
                    <a:p>
                      <a:pPr algn="ctr">
                        <a:lnSpc>
                          <a:spcPts val="2239"/>
                        </a:lnSpc>
                        <a:defRPr/>
                      </a:pPr>
                      <a:r>
                        <a:rPr lang="en-US" sz="1599">
                          <a:solidFill>
                            <a:srgbClr val="FFFFFF"/>
                          </a:solidFill>
                          <a:latin typeface="Arimo"/>
                          <a:ea typeface="Arimo"/>
                          <a:cs typeface="Arimo"/>
                          <a:sym typeface="Arimo"/>
                        </a:rPr>
                        <a:t>Paiva et al. – Tailorable Codes for Lattice-Based KEMs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ML-KEM compression/error correction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Software implementations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Error-correction approach allowing increased ciphertext/public-key compression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Moderate – relevant to ML-KEM implementation optimization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991664">
                <a:tc>
                  <a:txBody>
                    <a:bodyPr/>
                    <a:lstStyle/>
                    <a:p>
                      <a:pPr algn="ctr">
                        <a:lnSpc>
                          <a:spcPts val="2239"/>
                        </a:lnSpc>
                        <a:defRPr/>
                      </a:pPr>
                      <a:r>
                        <a:rPr lang="en-US" sz="1599">
                          <a:solidFill>
                            <a:srgbClr val="FFFFFF"/>
                          </a:solidFill>
                          <a:latin typeface="Arimo"/>
                          <a:ea typeface="Arimo"/>
                          <a:cs typeface="Arimo"/>
                          <a:sym typeface="Arimo"/>
                        </a:rPr>
                        <a:t>Abdulrahman et al. – Microarchitectural Agility</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ML-KEM/ML-DSA optimization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Cortex-M4/M7</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Uses SLOTHY to optimize assembly across processor microarchitectures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Low–Moderate – relevant to processor-oriented implementation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991664">
                <a:tc>
                  <a:txBody>
                    <a:bodyPr/>
                    <a:lstStyle/>
                    <a:p>
                      <a:pPr algn="ctr">
                        <a:lnSpc>
                          <a:spcPts val="2239"/>
                        </a:lnSpc>
                        <a:defRPr/>
                      </a:pPr>
                      <a:r>
                        <a:rPr lang="en-US" sz="1599">
                          <a:solidFill>
                            <a:srgbClr val="FFFFFF"/>
                          </a:solidFill>
                          <a:latin typeface="Arimo"/>
                          <a:ea typeface="Arimo"/>
                          <a:cs typeface="Arimo"/>
                          <a:sym typeface="Arimo"/>
                        </a:rPr>
                        <a:t>Arsalan et al. – ML-KEM for Federated Learning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2026</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System-level ML-KEM application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Software/simulated FL system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Integrates ML-KEM into parameter exchange of a federated-learning system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Low – demonstrates system-level application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544707">
                <a:tc>
                  <a:txBody>
                    <a:bodyPr/>
                    <a:lstStyle/>
                    <a:p>
                      <a:pPr algn="ctr">
                        <a:lnSpc>
                          <a:spcPts val="2239"/>
                        </a:lnSpc>
                        <a:defRPr/>
                      </a:pPr>
                      <a:r>
                        <a:rPr lang="en-US" sz="1599">
                          <a:solidFill>
                            <a:srgbClr val="FFFFFF"/>
                          </a:solidFill>
                          <a:latin typeface="Arimo"/>
                          <a:ea typeface="Arimo"/>
                          <a:cs typeface="Arimo"/>
                          <a:sym typeface="Arimo"/>
                        </a:rPr>
                        <a:t>Nguyen</a:t>
                      </a:r>
                      <a:endParaRPr lang="en-US" sz="1100"/>
                    </a:p>
                    <a:p>
                      <a:pPr algn="ctr">
                        <a:lnSpc>
                          <a:spcPts val="2239"/>
                        </a:lnSpc>
                      </a:pPr>
                      <a:r>
                        <a:rPr lang="en-US" sz="1599">
                          <a:solidFill>
                            <a:srgbClr val="FFFFFF"/>
                          </a:solidFill>
                          <a:latin typeface="Arimo"/>
                          <a:ea typeface="Arimo"/>
                          <a:cs typeface="Arimo"/>
                          <a:sym typeface="Arimo"/>
                        </a:rPr>
                        <a:t>  et al. – Area-Time Efficient ML-KEM Architecture</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Area-time</a:t>
                      </a:r>
                      <a:endParaRPr lang="en-US" sz="1100"/>
                    </a:p>
                    <a:p>
                      <a:pPr algn="ctr">
                        <a:lnSpc>
                          <a:spcPts val="2239"/>
                        </a:lnSpc>
                      </a:pPr>
                      <a:r>
                        <a:rPr lang="en-US" sz="1599">
                          <a:solidFill>
                            <a:srgbClr val="FFFFFF"/>
                          </a:solidFill>
                          <a:latin typeface="Arimo"/>
                          <a:ea typeface="Arimo"/>
                          <a:cs typeface="Arimo"/>
                          <a:sym typeface="Arimo"/>
                        </a:rPr>
                        <a:t>  efficient ML-KEM hardware accelerator</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FPGA / ASIC</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Merging SHA3 hashing &amp; sampling to remove hash buffer, 3x twiddle factor memoryreduction, tight pipelining</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Directly</a:t>
                      </a:r>
                      <a:endParaRPr lang="en-US" sz="1100"/>
                    </a:p>
                    <a:p>
                      <a:pPr algn="ctr">
                        <a:lnSpc>
                          <a:spcPts val="2239"/>
                        </a:lnSpc>
                      </a:pPr>
                      <a:r>
                        <a:rPr lang="en-US" sz="1599">
                          <a:solidFill>
                            <a:srgbClr val="FFFFFF"/>
                          </a:solidFill>
                          <a:latin typeface="Arimo"/>
                          <a:ea typeface="Arimo"/>
                          <a:cs typeface="Arimo"/>
                          <a:sym typeface="Arimo"/>
                        </a:rPr>
                        <a:t>  addresses hardware pipelining and memory optimizations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821229">
                <a:tc>
                  <a:txBody>
                    <a:bodyPr/>
                    <a:lstStyle/>
                    <a:p>
                      <a:pPr algn="ctr">
                        <a:lnSpc>
                          <a:spcPts val="2239"/>
                        </a:lnSpc>
                        <a:defRPr/>
                      </a:pPr>
                      <a:r>
                        <a:rPr lang="en-US" sz="1599">
                          <a:solidFill>
                            <a:srgbClr val="FFFFFF"/>
                          </a:solidFill>
                          <a:latin typeface="Arimo"/>
                          <a:ea typeface="Arimo"/>
                          <a:cs typeface="Arimo"/>
                          <a:sym typeface="Arimo"/>
                        </a:rPr>
                        <a:t>Truong et al.</a:t>
                      </a:r>
                      <a:endParaRPr lang="en-US" sz="1100"/>
                    </a:p>
                    <a:p>
                      <a:pPr algn="ctr">
                        <a:lnSpc>
                          <a:spcPts val="2239"/>
                        </a:lnSpc>
                      </a:pPr>
                      <a:r>
                        <a:rPr lang="en-US" sz="1599">
                          <a:solidFill>
                            <a:srgbClr val="FFFFFF"/>
                          </a:solidFill>
                          <a:latin typeface="Arimo"/>
                          <a:ea typeface="Arimo"/>
                          <a:cs typeface="Arimo"/>
                          <a:sym typeface="Arimo"/>
                        </a:rPr>
                        <a:t>  – Unified ML-DSA and ML-KEM Architecture</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Unified PQC hardware acceleration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Xilinx</a:t>
                      </a:r>
                      <a:endParaRPr lang="en-US" sz="1100"/>
                    </a:p>
                    <a:p>
                      <a:pPr algn="ctr">
                        <a:lnSpc>
                          <a:spcPts val="2239"/>
                        </a:lnSpc>
                      </a:pPr>
                      <a:r>
                        <a:rPr lang="en-US" sz="1599">
                          <a:solidFill>
                            <a:srgbClr val="FFFFFF"/>
                          </a:solidFill>
                          <a:latin typeface="Arimo"/>
                          <a:ea typeface="Arimo"/>
                          <a:cs typeface="Arimo"/>
                          <a:sym typeface="Arimo"/>
                        </a:rPr>
                        <a:t>  Artix-7 / UltraScale+ FPGA</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High-performance unified architecture supporting ML-DSA and ML-KEM with shared NTT/Keccak pipeline units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a:t>
                      </a:r>
                      <a:endParaRPr lang="en-US" sz="1100"/>
                    </a:p>
                    <a:p>
                      <a:pPr algn="ctr">
                        <a:lnSpc>
                          <a:spcPts val="2239"/>
                        </a:lnSpc>
                      </a:pPr>
                      <a:r>
                        <a:rPr lang="en-US" sz="1599">
                          <a:solidFill>
                            <a:srgbClr val="FFFFFF"/>
                          </a:solidFill>
                          <a:latin typeface="Arimo"/>
                          <a:ea typeface="Arimo"/>
                          <a:cs typeface="Arimo"/>
                          <a:sym typeface="Arimo"/>
                        </a:rPr>
                        <a:t>  – Relevant to unified PQC accelerator architectures and pipeline stage</a:t>
                      </a:r>
                    </a:p>
                    <a:p>
                      <a:pPr algn="ctr">
                        <a:lnSpc>
                          <a:spcPts val="2239"/>
                        </a:lnSpc>
                      </a:pPr>
                      <a:r>
                        <a:rPr lang="en-US" sz="1599">
                          <a:solidFill>
                            <a:srgbClr val="FFFFFF"/>
                          </a:solidFill>
                          <a:latin typeface="Arimo"/>
                          <a:ea typeface="Arimo"/>
                          <a:cs typeface="Arimo"/>
                          <a:sym typeface="Arimo"/>
                        </a:rPr>
                        <a:t>  sharing</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1268186">
                <a:tc>
                  <a:txBody>
                    <a:bodyPr/>
                    <a:lstStyle/>
                    <a:p>
                      <a:pPr algn="ctr">
                        <a:lnSpc>
                          <a:spcPts val="2239"/>
                        </a:lnSpc>
                        <a:defRPr/>
                      </a:pPr>
                      <a:r>
                        <a:rPr lang="en-US" sz="1599">
                          <a:solidFill>
                            <a:srgbClr val="FFFFFF"/>
                          </a:solidFill>
                          <a:latin typeface="Arimo"/>
                          <a:ea typeface="Arimo"/>
                          <a:cs typeface="Arimo"/>
                          <a:sym typeface="Arimo"/>
                        </a:rPr>
                        <a:t>Jung et al. –</a:t>
                      </a:r>
                      <a:endParaRPr lang="en-US" sz="1100"/>
                    </a:p>
                    <a:p>
                      <a:pPr algn="ctr">
                        <a:lnSpc>
                          <a:spcPts val="2239"/>
                        </a:lnSpc>
                      </a:pPr>
                      <a:r>
                        <a:rPr lang="en-US" sz="1599">
                          <a:solidFill>
                            <a:srgbClr val="FFFFFF"/>
                          </a:solidFill>
                          <a:latin typeface="Arimo"/>
                          <a:ea typeface="Arimo"/>
                          <a:cs typeface="Arimo"/>
                          <a:sym typeface="Arimo"/>
                        </a:rPr>
                        <a:t>  Highly-Efficient ML-KEM Architecture</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2025</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Hardware acceleration and pipelining of ML-KEM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FPGA</a:t>
                      </a:r>
                      <a:endParaRPr lang="en-US" sz="1100"/>
                    </a:p>
                    <a:p>
                      <a:pPr algn="ctr">
                        <a:lnSpc>
                          <a:spcPts val="2239"/>
                        </a:lnSpc>
                      </a:pPr>
                      <a:r>
                        <a:rPr lang="en-US" sz="1599">
                          <a:solidFill>
                            <a:srgbClr val="FFFFFF"/>
                          </a:solidFill>
                          <a:latin typeface="Arimo"/>
                          <a:ea typeface="Arimo"/>
                          <a:cs typeface="Arimo"/>
                          <a:sym typeface="Arimo"/>
                        </a:rPr>
                        <a:t>  / ASIC</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Pipelined polynomial arithmetic core with optimized Keccak and NTT datapath.</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 Directly mirrors our ML-KEM</a:t>
                      </a:r>
                      <a:endParaRPr lang="en-US" sz="1100"/>
                    </a:p>
                    <a:p>
                      <a:pPr algn="ctr">
                        <a:lnSpc>
                          <a:spcPts val="2239"/>
                        </a:lnSpc>
                      </a:pPr>
                      <a:r>
                        <a:rPr lang="en-US" sz="1599">
                          <a:solidFill>
                            <a:srgbClr val="FFFFFF"/>
                          </a:solidFill>
                          <a:latin typeface="Arimo"/>
                          <a:ea typeface="Arimo"/>
                          <a:cs typeface="Arimo"/>
                          <a:sym typeface="Arimo"/>
                        </a:rPr>
                        <a:t>  pipelining work</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grpSp>
        <p:nvGrpSpPr>
          <p:cNvPr id="2" name="Group 2"/>
          <p:cNvGrpSpPr/>
          <p:nvPr/>
        </p:nvGrpSpPr>
        <p:grpSpPr>
          <a:xfrm>
            <a:off x="742217" y="6442209"/>
            <a:ext cx="16803565" cy="2615814"/>
            <a:chOff x="0" y="0"/>
            <a:chExt cx="4745290" cy="738700"/>
          </a:xfrm>
        </p:grpSpPr>
        <p:sp>
          <p:nvSpPr>
            <p:cNvPr id="3" name="Freeform 3"/>
            <p:cNvSpPr/>
            <p:nvPr/>
          </p:nvSpPr>
          <p:spPr>
            <a:xfrm>
              <a:off x="0" y="0"/>
              <a:ext cx="4745290" cy="738700"/>
            </a:xfrm>
            <a:custGeom>
              <a:avLst/>
              <a:gdLst/>
              <a:ahLst/>
              <a:cxnLst/>
              <a:rect l="l" t="t" r="r" b="b"/>
              <a:pathLst>
                <a:path w="4745290" h="738700">
                  <a:moveTo>
                    <a:pt x="15665" y="0"/>
                  </a:moveTo>
                  <a:lnTo>
                    <a:pt x="4729625" y="0"/>
                  </a:lnTo>
                  <a:cubicBezTo>
                    <a:pt x="4738276" y="0"/>
                    <a:pt x="4745290" y="7013"/>
                    <a:pt x="4745290" y="15665"/>
                  </a:cubicBezTo>
                  <a:lnTo>
                    <a:pt x="4745290" y="723035"/>
                  </a:lnTo>
                  <a:cubicBezTo>
                    <a:pt x="4745290" y="731687"/>
                    <a:pt x="4738276" y="738700"/>
                    <a:pt x="4729625" y="738700"/>
                  </a:cubicBezTo>
                  <a:lnTo>
                    <a:pt x="15665" y="738700"/>
                  </a:lnTo>
                  <a:cubicBezTo>
                    <a:pt x="11510" y="738700"/>
                    <a:pt x="7526" y="737050"/>
                    <a:pt x="4588" y="734112"/>
                  </a:cubicBezTo>
                  <a:cubicBezTo>
                    <a:pt x="1650" y="731174"/>
                    <a:pt x="0" y="727190"/>
                    <a:pt x="0" y="723035"/>
                  </a:cubicBezTo>
                  <a:lnTo>
                    <a:pt x="0" y="15665"/>
                  </a:lnTo>
                  <a:cubicBezTo>
                    <a:pt x="0" y="7013"/>
                    <a:pt x="7013" y="0"/>
                    <a:pt x="15665" y="0"/>
                  </a:cubicBezTo>
                  <a:close/>
                </a:path>
              </a:pathLst>
            </a:custGeom>
            <a:solidFill>
              <a:srgbClr val="CFD9E0">
                <a:alpha val="32941"/>
              </a:srgbClr>
            </a:solidFill>
          </p:spPr>
        </p:sp>
        <p:sp>
          <p:nvSpPr>
            <p:cNvPr id="4" name="TextBox 4"/>
            <p:cNvSpPr txBox="1"/>
            <p:nvPr/>
          </p:nvSpPr>
          <p:spPr>
            <a:xfrm>
              <a:off x="0" y="-38100"/>
              <a:ext cx="4745290" cy="776800"/>
            </a:xfrm>
            <a:prstGeom prst="rect">
              <a:avLst/>
            </a:prstGeom>
          </p:spPr>
          <p:txBody>
            <a:bodyPr lIns="50800" tIns="50800" rIns="50800" bIns="50800" rtlCol="0" anchor="ctr"/>
            <a:lstStyle/>
            <a:p>
              <a:pPr algn="ctr">
                <a:lnSpc>
                  <a:spcPts val="3359"/>
                </a:lnSpc>
                <a:spcBef>
                  <a:spcPct val="0"/>
                </a:spcBef>
              </a:pPr>
              <a:endParaRPr/>
            </a:p>
          </p:txBody>
        </p:sp>
      </p:grpSp>
      <p:sp>
        <p:nvSpPr>
          <p:cNvPr id="5" name="TextBox 5"/>
          <p:cNvSpPr txBox="1"/>
          <p:nvPr/>
        </p:nvSpPr>
        <p:spPr>
          <a:xfrm>
            <a:off x="1028700" y="6745124"/>
            <a:ext cx="8661533" cy="445389"/>
          </a:xfrm>
          <a:prstGeom prst="rect">
            <a:avLst/>
          </a:prstGeom>
        </p:spPr>
        <p:txBody>
          <a:bodyPr lIns="0" tIns="0" rIns="0" bIns="0" rtlCol="0" anchor="t">
            <a:spAutoFit/>
          </a:bodyPr>
          <a:lstStyle/>
          <a:p>
            <a:pPr algn="l">
              <a:lnSpc>
                <a:spcPts val="3588"/>
              </a:lnSpc>
              <a:spcBef>
                <a:spcPct val="0"/>
              </a:spcBef>
            </a:pPr>
            <a:r>
              <a:rPr lang="en-US" sz="2600" b="1">
                <a:solidFill>
                  <a:srgbClr val="FFFFFF"/>
                </a:solidFill>
                <a:latin typeface="Arimo Bold"/>
                <a:ea typeface="Arimo Bold"/>
                <a:cs typeface="Arimo Bold"/>
                <a:sym typeface="Arimo Bold"/>
              </a:rPr>
              <a:t>Research and Literature Gap:</a:t>
            </a:r>
            <a:r>
              <a:rPr lang="en-US" sz="2600">
                <a:solidFill>
                  <a:srgbClr val="FFFFFF"/>
                </a:solidFill>
                <a:latin typeface="Arimo"/>
                <a:ea typeface="Arimo"/>
                <a:cs typeface="Arimo"/>
                <a:sym typeface="Arimo"/>
              </a:rPr>
              <a:t> </a:t>
            </a:r>
          </a:p>
        </p:txBody>
      </p:sp>
      <p:graphicFrame>
        <p:nvGraphicFramePr>
          <p:cNvPr id="6" name="Table 6"/>
          <p:cNvGraphicFramePr>
            <a:graphicFrameLocks noGrp="1"/>
          </p:cNvGraphicFramePr>
          <p:nvPr/>
        </p:nvGraphicFramePr>
        <p:xfrm>
          <a:off x="742217" y="1275109"/>
          <a:ext cx="16803565" cy="4920691"/>
        </p:xfrm>
        <a:graphic>
          <a:graphicData uri="http://schemas.openxmlformats.org/drawingml/2006/table">
            <a:tbl>
              <a:tblPr/>
              <a:tblGrid>
                <a:gridCol w="3189566">
                  <a:extLst>
                    <a:ext uri="{9D8B030D-6E8A-4147-A177-3AD203B41FA5}">
                      <a16:colId xmlns:a16="http://schemas.microsoft.com/office/drawing/2014/main" val="20000"/>
                    </a:ext>
                  </a:extLst>
                </a:gridCol>
                <a:gridCol w="1355620">
                  <a:extLst>
                    <a:ext uri="{9D8B030D-6E8A-4147-A177-3AD203B41FA5}">
                      <a16:colId xmlns:a16="http://schemas.microsoft.com/office/drawing/2014/main" val="20001"/>
                    </a:ext>
                  </a:extLst>
                </a:gridCol>
                <a:gridCol w="2464435">
                  <a:extLst>
                    <a:ext uri="{9D8B030D-6E8A-4147-A177-3AD203B41FA5}">
                      <a16:colId xmlns:a16="http://schemas.microsoft.com/office/drawing/2014/main" val="20002"/>
                    </a:ext>
                  </a:extLst>
                </a:gridCol>
                <a:gridCol w="1993714">
                  <a:extLst>
                    <a:ext uri="{9D8B030D-6E8A-4147-A177-3AD203B41FA5}">
                      <a16:colId xmlns:a16="http://schemas.microsoft.com/office/drawing/2014/main" val="20003"/>
                    </a:ext>
                  </a:extLst>
                </a:gridCol>
                <a:gridCol w="4753511">
                  <a:extLst>
                    <a:ext uri="{9D8B030D-6E8A-4147-A177-3AD203B41FA5}">
                      <a16:colId xmlns:a16="http://schemas.microsoft.com/office/drawing/2014/main" val="20004"/>
                    </a:ext>
                  </a:extLst>
                </a:gridCol>
                <a:gridCol w="3046720">
                  <a:extLst>
                    <a:ext uri="{9D8B030D-6E8A-4147-A177-3AD203B41FA5}">
                      <a16:colId xmlns:a16="http://schemas.microsoft.com/office/drawing/2014/main" val="20005"/>
                    </a:ext>
                  </a:extLst>
                </a:gridCol>
              </a:tblGrid>
              <a:tr h="992521">
                <a:tc>
                  <a:txBody>
                    <a:bodyPr/>
                    <a:lstStyle/>
                    <a:p>
                      <a:pPr algn="ctr">
                        <a:lnSpc>
                          <a:spcPts val="1818"/>
                        </a:lnSpc>
                        <a:defRPr/>
                      </a:pPr>
                      <a:r>
                        <a:rPr lang="en-US" sz="1800" b="1">
                          <a:solidFill>
                            <a:srgbClr val="000000"/>
                          </a:solidFill>
                          <a:latin typeface="Arimo Bold"/>
                          <a:ea typeface="Arimo Bold"/>
                          <a:cs typeface="Arimo Bold"/>
                          <a:sym typeface="Arimo Bold"/>
                        </a:rPr>
                        <a:t>Paper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Year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Main Focus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Implementation / Platform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Key Contribution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1818"/>
                        </a:lnSpc>
                        <a:defRPr/>
                      </a:pPr>
                      <a:r>
                        <a:rPr lang="en-US" sz="1800" b="1">
                          <a:solidFill>
                            <a:srgbClr val="000000"/>
                          </a:solidFill>
                          <a:latin typeface="Arimo Bold"/>
                          <a:ea typeface="Arimo Bold"/>
                          <a:cs typeface="Arimo Bold"/>
                          <a:sym typeface="Arimo Bold"/>
                        </a:rPr>
                        <a:t>Relevance to Our Work</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extLst>
                  <a:ext uri="{0D108BD9-81ED-4DB2-BD59-A6C34878D82A}">
                    <a16:rowId xmlns:a16="http://schemas.microsoft.com/office/drawing/2014/main" val="10000"/>
                  </a:ext>
                </a:extLst>
              </a:tr>
              <a:tr h="1828606">
                <a:tc>
                  <a:txBody>
                    <a:bodyPr/>
                    <a:lstStyle/>
                    <a:p>
                      <a:pPr algn="ctr">
                        <a:lnSpc>
                          <a:spcPts val="2239"/>
                        </a:lnSpc>
                        <a:defRPr/>
                      </a:pPr>
                      <a:r>
                        <a:rPr lang="en-US" sz="1599">
                          <a:solidFill>
                            <a:srgbClr val="FFFFFF"/>
                          </a:solidFill>
                          <a:latin typeface="Arimo"/>
                          <a:ea typeface="Arimo"/>
                          <a:cs typeface="Arimo"/>
                          <a:sym typeface="Arimo"/>
                        </a:rPr>
                        <a:t>He et al. – Lightweight Hardware Implementation of Kyber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Lightweight</a:t>
                      </a:r>
                      <a:endParaRPr lang="en-US" sz="1100"/>
                    </a:p>
                    <a:p>
                      <a:pPr algn="ctr">
                        <a:lnSpc>
                          <a:spcPts val="2239"/>
                        </a:lnSpc>
                      </a:pPr>
                      <a:r>
                        <a:rPr lang="en-US" sz="1599">
                          <a:solidFill>
                            <a:srgbClr val="FFFFFF"/>
                          </a:solidFill>
                          <a:latin typeface="Arimo"/>
                          <a:ea typeface="Arimo"/>
                          <a:cs typeface="Arimo"/>
                          <a:sym typeface="Arimo"/>
                        </a:rPr>
                        <a:t>ASIC/FPGA hardware design</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ASIC / FPGA</a:t>
                      </a:r>
                      <a:endParaRPr lang="en-US" sz="1100"/>
                    </a:p>
                    <a:p>
                      <a:pPr algn="ctr">
                        <a:lnSpc>
                          <a:spcPts val="2239"/>
                        </a:lnSpc>
                      </a:pPr>
                      <a:r>
                        <a:rPr lang="en-US" sz="1599">
                          <a:solidFill>
                            <a:srgbClr val="FFFFFF"/>
                          </a:solidFill>
                          <a:latin typeface="Arimo"/>
                          <a:ea typeface="Arimo"/>
                          <a:cs typeface="Arimo"/>
                          <a:sym typeface="Arimo"/>
                        </a:rPr>
                        <a:t>  (Xilinx Artix-7)</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Compact Modular</a:t>
                      </a:r>
                      <a:endParaRPr lang="en-US" sz="1100"/>
                    </a:p>
                    <a:p>
                      <a:pPr algn="ctr">
                        <a:lnSpc>
                          <a:spcPts val="2239"/>
                        </a:lnSpc>
                      </a:pPr>
                      <a:r>
                        <a:rPr lang="en-US" sz="1599">
                          <a:solidFill>
                            <a:srgbClr val="FFFFFF"/>
                          </a:solidFill>
                          <a:latin typeface="Arimo"/>
                          <a:ea typeface="Arimo"/>
                          <a:cs typeface="Arimo"/>
                          <a:sym typeface="Arimo"/>
                        </a:rPr>
                        <a:t>  Multiplication Unit (MMU) and optimized Schoolbook polynomial multiplication</a:t>
                      </a:r>
                    </a:p>
                    <a:p>
                      <a:pPr algn="ctr">
                        <a:lnSpc>
                          <a:spcPts val="2239"/>
                        </a:lnSpc>
                      </a:pPr>
                      <a:r>
                        <a:rPr lang="en-US" sz="1599">
                          <a:solidFill>
                            <a:srgbClr val="FFFFFF"/>
                          </a:solidFill>
                          <a:latin typeface="Arimo"/>
                          <a:ea typeface="Arimo"/>
                          <a:cs typeface="Arimo"/>
                          <a:sym typeface="Arimo"/>
                        </a:rPr>
                        <a:t>  replacing NTT (74% SLICE savings)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High – Provides area-optimized baseline and alternative polynomial arithmetic strategies for</a:t>
                      </a:r>
                      <a:endParaRPr lang="en-US" sz="1100"/>
                    </a:p>
                    <a:p>
                      <a:pPr algn="ctr">
                        <a:lnSpc>
                          <a:spcPts val="2239"/>
                        </a:lnSpc>
                      </a:pPr>
                      <a:r>
                        <a:rPr lang="en-US" sz="1599">
                          <a:solidFill>
                            <a:srgbClr val="FFFFFF"/>
                          </a:solidFill>
                          <a:latin typeface="Arimo"/>
                          <a:ea typeface="Arimo"/>
                          <a:cs typeface="Arimo"/>
                          <a:sym typeface="Arimo"/>
                        </a:rPr>
                        <a:t>  SoC integration</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2099564">
                <a:tc>
                  <a:txBody>
                    <a:bodyPr/>
                    <a:lstStyle/>
                    <a:p>
                      <a:pPr algn="ctr">
                        <a:lnSpc>
                          <a:spcPts val="2239"/>
                        </a:lnSpc>
                        <a:defRPr/>
                      </a:pPr>
                      <a:r>
                        <a:rPr lang="en-US" sz="1599">
                          <a:solidFill>
                            <a:srgbClr val="FFFFFF"/>
                          </a:solidFill>
                          <a:latin typeface="Arimo"/>
                          <a:ea typeface="Arimo"/>
                          <a:cs typeface="Arimo"/>
                          <a:sym typeface="Arimo"/>
                        </a:rPr>
                        <a:t>Constantin-Sukul et al. – Transient Execution Attacks on Kyber</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2024</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Microarchitectural security &amp; side-channel analysis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CPU/ Microarchitectural Analysis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Key</a:t>
                      </a:r>
                      <a:endParaRPr lang="en-US" sz="1100"/>
                    </a:p>
                    <a:p>
                      <a:pPr algn="ctr">
                        <a:lnSpc>
                          <a:spcPts val="2239"/>
                        </a:lnSpc>
                      </a:pPr>
                      <a:r>
                        <a:rPr lang="en-US" sz="1599">
                          <a:solidFill>
                            <a:srgbClr val="FFFFFF"/>
                          </a:solidFill>
                          <a:latin typeface="Arimo"/>
                          <a:ea typeface="Arimo"/>
                          <a:cs typeface="Arimo"/>
                          <a:sym typeface="Arimo"/>
                        </a:rPr>
                        <a:t>  recovery against static Kyber using Downfall (Gather Data Sampling) and</a:t>
                      </a:r>
                    </a:p>
                    <a:p>
                      <a:pPr algn="ctr">
                        <a:lnSpc>
                          <a:spcPts val="2239"/>
                        </a:lnSpc>
                      </a:pPr>
                      <a:r>
                        <a:rPr lang="en-US" sz="1599">
                          <a:solidFill>
                            <a:srgbClr val="FFFFFF"/>
                          </a:solidFill>
                          <a:latin typeface="Arimo"/>
                          <a:ea typeface="Arimo"/>
                          <a:cs typeface="Arimo"/>
                          <a:sym typeface="Arimo"/>
                        </a:rPr>
                        <a:t>  Flush+Reload transient execution attacks (&lt;40 mins)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239"/>
                        </a:lnSpc>
                        <a:defRPr/>
                      </a:pPr>
                      <a:r>
                        <a:rPr lang="en-US" sz="1599">
                          <a:solidFill>
                            <a:srgbClr val="FFFFFF"/>
                          </a:solidFill>
                          <a:latin typeface="Arimo"/>
                          <a:ea typeface="Arimo"/>
                          <a:cs typeface="Arimo"/>
                          <a:sym typeface="Arimo"/>
                        </a:rPr>
                        <a:t>Moderate– Highlights microarchitectural side-channel risks when integrating PQC</a:t>
                      </a:r>
                      <a:endParaRPr lang="en-US" sz="1100"/>
                    </a:p>
                    <a:p>
                      <a:pPr algn="ctr">
                        <a:lnSpc>
                          <a:spcPts val="2239"/>
                        </a:lnSpc>
                      </a:pPr>
                      <a:r>
                        <a:rPr lang="en-US" sz="1599">
                          <a:solidFill>
                            <a:srgbClr val="FFFFFF"/>
                          </a:solidFill>
                          <a:latin typeface="Arimo"/>
                          <a:ea typeface="Arimo"/>
                          <a:cs typeface="Arimo"/>
                          <a:sym typeface="Arimo"/>
                        </a:rPr>
                        <a:t>  accelerators into processor pipelines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TextBox 7"/>
          <p:cNvSpPr txBox="1"/>
          <p:nvPr/>
        </p:nvSpPr>
        <p:spPr>
          <a:xfrm>
            <a:off x="1028700" y="7357219"/>
            <a:ext cx="16022423" cy="1340739"/>
          </a:xfrm>
          <a:prstGeom prst="rect">
            <a:avLst/>
          </a:prstGeom>
        </p:spPr>
        <p:txBody>
          <a:bodyPr lIns="0" tIns="0" rIns="0" bIns="0" rtlCol="0" anchor="t">
            <a:spAutoFit/>
          </a:bodyPr>
          <a:lstStyle/>
          <a:p>
            <a:pPr algn="l">
              <a:lnSpc>
                <a:spcPts val="3588"/>
              </a:lnSpc>
              <a:spcBef>
                <a:spcPct val="0"/>
              </a:spcBef>
            </a:pPr>
            <a:r>
              <a:rPr lang="en-US" sz="2600">
                <a:solidFill>
                  <a:srgbClr val="FFFFFF"/>
                </a:solidFill>
                <a:latin typeface="Arimo"/>
                <a:ea typeface="Arimo"/>
                <a:cs typeface="Arimo"/>
                <a:sym typeface="Arimo"/>
              </a:rPr>
              <a:t>Existing ML-KEM research focuses mainly on accelerator and NTT optimization. Limited work demonstrates a pipelined, optimized ML-KEM-512 accelerator integrated with PicoRV32 and taken through complete RTL verification, synthesis, physical design, and GDSII generation.</a:t>
            </a:r>
          </a:p>
        </p:txBody>
      </p:sp>
      <p:sp>
        <p:nvSpPr>
          <p:cNvPr id="8" name="Freeform 8"/>
          <p:cNvSpPr/>
          <p:nvPr/>
        </p:nvSpPr>
        <p:spPr>
          <a:xfrm>
            <a:off x="16083997"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3"/>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2625857" y="4278080"/>
            <a:ext cx="13036285" cy="2518029"/>
          </a:xfrm>
          <a:prstGeom prst="rect">
            <a:avLst/>
          </a:prstGeom>
        </p:spPr>
        <p:txBody>
          <a:bodyPr lIns="0" tIns="0" rIns="0" bIns="0" rtlCol="0" anchor="t">
            <a:spAutoFit/>
          </a:bodyPr>
          <a:lstStyle/>
          <a:p>
            <a:pPr algn="ctr">
              <a:lnSpc>
                <a:spcPts val="4967"/>
              </a:lnSpc>
            </a:pPr>
            <a:r>
              <a:rPr lang="en-US" sz="3600">
                <a:solidFill>
                  <a:srgbClr val="FFFFFF"/>
                </a:solidFill>
                <a:latin typeface="Arimo"/>
                <a:ea typeface="Arimo"/>
                <a:cs typeface="Arimo"/>
                <a:sym typeface="Arimo"/>
              </a:rPr>
              <a:t>To design, optimize, and verify a pipelined ML-KEM-512 hardware accelerator integrated with PicoRV32, and demonstrate its complete ASIC implementation from RTL through logic synthesis and physical design to GDSII.</a:t>
            </a:r>
          </a:p>
        </p:txBody>
      </p:sp>
      <p:sp>
        <p:nvSpPr>
          <p:cNvPr id="5" name="TextBox 5"/>
          <p:cNvSpPr txBox="1"/>
          <p:nvPr/>
        </p:nvSpPr>
        <p:spPr>
          <a:xfrm>
            <a:off x="5624175" y="2779450"/>
            <a:ext cx="7039650" cy="1015365"/>
          </a:xfrm>
          <a:prstGeom prst="rect">
            <a:avLst/>
          </a:prstGeom>
        </p:spPr>
        <p:txBody>
          <a:bodyPr lIns="0" tIns="0" rIns="0" bIns="0" rtlCol="0" anchor="t">
            <a:spAutoFit/>
          </a:bodyPr>
          <a:lstStyle/>
          <a:p>
            <a:pPr algn="ctr">
              <a:lnSpc>
                <a:spcPts val="8280"/>
              </a:lnSpc>
            </a:pPr>
            <a:r>
              <a:rPr lang="en-US" sz="6000" b="1">
                <a:solidFill>
                  <a:srgbClr val="40C5C5"/>
                </a:solidFill>
                <a:latin typeface="Darker Grotesque Bold"/>
                <a:ea typeface="Darker Grotesque Bold"/>
                <a:cs typeface="Darker Grotesque Bold"/>
                <a:sym typeface="Darker Grotesque Bold"/>
              </a:rPr>
              <a:t>OUR OBJECTIVE</a:t>
            </a:r>
          </a:p>
        </p:txBody>
      </p:sp>
      <p:sp>
        <p:nvSpPr>
          <p:cNvPr id="6" name="Freeform 6"/>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3124335" y="793206"/>
            <a:ext cx="24558827" cy="8709653"/>
          </a:xfrm>
          <a:custGeom>
            <a:avLst/>
            <a:gdLst/>
            <a:ahLst/>
            <a:cxnLst/>
            <a:rect l="l" t="t" r="r" b="b"/>
            <a:pathLst>
              <a:path w="24558827" h="8709653">
                <a:moveTo>
                  <a:pt x="0" y="0"/>
                </a:moveTo>
                <a:lnTo>
                  <a:pt x="24558827" y="0"/>
                </a:lnTo>
                <a:lnTo>
                  <a:pt x="24558827" y="8709653"/>
                </a:lnTo>
                <a:lnTo>
                  <a:pt x="0" y="8709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16329550" y="4401480"/>
            <a:ext cx="1484052" cy="1484052"/>
          </a:xfrm>
          <a:custGeom>
            <a:avLst/>
            <a:gdLst/>
            <a:ahLst/>
            <a:cxnLst/>
            <a:rect l="l" t="t" r="r" b="b"/>
            <a:pathLst>
              <a:path w="1484052" h="1484052">
                <a:moveTo>
                  <a:pt x="0" y="0"/>
                </a:moveTo>
                <a:lnTo>
                  <a:pt x="1484052" y="0"/>
                </a:lnTo>
                <a:lnTo>
                  <a:pt x="1484052" y="1484052"/>
                </a:lnTo>
                <a:lnTo>
                  <a:pt x="0" y="1484052"/>
                </a:lnTo>
                <a:lnTo>
                  <a:pt x="0" y="0"/>
                </a:lnTo>
                <a:close/>
              </a:path>
            </a:pathLst>
          </a:custGeom>
          <a:blipFill>
            <a:blip r:embed="rId5"/>
            <a:stretch>
              <a:fillRect/>
            </a:stretch>
          </a:blipFill>
        </p:spPr>
      </p:sp>
      <p:sp>
        <p:nvSpPr>
          <p:cNvPr id="5" name="TextBox 5"/>
          <p:cNvSpPr txBox="1"/>
          <p:nvPr/>
        </p:nvSpPr>
        <p:spPr>
          <a:xfrm>
            <a:off x="1608611" y="4127791"/>
            <a:ext cx="15019987" cy="1329309"/>
          </a:xfrm>
          <a:prstGeom prst="rect">
            <a:avLst/>
          </a:prstGeom>
        </p:spPr>
        <p:txBody>
          <a:bodyPr lIns="0" tIns="0" rIns="0" bIns="0" rtlCol="0" anchor="t">
            <a:spAutoFit/>
          </a:bodyPr>
          <a:lstStyle/>
          <a:p>
            <a:pPr algn="ctr">
              <a:lnSpc>
                <a:spcPts val="10098"/>
              </a:lnSpc>
            </a:pPr>
            <a:r>
              <a:rPr lang="en-US" sz="10200" b="1">
                <a:solidFill>
                  <a:srgbClr val="869FB2"/>
                </a:solidFill>
                <a:latin typeface="Darker Grotesque Bold"/>
                <a:ea typeface="Darker Grotesque Bold"/>
                <a:cs typeface="Darker Grotesque Bold"/>
                <a:sym typeface="Darker Grotesque Bold"/>
              </a:rPr>
              <a:t>Proposed Approach</a:t>
            </a:r>
          </a:p>
        </p:txBody>
      </p:sp>
      <p:sp>
        <p:nvSpPr>
          <p:cNvPr id="6" name="TextBox 6"/>
          <p:cNvSpPr txBox="1"/>
          <p:nvPr/>
        </p:nvSpPr>
        <p:spPr>
          <a:xfrm>
            <a:off x="5200460" y="2956216"/>
            <a:ext cx="7836288" cy="971550"/>
          </a:xfrm>
          <a:prstGeom prst="rect">
            <a:avLst/>
          </a:prstGeom>
        </p:spPr>
        <p:txBody>
          <a:bodyPr lIns="0" tIns="0" rIns="0" bIns="0" rtlCol="0" anchor="t">
            <a:spAutoFit/>
          </a:bodyPr>
          <a:lstStyle/>
          <a:p>
            <a:pPr algn="ctr">
              <a:lnSpc>
                <a:spcPts val="7679"/>
              </a:lnSpc>
            </a:pPr>
            <a:r>
              <a:rPr lang="en-US" sz="6399" b="1">
                <a:solidFill>
                  <a:srgbClr val="765DF3"/>
                </a:solidFill>
                <a:latin typeface="Darker Grotesque Bold"/>
                <a:ea typeface="Darker Grotesque Bold"/>
                <a:cs typeface="Darker Grotesque Bold"/>
                <a:sym typeface="Darker Grotesque Bold"/>
              </a:rPr>
              <a:t>Section</a:t>
            </a:r>
            <a:r>
              <a:rPr lang="en-US" sz="6399" b="1">
                <a:solidFill>
                  <a:srgbClr val="40C5C5"/>
                </a:solidFill>
                <a:latin typeface="Darker Grotesque Bold"/>
                <a:ea typeface="Darker Grotesque Bold"/>
                <a:cs typeface="Darker Grotesque Bold"/>
                <a:sym typeface="Darker Grotesque Bold"/>
              </a:rPr>
              <a:t> </a:t>
            </a:r>
            <a:r>
              <a:rPr lang="en-US" sz="6399" b="1">
                <a:solidFill>
                  <a:srgbClr val="E3E9ED"/>
                </a:solidFill>
                <a:latin typeface="Darker Grotesque Bold"/>
                <a:ea typeface="Darker Grotesque Bold"/>
                <a:cs typeface="Darker Grotesque Bold"/>
                <a:sym typeface="Darker Grotesque Bold"/>
              </a:rPr>
              <a:t>- </a:t>
            </a:r>
            <a:r>
              <a:rPr lang="en-US" sz="6399" b="1">
                <a:solidFill>
                  <a:srgbClr val="40C5C5"/>
                </a:solidFill>
                <a:latin typeface="Darker Grotesque Bold"/>
                <a:ea typeface="Darker Grotesque Bold"/>
                <a:cs typeface="Darker Grotesque Bold"/>
                <a:sym typeface="Darker Grotesque Bold"/>
              </a:rPr>
              <a:t>02</a:t>
            </a:r>
          </a:p>
        </p:txBody>
      </p:sp>
      <p:sp>
        <p:nvSpPr>
          <p:cNvPr id="7" name="Freeform 7"/>
          <p:cNvSpPr/>
          <p:nvPr/>
        </p:nvSpPr>
        <p:spPr>
          <a:xfrm>
            <a:off x="1032400" y="1530252"/>
            <a:ext cx="1760604" cy="1760552"/>
          </a:xfrm>
          <a:custGeom>
            <a:avLst/>
            <a:gdLst/>
            <a:ahLst/>
            <a:cxnLst/>
            <a:rect l="l" t="t" r="r" b="b"/>
            <a:pathLst>
              <a:path w="1760604" h="1760552">
                <a:moveTo>
                  <a:pt x="0" y="0"/>
                </a:moveTo>
                <a:lnTo>
                  <a:pt x="1760604" y="0"/>
                </a:lnTo>
                <a:lnTo>
                  <a:pt x="1760604" y="1760552"/>
                </a:lnTo>
                <a:lnTo>
                  <a:pt x="0" y="1760552"/>
                </a:lnTo>
                <a:lnTo>
                  <a:pt x="0" y="0"/>
                </a:lnTo>
                <a:close/>
              </a:path>
            </a:pathLst>
          </a:custGeom>
          <a:blipFill>
            <a:blip r:embed="rId6"/>
            <a:stretch>
              <a:fillRect b="-2"/>
            </a:stretch>
          </a:blipFill>
        </p:spPr>
      </p:sp>
      <p:sp>
        <p:nvSpPr>
          <p:cNvPr id="8" name="TextBox 8"/>
          <p:cNvSpPr txBox="1"/>
          <p:nvPr/>
        </p:nvSpPr>
        <p:spPr>
          <a:xfrm>
            <a:off x="5100029" y="6258237"/>
            <a:ext cx="8037150" cy="1259586"/>
          </a:xfrm>
          <a:prstGeom prst="rect">
            <a:avLst/>
          </a:prstGeom>
        </p:spPr>
        <p:txBody>
          <a:bodyPr lIns="0" tIns="0" rIns="0" bIns="0" rtlCol="0" anchor="t">
            <a:spAutoFit/>
          </a:bodyPr>
          <a:lstStyle/>
          <a:p>
            <a:pPr algn="ctr">
              <a:lnSpc>
                <a:spcPts val="3311"/>
              </a:lnSpc>
            </a:pPr>
            <a:r>
              <a:rPr lang="en-US" sz="2400">
                <a:solidFill>
                  <a:srgbClr val="FFFFFF"/>
                </a:solidFill>
                <a:latin typeface="Arimo"/>
                <a:ea typeface="Arimo"/>
                <a:cs typeface="Arimo"/>
                <a:sym typeface="Arimo"/>
              </a:rPr>
              <a:t>Proposed Solution</a:t>
            </a:r>
          </a:p>
          <a:p>
            <a:pPr algn="ctr">
              <a:lnSpc>
                <a:spcPts val="3311"/>
              </a:lnSpc>
            </a:pPr>
            <a:r>
              <a:rPr lang="en-US" sz="2400">
                <a:solidFill>
                  <a:srgbClr val="FFFFFF"/>
                </a:solidFill>
                <a:latin typeface="Arimo"/>
                <a:ea typeface="Arimo"/>
                <a:cs typeface="Arimo"/>
                <a:sym typeface="Arimo"/>
              </a:rPr>
              <a:t>System Architecture / Methodology</a:t>
            </a:r>
          </a:p>
          <a:p>
            <a:pPr algn="ctr">
              <a:lnSpc>
                <a:spcPts val="3311"/>
              </a:lnSpc>
            </a:pPr>
            <a:r>
              <a:rPr lang="en-US" sz="2400">
                <a:solidFill>
                  <a:srgbClr val="FFFFFF"/>
                </a:solidFill>
                <a:latin typeface="Arimo"/>
                <a:ea typeface="Arimo"/>
                <a:cs typeface="Arimo"/>
                <a:sym typeface="Arimo"/>
              </a:rPr>
              <a:t>Scope &amp; Limitations</a:t>
            </a:r>
          </a:p>
        </p:txBody>
      </p:sp>
      <p:sp>
        <p:nvSpPr>
          <p:cNvPr id="9" name="Freeform 9"/>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7"/>
            <a:stretch>
              <a:fillRect/>
            </a:stretch>
          </a:blipFill>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531425" y="633413"/>
            <a:ext cx="1522515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Proposed SoC Architecture</a:t>
            </a:r>
          </a:p>
        </p:txBody>
      </p:sp>
      <p:grpSp>
        <p:nvGrpSpPr>
          <p:cNvPr id="5" name="Group 5"/>
          <p:cNvGrpSpPr/>
          <p:nvPr/>
        </p:nvGrpSpPr>
        <p:grpSpPr>
          <a:xfrm>
            <a:off x="7867038" y="1988153"/>
            <a:ext cx="3334146" cy="1174737"/>
            <a:chOff x="0" y="0"/>
            <a:chExt cx="941556" cy="331743"/>
          </a:xfrm>
        </p:grpSpPr>
        <p:sp>
          <p:nvSpPr>
            <p:cNvPr id="6" name="Freeform 6"/>
            <p:cNvSpPr/>
            <p:nvPr/>
          </p:nvSpPr>
          <p:spPr>
            <a:xfrm>
              <a:off x="0" y="0"/>
              <a:ext cx="941556" cy="331743"/>
            </a:xfrm>
            <a:custGeom>
              <a:avLst/>
              <a:gdLst/>
              <a:ahLst/>
              <a:cxnLst/>
              <a:rect l="l" t="t" r="r" b="b"/>
              <a:pathLst>
                <a:path w="941556" h="331743">
                  <a:moveTo>
                    <a:pt x="118422" y="0"/>
                  </a:moveTo>
                  <a:lnTo>
                    <a:pt x="823133" y="0"/>
                  </a:lnTo>
                  <a:cubicBezTo>
                    <a:pt x="854541" y="0"/>
                    <a:pt x="884662" y="12477"/>
                    <a:pt x="906870" y="34685"/>
                  </a:cubicBezTo>
                  <a:cubicBezTo>
                    <a:pt x="929079" y="56894"/>
                    <a:pt x="941556" y="87015"/>
                    <a:pt x="941556" y="118422"/>
                  </a:cubicBezTo>
                  <a:lnTo>
                    <a:pt x="941556" y="213321"/>
                  </a:lnTo>
                  <a:cubicBezTo>
                    <a:pt x="941556" y="278724"/>
                    <a:pt x="888536" y="331743"/>
                    <a:pt x="823133" y="331743"/>
                  </a:cubicBezTo>
                  <a:lnTo>
                    <a:pt x="118422" y="331743"/>
                  </a:lnTo>
                  <a:cubicBezTo>
                    <a:pt x="87015" y="331743"/>
                    <a:pt x="56894" y="319267"/>
                    <a:pt x="34685" y="297058"/>
                  </a:cubicBezTo>
                  <a:cubicBezTo>
                    <a:pt x="12477" y="274849"/>
                    <a:pt x="0" y="244728"/>
                    <a:pt x="0" y="213321"/>
                  </a:cubicBezTo>
                  <a:lnTo>
                    <a:pt x="0" y="118422"/>
                  </a:lnTo>
                  <a:cubicBezTo>
                    <a:pt x="0" y="87015"/>
                    <a:pt x="12477" y="56894"/>
                    <a:pt x="34685" y="34685"/>
                  </a:cubicBezTo>
                  <a:cubicBezTo>
                    <a:pt x="56894" y="12477"/>
                    <a:pt x="87015" y="0"/>
                    <a:pt x="118422" y="0"/>
                  </a:cubicBezTo>
                  <a:close/>
                </a:path>
              </a:pathLst>
            </a:custGeom>
            <a:solidFill>
              <a:srgbClr val="0C6161"/>
            </a:solidFill>
          </p:spPr>
        </p:sp>
        <p:sp>
          <p:nvSpPr>
            <p:cNvPr id="7" name="TextBox 7"/>
            <p:cNvSpPr txBox="1"/>
            <p:nvPr/>
          </p:nvSpPr>
          <p:spPr>
            <a:xfrm>
              <a:off x="0" y="-38100"/>
              <a:ext cx="941556" cy="369843"/>
            </a:xfrm>
            <a:prstGeom prst="rect">
              <a:avLst/>
            </a:prstGeom>
          </p:spPr>
          <p:txBody>
            <a:bodyPr lIns="50800" tIns="50800" rIns="50800" bIns="50800" rtlCol="0" anchor="ctr"/>
            <a:lstStyle/>
            <a:p>
              <a:pPr algn="ctr">
                <a:lnSpc>
                  <a:spcPts val="3359"/>
                </a:lnSpc>
              </a:pPr>
              <a:r>
                <a:rPr lang="en-US" sz="2400">
                  <a:solidFill>
                    <a:srgbClr val="FFFFFF"/>
                  </a:solidFill>
                  <a:latin typeface="Canva Sans"/>
                  <a:ea typeface="Canva Sans"/>
                  <a:cs typeface="Canva Sans"/>
                  <a:sym typeface="Canva Sans"/>
                </a:rPr>
                <a:t>PicoRV32</a:t>
              </a:r>
            </a:p>
            <a:p>
              <a:pPr algn="ctr">
                <a:lnSpc>
                  <a:spcPts val="3359"/>
                </a:lnSpc>
                <a:spcBef>
                  <a:spcPct val="0"/>
                </a:spcBef>
              </a:pPr>
              <a:r>
                <a:rPr lang="en-US" sz="2400">
                  <a:solidFill>
                    <a:srgbClr val="FFFFFF"/>
                  </a:solidFill>
                  <a:latin typeface="Canva Sans"/>
                  <a:ea typeface="Canva Sans"/>
                  <a:cs typeface="Canva Sans"/>
                  <a:sym typeface="Canva Sans"/>
                </a:rPr>
                <a:t>RISCV CPU</a:t>
              </a:r>
            </a:p>
          </p:txBody>
        </p:sp>
      </p:grpSp>
      <p:grpSp>
        <p:nvGrpSpPr>
          <p:cNvPr id="8" name="Group 8"/>
          <p:cNvGrpSpPr/>
          <p:nvPr/>
        </p:nvGrpSpPr>
        <p:grpSpPr>
          <a:xfrm>
            <a:off x="7530028" y="3473301"/>
            <a:ext cx="4008167" cy="825120"/>
            <a:chOff x="0" y="0"/>
            <a:chExt cx="1131897" cy="233012"/>
          </a:xfrm>
        </p:grpSpPr>
        <p:sp>
          <p:nvSpPr>
            <p:cNvPr id="9" name="Freeform 9"/>
            <p:cNvSpPr/>
            <p:nvPr/>
          </p:nvSpPr>
          <p:spPr>
            <a:xfrm>
              <a:off x="0" y="0"/>
              <a:ext cx="1131897" cy="233012"/>
            </a:xfrm>
            <a:custGeom>
              <a:avLst/>
              <a:gdLst/>
              <a:ahLst/>
              <a:cxnLst/>
              <a:rect l="l" t="t" r="r" b="b"/>
              <a:pathLst>
                <a:path w="1131897" h="233012">
                  <a:moveTo>
                    <a:pt x="98508" y="0"/>
                  </a:moveTo>
                  <a:lnTo>
                    <a:pt x="1033389" y="0"/>
                  </a:lnTo>
                  <a:cubicBezTo>
                    <a:pt x="1059515" y="0"/>
                    <a:pt x="1084571" y="10379"/>
                    <a:pt x="1103045" y="28852"/>
                  </a:cubicBezTo>
                  <a:cubicBezTo>
                    <a:pt x="1121519" y="47326"/>
                    <a:pt x="1131897" y="72382"/>
                    <a:pt x="1131897" y="98508"/>
                  </a:cubicBezTo>
                  <a:lnTo>
                    <a:pt x="1131897" y="134504"/>
                  </a:lnTo>
                  <a:cubicBezTo>
                    <a:pt x="1131897" y="188908"/>
                    <a:pt x="1087794" y="233012"/>
                    <a:pt x="1033389" y="233012"/>
                  </a:cubicBezTo>
                  <a:lnTo>
                    <a:pt x="98508" y="233012"/>
                  </a:lnTo>
                  <a:cubicBezTo>
                    <a:pt x="44104" y="233012"/>
                    <a:pt x="0" y="188908"/>
                    <a:pt x="0" y="134504"/>
                  </a:cubicBezTo>
                  <a:lnTo>
                    <a:pt x="0" y="98508"/>
                  </a:lnTo>
                  <a:cubicBezTo>
                    <a:pt x="0" y="44104"/>
                    <a:pt x="44104" y="0"/>
                    <a:pt x="98508" y="0"/>
                  </a:cubicBezTo>
                  <a:close/>
                </a:path>
              </a:pathLst>
            </a:custGeom>
            <a:solidFill>
              <a:srgbClr val="CFD9E0"/>
            </a:solidFill>
          </p:spPr>
        </p:sp>
        <p:sp>
          <p:nvSpPr>
            <p:cNvPr id="10" name="TextBox 10"/>
            <p:cNvSpPr txBox="1"/>
            <p:nvPr/>
          </p:nvSpPr>
          <p:spPr>
            <a:xfrm>
              <a:off x="0" y="-38100"/>
              <a:ext cx="1131897" cy="271112"/>
            </a:xfrm>
            <a:prstGeom prst="rect">
              <a:avLst/>
            </a:prstGeom>
          </p:spPr>
          <p:txBody>
            <a:bodyPr lIns="50800" tIns="50800" rIns="50800" bIns="50800" rtlCol="0" anchor="ctr"/>
            <a:lstStyle/>
            <a:p>
              <a:pPr algn="ctr">
                <a:lnSpc>
                  <a:spcPts val="3359"/>
                </a:lnSpc>
                <a:spcBef>
                  <a:spcPct val="0"/>
                </a:spcBef>
              </a:pPr>
              <a:r>
                <a:rPr lang="en-US" sz="2400">
                  <a:solidFill>
                    <a:srgbClr val="0E2A47"/>
                  </a:solidFill>
                  <a:latin typeface="Canva Sans"/>
                  <a:ea typeface="Canva Sans"/>
                  <a:cs typeface="Canva Sans"/>
                  <a:sym typeface="Canva Sans"/>
                </a:rPr>
                <a:t>Memory Mapped Bus</a:t>
              </a:r>
            </a:p>
          </p:txBody>
        </p:sp>
      </p:grpSp>
      <p:grpSp>
        <p:nvGrpSpPr>
          <p:cNvPr id="11" name="Group 11"/>
          <p:cNvGrpSpPr/>
          <p:nvPr/>
        </p:nvGrpSpPr>
        <p:grpSpPr>
          <a:xfrm>
            <a:off x="12472268" y="4875285"/>
            <a:ext cx="3428902" cy="963722"/>
            <a:chOff x="0" y="0"/>
            <a:chExt cx="968314" cy="272153"/>
          </a:xfrm>
        </p:grpSpPr>
        <p:sp>
          <p:nvSpPr>
            <p:cNvPr id="12" name="Freeform 12"/>
            <p:cNvSpPr/>
            <p:nvPr/>
          </p:nvSpPr>
          <p:spPr>
            <a:xfrm>
              <a:off x="0" y="0"/>
              <a:ext cx="968314" cy="272153"/>
            </a:xfrm>
            <a:custGeom>
              <a:avLst/>
              <a:gdLst/>
              <a:ahLst/>
              <a:cxnLst/>
              <a:rect l="l" t="t" r="r" b="b"/>
              <a:pathLst>
                <a:path w="968314" h="272153">
                  <a:moveTo>
                    <a:pt x="115150" y="0"/>
                  </a:moveTo>
                  <a:lnTo>
                    <a:pt x="853164" y="0"/>
                  </a:lnTo>
                  <a:cubicBezTo>
                    <a:pt x="916760" y="0"/>
                    <a:pt x="968314" y="51554"/>
                    <a:pt x="968314" y="115150"/>
                  </a:cubicBezTo>
                  <a:lnTo>
                    <a:pt x="968314" y="157003"/>
                  </a:lnTo>
                  <a:cubicBezTo>
                    <a:pt x="968314" y="220598"/>
                    <a:pt x="916760" y="272153"/>
                    <a:pt x="853164" y="272153"/>
                  </a:cubicBezTo>
                  <a:lnTo>
                    <a:pt x="115150" y="272153"/>
                  </a:lnTo>
                  <a:cubicBezTo>
                    <a:pt x="51554" y="272153"/>
                    <a:pt x="0" y="220598"/>
                    <a:pt x="0" y="157003"/>
                  </a:cubicBezTo>
                  <a:lnTo>
                    <a:pt x="0" y="115150"/>
                  </a:lnTo>
                  <a:cubicBezTo>
                    <a:pt x="0" y="51554"/>
                    <a:pt x="51554" y="0"/>
                    <a:pt x="115150" y="0"/>
                  </a:cubicBezTo>
                  <a:close/>
                </a:path>
              </a:pathLst>
            </a:custGeom>
            <a:solidFill>
              <a:srgbClr val="6044EA"/>
            </a:solidFill>
          </p:spPr>
        </p:sp>
        <p:sp>
          <p:nvSpPr>
            <p:cNvPr id="13" name="TextBox 13"/>
            <p:cNvSpPr txBox="1"/>
            <p:nvPr/>
          </p:nvSpPr>
          <p:spPr>
            <a:xfrm>
              <a:off x="0" y="-38100"/>
              <a:ext cx="968314" cy="310253"/>
            </a:xfrm>
            <a:prstGeom prst="rect">
              <a:avLst/>
            </a:prstGeom>
          </p:spPr>
          <p:txBody>
            <a:bodyPr lIns="50800" tIns="50800" rIns="50800" bIns="50800" rtlCol="0" anchor="ctr"/>
            <a:lstStyle/>
            <a:p>
              <a:pPr algn="ctr">
                <a:lnSpc>
                  <a:spcPts val="3359"/>
                </a:lnSpc>
              </a:pPr>
              <a:r>
                <a:rPr lang="en-US" sz="2400">
                  <a:solidFill>
                    <a:srgbClr val="FFFFFF"/>
                  </a:solidFill>
                  <a:latin typeface="Canva Sans"/>
                  <a:ea typeface="Canva Sans"/>
                  <a:cs typeface="Canva Sans"/>
                  <a:sym typeface="Canva Sans"/>
                </a:rPr>
                <a:t>Peripherals</a:t>
              </a:r>
            </a:p>
            <a:p>
              <a:pPr algn="ctr">
                <a:lnSpc>
                  <a:spcPts val="3359"/>
                </a:lnSpc>
                <a:spcBef>
                  <a:spcPct val="0"/>
                </a:spcBef>
              </a:pPr>
              <a:r>
                <a:rPr lang="en-US" sz="2400">
                  <a:solidFill>
                    <a:srgbClr val="FFFFFF"/>
                  </a:solidFill>
                  <a:latin typeface="Canva Sans"/>
                  <a:ea typeface="Canva Sans"/>
                  <a:cs typeface="Canva Sans"/>
                  <a:sym typeface="Canva Sans"/>
                </a:rPr>
                <a:t>UART/GPIO</a:t>
              </a:r>
            </a:p>
          </p:txBody>
        </p:sp>
      </p:grpSp>
      <p:grpSp>
        <p:nvGrpSpPr>
          <p:cNvPr id="14" name="Group 14"/>
          <p:cNvGrpSpPr/>
          <p:nvPr/>
        </p:nvGrpSpPr>
        <p:grpSpPr>
          <a:xfrm>
            <a:off x="7775157" y="4979755"/>
            <a:ext cx="3428902" cy="754782"/>
            <a:chOff x="0" y="0"/>
            <a:chExt cx="968314" cy="213149"/>
          </a:xfrm>
        </p:grpSpPr>
        <p:sp>
          <p:nvSpPr>
            <p:cNvPr id="15" name="Freeform 15"/>
            <p:cNvSpPr/>
            <p:nvPr/>
          </p:nvSpPr>
          <p:spPr>
            <a:xfrm>
              <a:off x="0" y="0"/>
              <a:ext cx="968314" cy="213149"/>
            </a:xfrm>
            <a:custGeom>
              <a:avLst/>
              <a:gdLst/>
              <a:ahLst/>
              <a:cxnLst/>
              <a:rect l="l" t="t" r="r" b="b"/>
              <a:pathLst>
                <a:path w="968314" h="213149">
                  <a:moveTo>
                    <a:pt x="106574" y="0"/>
                  </a:moveTo>
                  <a:lnTo>
                    <a:pt x="861740" y="0"/>
                  </a:lnTo>
                  <a:cubicBezTo>
                    <a:pt x="890005" y="0"/>
                    <a:pt x="917113" y="11228"/>
                    <a:pt x="937099" y="31215"/>
                  </a:cubicBezTo>
                  <a:cubicBezTo>
                    <a:pt x="957086" y="51201"/>
                    <a:pt x="968314" y="78309"/>
                    <a:pt x="968314" y="106574"/>
                  </a:cubicBezTo>
                  <a:lnTo>
                    <a:pt x="968314" y="106574"/>
                  </a:lnTo>
                  <a:cubicBezTo>
                    <a:pt x="968314" y="165434"/>
                    <a:pt x="920599" y="213149"/>
                    <a:pt x="861740" y="213149"/>
                  </a:cubicBezTo>
                  <a:lnTo>
                    <a:pt x="106574" y="213149"/>
                  </a:lnTo>
                  <a:cubicBezTo>
                    <a:pt x="78309" y="213149"/>
                    <a:pt x="51201" y="201920"/>
                    <a:pt x="31215" y="181934"/>
                  </a:cubicBezTo>
                  <a:cubicBezTo>
                    <a:pt x="11228" y="161947"/>
                    <a:pt x="0" y="134840"/>
                    <a:pt x="0" y="106574"/>
                  </a:cubicBezTo>
                  <a:lnTo>
                    <a:pt x="0" y="106574"/>
                  </a:lnTo>
                  <a:cubicBezTo>
                    <a:pt x="0" y="78309"/>
                    <a:pt x="11228" y="51201"/>
                    <a:pt x="31215" y="31215"/>
                  </a:cubicBezTo>
                  <a:cubicBezTo>
                    <a:pt x="51201" y="11228"/>
                    <a:pt x="78309" y="0"/>
                    <a:pt x="106574" y="0"/>
                  </a:cubicBezTo>
                  <a:close/>
                </a:path>
              </a:pathLst>
            </a:custGeom>
            <a:solidFill>
              <a:srgbClr val="6044EA"/>
            </a:solidFill>
          </p:spPr>
        </p:sp>
        <p:sp>
          <p:nvSpPr>
            <p:cNvPr id="16" name="TextBox 16"/>
            <p:cNvSpPr txBox="1"/>
            <p:nvPr/>
          </p:nvSpPr>
          <p:spPr>
            <a:xfrm>
              <a:off x="0" y="-38100"/>
              <a:ext cx="968314" cy="251249"/>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SRAM</a:t>
              </a:r>
            </a:p>
          </p:txBody>
        </p:sp>
      </p:grpSp>
      <p:grpSp>
        <p:nvGrpSpPr>
          <p:cNvPr id="17" name="Group 17"/>
          <p:cNvGrpSpPr/>
          <p:nvPr/>
        </p:nvGrpSpPr>
        <p:grpSpPr>
          <a:xfrm>
            <a:off x="3455048" y="4979755"/>
            <a:ext cx="3428902" cy="754782"/>
            <a:chOff x="0" y="0"/>
            <a:chExt cx="968314" cy="213149"/>
          </a:xfrm>
        </p:grpSpPr>
        <p:sp>
          <p:nvSpPr>
            <p:cNvPr id="18" name="Freeform 18"/>
            <p:cNvSpPr/>
            <p:nvPr/>
          </p:nvSpPr>
          <p:spPr>
            <a:xfrm>
              <a:off x="0" y="0"/>
              <a:ext cx="968314" cy="213149"/>
            </a:xfrm>
            <a:custGeom>
              <a:avLst/>
              <a:gdLst/>
              <a:ahLst/>
              <a:cxnLst/>
              <a:rect l="l" t="t" r="r" b="b"/>
              <a:pathLst>
                <a:path w="968314" h="213149">
                  <a:moveTo>
                    <a:pt x="106574" y="0"/>
                  </a:moveTo>
                  <a:lnTo>
                    <a:pt x="861740" y="0"/>
                  </a:lnTo>
                  <a:cubicBezTo>
                    <a:pt x="890005" y="0"/>
                    <a:pt x="917113" y="11228"/>
                    <a:pt x="937099" y="31215"/>
                  </a:cubicBezTo>
                  <a:cubicBezTo>
                    <a:pt x="957086" y="51201"/>
                    <a:pt x="968314" y="78309"/>
                    <a:pt x="968314" y="106574"/>
                  </a:cubicBezTo>
                  <a:lnTo>
                    <a:pt x="968314" y="106574"/>
                  </a:lnTo>
                  <a:cubicBezTo>
                    <a:pt x="968314" y="165434"/>
                    <a:pt x="920599" y="213149"/>
                    <a:pt x="861740" y="213149"/>
                  </a:cubicBezTo>
                  <a:lnTo>
                    <a:pt x="106574" y="213149"/>
                  </a:lnTo>
                  <a:cubicBezTo>
                    <a:pt x="78309" y="213149"/>
                    <a:pt x="51201" y="201920"/>
                    <a:pt x="31215" y="181934"/>
                  </a:cubicBezTo>
                  <a:cubicBezTo>
                    <a:pt x="11228" y="161947"/>
                    <a:pt x="0" y="134840"/>
                    <a:pt x="0" y="106574"/>
                  </a:cubicBezTo>
                  <a:lnTo>
                    <a:pt x="0" y="106574"/>
                  </a:lnTo>
                  <a:cubicBezTo>
                    <a:pt x="0" y="78309"/>
                    <a:pt x="11228" y="51201"/>
                    <a:pt x="31215" y="31215"/>
                  </a:cubicBezTo>
                  <a:cubicBezTo>
                    <a:pt x="51201" y="11228"/>
                    <a:pt x="78309" y="0"/>
                    <a:pt x="106574" y="0"/>
                  </a:cubicBezTo>
                  <a:close/>
                </a:path>
              </a:pathLst>
            </a:custGeom>
            <a:solidFill>
              <a:srgbClr val="6044EA"/>
            </a:solidFill>
          </p:spPr>
        </p:sp>
        <p:sp>
          <p:nvSpPr>
            <p:cNvPr id="19" name="TextBox 19"/>
            <p:cNvSpPr txBox="1"/>
            <p:nvPr/>
          </p:nvSpPr>
          <p:spPr>
            <a:xfrm>
              <a:off x="0" y="-38100"/>
              <a:ext cx="968314" cy="251249"/>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Program Memory</a:t>
              </a:r>
            </a:p>
          </p:txBody>
        </p:sp>
      </p:grpSp>
      <p:sp>
        <p:nvSpPr>
          <p:cNvPr id="20" name="AutoShape 20"/>
          <p:cNvSpPr/>
          <p:nvPr/>
        </p:nvSpPr>
        <p:spPr>
          <a:xfrm>
            <a:off x="5169499" y="4586853"/>
            <a:ext cx="0" cy="392902"/>
          </a:xfrm>
          <a:prstGeom prst="line">
            <a:avLst/>
          </a:prstGeom>
          <a:ln w="38100" cap="flat">
            <a:solidFill>
              <a:srgbClr val="FFFFFF"/>
            </a:solidFill>
            <a:prstDash val="solid"/>
            <a:headEnd type="none" w="sm" len="sm"/>
            <a:tailEnd type="arrow" w="med" len="sm"/>
          </a:ln>
        </p:spPr>
      </p:sp>
      <p:sp>
        <p:nvSpPr>
          <p:cNvPr id="21" name="AutoShape 21"/>
          <p:cNvSpPr/>
          <p:nvPr/>
        </p:nvSpPr>
        <p:spPr>
          <a:xfrm flipH="1">
            <a:off x="9489608" y="4586853"/>
            <a:ext cx="0" cy="392902"/>
          </a:xfrm>
          <a:prstGeom prst="line">
            <a:avLst/>
          </a:prstGeom>
          <a:ln w="38100" cap="flat">
            <a:solidFill>
              <a:srgbClr val="FFFFFF"/>
            </a:solidFill>
            <a:prstDash val="solid"/>
            <a:headEnd type="none" w="sm" len="sm"/>
            <a:tailEnd type="arrow" w="med" len="sm"/>
          </a:ln>
        </p:spPr>
      </p:sp>
      <p:sp>
        <p:nvSpPr>
          <p:cNvPr id="22" name="AutoShape 22"/>
          <p:cNvSpPr/>
          <p:nvPr/>
        </p:nvSpPr>
        <p:spPr>
          <a:xfrm>
            <a:off x="14186719" y="4586853"/>
            <a:ext cx="0" cy="288432"/>
          </a:xfrm>
          <a:prstGeom prst="line">
            <a:avLst/>
          </a:prstGeom>
          <a:ln w="38100" cap="flat">
            <a:solidFill>
              <a:srgbClr val="FFFFFF"/>
            </a:solidFill>
            <a:prstDash val="solid"/>
            <a:headEnd type="none" w="sm" len="sm"/>
            <a:tailEnd type="arrow" w="med" len="sm"/>
          </a:ln>
        </p:spPr>
      </p:sp>
      <p:sp>
        <p:nvSpPr>
          <p:cNvPr id="23" name="AutoShape 23"/>
          <p:cNvSpPr/>
          <p:nvPr/>
        </p:nvSpPr>
        <p:spPr>
          <a:xfrm>
            <a:off x="5169499" y="4586853"/>
            <a:ext cx="9017221" cy="0"/>
          </a:xfrm>
          <a:prstGeom prst="line">
            <a:avLst/>
          </a:prstGeom>
          <a:ln w="38100" cap="flat">
            <a:solidFill>
              <a:srgbClr val="FFFFFF"/>
            </a:solidFill>
            <a:prstDash val="solid"/>
            <a:headEnd type="none" w="sm" len="sm"/>
            <a:tailEnd type="none" w="sm" len="sm"/>
          </a:ln>
        </p:spPr>
      </p:sp>
      <p:grpSp>
        <p:nvGrpSpPr>
          <p:cNvPr id="24" name="Group 24"/>
          <p:cNvGrpSpPr/>
          <p:nvPr/>
        </p:nvGrpSpPr>
        <p:grpSpPr>
          <a:xfrm>
            <a:off x="6502163" y="6210482"/>
            <a:ext cx="6063897" cy="3203149"/>
            <a:chOff x="0" y="0"/>
            <a:chExt cx="1712431" cy="904562"/>
          </a:xfrm>
        </p:grpSpPr>
        <p:sp>
          <p:nvSpPr>
            <p:cNvPr id="25" name="Freeform 25"/>
            <p:cNvSpPr/>
            <p:nvPr/>
          </p:nvSpPr>
          <p:spPr>
            <a:xfrm>
              <a:off x="0" y="0"/>
              <a:ext cx="1712431" cy="904562"/>
            </a:xfrm>
            <a:custGeom>
              <a:avLst/>
              <a:gdLst/>
              <a:ahLst/>
              <a:cxnLst/>
              <a:rect l="l" t="t" r="r" b="b"/>
              <a:pathLst>
                <a:path w="1712431" h="904562">
                  <a:moveTo>
                    <a:pt x="65113" y="0"/>
                  </a:moveTo>
                  <a:lnTo>
                    <a:pt x="1647318" y="0"/>
                  </a:lnTo>
                  <a:cubicBezTo>
                    <a:pt x="1664587" y="0"/>
                    <a:pt x="1681149" y="6860"/>
                    <a:pt x="1693360" y="19071"/>
                  </a:cubicBezTo>
                  <a:cubicBezTo>
                    <a:pt x="1705571" y="31282"/>
                    <a:pt x="1712431" y="47844"/>
                    <a:pt x="1712431" y="65113"/>
                  </a:cubicBezTo>
                  <a:lnTo>
                    <a:pt x="1712431" y="839449"/>
                  </a:lnTo>
                  <a:cubicBezTo>
                    <a:pt x="1712431" y="875410"/>
                    <a:pt x="1683279" y="904562"/>
                    <a:pt x="1647318" y="904562"/>
                  </a:cubicBezTo>
                  <a:lnTo>
                    <a:pt x="65113" y="904562"/>
                  </a:lnTo>
                  <a:cubicBezTo>
                    <a:pt x="47844" y="904562"/>
                    <a:pt x="31282" y="897702"/>
                    <a:pt x="19071" y="885491"/>
                  </a:cubicBezTo>
                  <a:cubicBezTo>
                    <a:pt x="6860" y="873280"/>
                    <a:pt x="0" y="856718"/>
                    <a:pt x="0" y="839449"/>
                  </a:cubicBezTo>
                  <a:lnTo>
                    <a:pt x="0" y="65113"/>
                  </a:lnTo>
                  <a:cubicBezTo>
                    <a:pt x="0" y="47844"/>
                    <a:pt x="6860" y="31282"/>
                    <a:pt x="19071" y="19071"/>
                  </a:cubicBezTo>
                  <a:cubicBezTo>
                    <a:pt x="31282" y="6860"/>
                    <a:pt x="47844" y="0"/>
                    <a:pt x="65113" y="0"/>
                  </a:cubicBezTo>
                  <a:close/>
                </a:path>
              </a:pathLst>
            </a:custGeom>
            <a:solidFill>
              <a:srgbClr val="325D79"/>
            </a:solidFill>
          </p:spPr>
        </p:sp>
        <p:sp>
          <p:nvSpPr>
            <p:cNvPr id="26" name="TextBox 26"/>
            <p:cNvSpPr txBox="1"/>
            <p:nvPr/>
          </p:nvSpPr>
          <p:spPr>
            <a:xfrm>
              <a:off x="0" y="-38100"/>
              <a:ext cx="1712431" cy="942662"/>
            </a:xfrm>
            <a:prstGeom prst="rect">
              <a:avLst/>
            </a:prstGeom>
          </p:spPr>
          <p:txBody>
            <a:bodyPr lIns="50800" tIns="50800" rIns="50800" bIns="50800" rtlCol="0" anchor="ctr"/>
            <a:lstStyle/>
            <a:p>
              <a:pPr algn="ctr">
                <a:lnSpc>
                  <a:spcPts val="3359"/>
                </a:lnSpc>
              </a:pPr>
              <a:r>
                <a:rPr lang="en-US" sz="2400">
                  <a:solidFill>
                    <a:srgbClr val="FFFFFF"/>
                  </a:solidFill>
                  <a:latin typeface="Canva Sans"/>
                  <a:ea typeface="Canva Sans"/>
                  <a:cs typeface="Canva Sans"/>
                  <a:sym typeface="Canva Sans"/>
                </a:rPr>
                <a:t>PQC Accelerator</a:t>
              </a:r>
            </a:p>
            <a:p>
              <a:pPr algn="ctr">
                <a:lnSpc>
                  <a:spcPts val="3359"/>
                </a:lnSpc>
              </a:pPr>
              <a:r>
                <a:rPr lang="en-US" sz="2400">
                  <a:solidFill>
                    <a:srgbClr val="FFFFFF"/>
                  </a:solidFill>
                  <a:latin typeface="Canva Sans"/>
                  <a:ea typeface="Canva Sans"/>
                  <a:cs typeface="Canva Sans"/>
                  <a:sym typeface="Canva Sans"/>
                </a:rPr>
                <a:t>------------------------------------------------</a:t>
              </a:r>
            </a:p>
            <a:p>
              <a:pPr algn="ctr">
                <a:lnSpc>
                  <a:spcPts val="3359"/>
                </a:lnSpc>
              </a:pPr>
              <a:r>
                <a:rPr lang="en-US" sz="2400">
                  <a:solidFill>
                    <a:srgbClr val="FFFFFF"/>
                  </a:solidFill>
                  <a:latin typeface="Canva Sans"/>
                  <a:ea typeface="Canva Sans"/>
                  <a:cs typeface="Canva Sans"/>
                  <a:sym typeface="Canva Sans"/>
                </a:rPr>
                <a:t>Control Unit </a:t>
              </a:r>
            </a:p>
            <a:p>
              <a:pPr algn="ctr">
                <a:lnSpc>
                  <a:spcPts val="3359"/>
                </a:lnSpc>
              </a:pPr>
              <a:r>
                <a:rPr lang="en-US" sz="2400">
                  <a:solidFill>
                    <a:srgbClr val="FFFFFF"/>
                  </a:solidFill>
                  <a:latin typeface="Canva Sans"/>
                  <a:ea typeface="Canva Sans"/>
                  <a:cs typeface="Canva Sans"/>
                  <a:sym typeface="Canva Sans"/>
                </a:rPr>
                <a:t>NTT Engine</a:t>
              </a:r>
            </a:p>
            <a:p>
              <a:pPr algn="ctr">
                <a:lnSpc>
                  <a:spcPts val="3359"/>
                </a:lnSpc>
              </a:pPr>
              <a:r>
                <a:rPr lang="en-US" sz="2400">
                  <a:solidFill>
                    <a:srgbClr val="FFFFFF"/>
                  </a:solidFill>
                  <a:latin typeface="Canva Sans"/>
                  <a:ea typeface="Canva Sans"/>
                  <a:cs typeface="Canva Sans"/>
                  <a:sym typeface="Canva Sans"/>
                </a:rPr>
                <a:t>Modular Arithmetic</a:t>
              </a:r>
            </a:p>
            <a:p>
              <a:pPr algn="ctr">
                <a:lnSpc>
                  <a:spcPts val="3359"/>
                </a:lnSpc>
              </a:pPr>
              <a:r>
                <a:rPr lang="en-US" sz="2400">
                  <a:solidFill>
                    <a:srgbClr val="FFFFFF"/>
                  </a:solidFill>
                  <a:latin typeface="Canva Sans"/>
                  <a:ea typeface="Canva Sans"/>
                  <a:cs typeface="Canva Sans"/>
                  <a:sym typeface="Canva Sans"/>
                </a:rPr>
                <a:t>Polynomial Operations</a:t>
              </a:r>
            </a:p>
            <a:p>
              <a:pPr algn="ctr">
                <a:lnSpc>
                  <a:spcPts val="3359"/>
                </a:lnSpc>
                <a:spcBef>
                  <a:spcPct val="0"/>
                </a:spcBef>
              </a:pPr>
              <a:r>
                <a:rPr lang="en-US" sz="2400">
                  <a:solidFill>
                    <a:srgbClr val="FFFFFF"/>
                  </a:solidFill>
                  <a:latin typeface="Canva Sans"/>
                  <a:ea typeface="Canva Sans"/>
                  <a:cs typeface="Canva Sans"/>
                  <a:sym typeface="Canva Sans"/>
                </a:rPr>
                <a:t>Local Memory</a:t>
              </a:r>
            </a:p>
          </p:txBody>
        </p:sp>
      </p:grpSp>
      <p:sp>
        <p:nvSpPr>
          <p:cNvPr id="27" name="AutoShape 27"/>
          <p:cNvSpPr/>
          <p:nvPr/>
        </p:nvSpPr>
        <p:spPr>
          <a:xfrm flipH="1">
            <a:off x="5169499" y="5734537"/>
            <a:ext cx="0" cy="2077520"/>
          </a:xfrm>
          <a:prstGeom prst="line">
            <a:avLst/>
          </a:prstGeom>
          <a:ln w="38100" cap="flat">
            <a:solidFill>
              <a:srgbClr val="FFFFFF"/>
            </a:solidFill>
            <a:prstDash val="solid"/>
            <a:headEnd type="none" w="sm" len="sm"/>
            <a:tailEnd type="none" w="sm" len="sm"/>
          </a:ln>
        </p:spPr>
      </p:sp>
      <p:sp>
        <p:nvSpPr>
          <p:cNvPr id="28" name="AutoShape 28"/>
          <p:cNvSpPr/>
          <p:nvPr/>
        </p:nvSpPr>
        <p:spPr>
          <a:xfrm flipV="1">
            <a:off x="5169499" y="7812056"/>
            <a:ext cx="1332664" cy="0"/>
          </a:xfrm>
          <a:prstGeom prst="line">
            <a:avLst/>
          </a:prstGeom>
          <a:ln w="38100" cap="flat">
            <a:solidFill>
              <a:srgbClr val="FFFFFF"/>
            </a:solidFill>
            <a:prstDash val="solid"/>
            <a:headEnd type="none" w="sm" len="sm"/>
            <a:tailEnd type="arrow" w="med" len="sm"/>
          </a:ln>
        </p:spPr>
      </p:sp>
      <p:sp>
        <p:nvSpPr>
          <p:cNvPr id="29" name="AutoShape 29"/>
          <p:cNvSpPr/>
          <p:nvPr/>
        </p:nvSpPr>
        <p:spPr>
          <a:xfrm flipH="1">
            <a:off x="9534111" y="3162890"/>
            <a:ext cx="0" cy="310411"/>
          </a:xfrm>
          <a:prstGeom prst="line">
            <a:avLst/>
          </a:prstGeom>
          <a:ln w="38100" cap="flat">
            <a:solidFill>
              <a:srgbClr val="FFFFFF"/>
            </a:solidFill>
            <a:prstDash val="solid"/>
            <a:headEnd type="none" w="sm" len="sm"/>
            <a:tailEnd type="arrow" w="med" len="sm"/>
          </a:ln>
        </p:spPr>
      </p:sp>
      <p:sp>
        <p:nvSpPr>
          <p:cNvPr id="30" name="AutoShape 30"/>
          <p:cNvSpPr/>
          <p:nvPr/>
        </p:nvSpPr>
        <p:spPr>
          <a:xfrm flipH="1">
            <a:off x="9489608" y="4298421"/>
            <a:ext cx="0" cy="681334"/>
          </a:xfrm>
          <a:prstGeom prst="line">
            <a:avLst/>
          </a:prstGeom>
          <a:ln w="38100" cap="flat">
            <a:solidFill>
              <a:srgbClr val="FFFFFF"/>
            </a:solidFill>
            <a:prstDash val="solid"/>
            <a:headEnd type="none" w="sm" len="sm"/>
            <a:tailEnd type="arrow" w="med" len="sm"/>
          </a:ln>
        </p:spPr>
      </p:sp>
      <p:sp>
        <p:nvSpPr>
          <p:cNvPr id="31" name="Freeform 31"/>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514350" y="289322"/>
            <a:ext cx="17259300" cy="9708356"/>
          </a:xfrm>
          <a:custGeom>
            <a:avLst/>
            <a:gdLst/>
            <a:ahLst/>
            <a:cxnLst/>
            <a:rect l="l" t="t" r="r" b="b"/>
            <a:pathLst>
              <a:path w="17259300" h="9708356">
                <a:moveTo>
                  <a:pt x="0" y="0"/>
                </a:moveTo>
                <a:lnTo>
                  <a:pt x="17259300" y="0"/>
                </a:lnTo>
                <a:lnTo>
                  <a:pt x="17259300" y="9708356"/>
                </a:lnTo>
                <a:lnTo>
                  <a:pt x="0" y="9708356"/>
                </a:lnTo>
                <a:lnTo>
                  <a:pt x="0" y="0"/>
                </a:lnTo>
                <a:close/>
              </a:path>
            </a:pathLst>
          </a:custGeom>
          <a:blipFill>
            <a:blip r:embed="rId2"/>
            <a:stretch>
              <a:fillRect/>
            </a:stretch>
          </a:blipFill>
        </p:spPr>
      </p:sp>
      <p:grpSp>
        <p:nvGrpSpPr>
          <p:cNvPr id="3" name="Group 3"/>
          <p:cNvGrpSpPr/>
          <p:nvPr/>
        </p:nvGrpSpPr>
        <p:grpSpPr>
          <a:xfrm>
            <a:off x="568988" y="138840"/>
            <a:ext cx="11731063" cy="1207757"/>
            <a:chOff x="0" y="0"/>
            <a:chExt cx="3089663" cy="318092"/>
          </a:xfrm>
        </p:grpSpPr>
        <p:sp>
          <p:nvSpPr>
            <p:cNvPr id="4" name="Freeform 4"/>
            <p:cNvSpPr/>
            <p:nvPr/>
          </p:nvSpPr>
          <p:spPr>
            <a:xfrm>
              <a:off x="0" y="0"/>
              <a:ext cx="3089663" cy="318092"/>
            </a:xfrm>
            <a:custGeom>
              <a:avLst/>
              <a:gdLst/>
              <a:ahLst/>
              <a:cxnLst/>
              <a:rect l="l" t="t" r="r" b="b"/>
              <a:pathLst>
                <a:path w="3089663" h="318092">
                  <a:moveTo>
                    <a:pt x="0" y="0"/>
                  </a:moveTo>
                  <a:lnTo>
                    <a:pt x="3089663" y="0"/>
                  </a:lnTo>
                  <a:lnTo>
                    <a:pt x="3089663" y="318092"/>
                  </a:lnTo>
                  <a:lnTo>
                    <a:pt x="0" y="318092"/>
                  </a:lnTo>
                  <a:close/>
                </a:path>
              </a:pathLst>
            </a:custGeom>
            <a:solidFill>
              <a:srgbClr val="00080A"/>
            </a:solidFill>
          </p:spPr>
        </p:sp>
        <p:sp>
          <p:nvSpPr>
            <p:cNvPr id="5" name="TextBox 5"/>
            <p:cNvSpPr txBox="1"/>
            <p:nvPr/>
          </p:nvSpPr>
          <p:spPr>
            <a:xfrm>
              <a:off x="0" y="-38100"/>
              <a:ext cx="3089663" cy="356192"/>
            </a:xfrm>
            <a:prstGeom prst="rect">
              <a:avLst/>
            </a:prstGeom>
          </p:spPr>
          <p:txBody>
            <a:bodyPr lIns="50800" tIns="50800" rIns="50800" bIns="50800" rtlCol="0" anchor="ctr"/>
            <a:lstStyle/>
            <a:p>
              <a:pPr algn="ctr">
                <a:lnSpc>
                  <a:spcPts val="3359"/>
                </a:lnSpc>
              </a:pPr>
              <a:endParaRPr/>
            </a:p>
          </p:txBody>
        </p:sp>
      </p:grpSp>
      <p:sp>
        <p:nvSpPr>
          <p:cNvPr id="6" name="TextBox 6"/>
          <p:cNvSpPr txBox="1"/>
          <p:nvPr/>
        </p:nvSpPr>
        <p:spPr>
          <a:xfrm>
            <a:off x="655909" y="298847"/>
            <a:ext cx="1069011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ML-KEM Accelerator Datapath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grpSp>
        <p:nvGrpSpPr>
          <p:cNvPr id="2" name="Group 2"/>
          <p:cNvGrpSpPr/>
          <p:nvPr/>
        </p:nvGrpSpPr>
        <p:grpSpPr>
          <a:xfrm>
            <a:off x="682277" y="1028700"/>
            <a:ext cx="16923446" cy="8461723"/>
            <a:chOff x="0" y="0"/>
            <a:chExt cx="22564595" cy="11282297"/>
          </a:xfrm>
        </p:grpSpPr>
        <p:sp>
          <p:nvSpPr>
            <p:cNvPr id="3" name="Freeform 3"/>
            <p:cNvSpPr/>
            <p:nvPr/>
          </p:nvSpPr>
          <p:spPr>
            <a:xfrm>
              <a:off x="0" y="0"/>
              <a:ext cx="22564595" cy="11282297"/>
            </a:xfrm>
            <a:custGeom>
              <a:avLst/>
              <a:gdLst/>
              <a:ahLst/>
              <a:cxnLst/>
              <a:rect l="l" t="t" r="r" b="b"/>
              <a:pathLst>
                <a:path w="22564595" h="11282297">
                  <a:moveTo>
                    <a:pt x="0" y="0"/>
                  </a:moveTo>
                  <a:lnTo>
                    <a:pt x="22564595" y="0"/>
                  </a:lnTo>
                  <a:lnTo>
                    <a:pt x="22564595" y="11282297"/>
                  </a:lnTo>
                  <a:lnTo>
                    <a:pt x="0" y="11282297"/>
                  </a:lnTo>
                  <a:lnTo>
                    <a:pt x="0" y="0"/>
                  </a:lnTo>
                  <a:close/>
                </a:path>
              </a:pathLst>
            </a:custGeom>
            <a:blipFill>
              <a:blip r:embed="rId2"/>
              <a:stretch>
                <a:fillRect/>
              </a:stretch>
            </a:blipFill>
          </p:spPr>
        </p:sp>
        <p:grpSp>
          <p:nvGrpSpPr>
            <p:cNvPr id="4" name="Group 4"/>
            <p:cNvGrpSpPr/>
            <p:nvPr/>
          </p:nvGrpSpPr>
          <p:grpSpPr>
            <a:xfrm>
              <a:off x="253679" y="0"/>
              <a:ext cx="14047028" cy="748527"/>
              <a:chOff x="0" y="0"/>
              <a:chExt cx="2899990" cy="154532"/>
            </a:xfrm>
          </p:grpSpPr>
          <p:sp>
            <p:nvSpPr>
              <p:cNvPr id="5" name="Freeform 5"/>
              <p:cNvSpPr/>
              <p:nvPr/>
            </p:nvSpPr>
            <p:spPr>
              <a:xfrm>
                <a:off x="0" y="0"/>
                <a:ext cx="2899990" cy="154532"/>
              </a:xfrm>
              <a:custGeom>
                <a:avLst/>
                <a:gdLst/>
                <a:ahLst/>
                <a:cxnLst/>
                <a:rect l="l" t="t" r="r" b="b"/>
                <a:pathLst>
                  <a:path w="2899990" h="154532">
                    <a:moveTo>
                      <a:pt x="0" y="0"/>
                    </a:moveTo>
                    <a:lnTo>
                      <a:pt x="2899990" y="0"/>
                    </a:lnTo>
                    <a:lnTo>
                      <a:pt x="2899990" y="154532"/>
                    </a:lnTo>
                    <a:lnTo>
                      <a:pt x="0" y="154532"/>
                    </a:lnTo>
                    <a:close/>
                  </a:path>
                </a:pathLst>
              </a:custGeom>
              <a:solidFill>
                <a:srgbClr val="0A0F18"/>
              </a:solidFill>
            </p:spPr>
          </p:sp>
          <p:sp>
            <p:nvSpPr>
              <p:cNvPr id="6" name="TextBox 6"/>
              <p:cNvSpPr txBox="1"/>
              <p:nvPr/>
            </p:nvSpPr>
            <p:spPr>
              <a:xfrm>
                <a:off x="0" y="-38100"/>
                <a:ext cx="2899990" cy="192632"/>
              </a:xfrm>
              <a:prstGeom prst="rect">
                <a:avLst/>
              </a:prstGeom>
            </p:spPr>
            <p:txBody>
              <a:bodyPr lIns="50800" tIns="50800" rIns="50800" bIns="50800" rtlCol="0" anchor="ctr"/>
              <a:lstStyle/>
              <a:p>
                <a:pPr algn="ctr">
                  <a:lnSpc>
                    <a:spcPts val="3359"/>
                  </a:lnSpc>
                </a:pPr>
                <a:endParaRPr/>
              </a:p>
            </p:txBody>
          </p:sp>
        </p:grpSp>
      </p:grpSp>
      <p:sp>
        <p:nvSpPr>
          <p:cNvPr id="7" name="TextBox 7"/>
          <p:cNvSpPr txBox="1"/>
          <p:nvPr/>
        </p:nvSpPr>
        <p:spPr>
          <a:xfrm>
            <a:off x="682277" y="330956"/>
            <a:ext cx="1069011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ML-KEM Accelerator Dataflow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79640" y="1160847"/>
            <a:ext cx="18128720" cy="7965306"/>
          </a:xfrm>
          <a:custGeom>
            <a:avLst/>
            <a:gdLst/>
            <a:ahLst/>
            <a:cxnLst/>
            <a:rect l="l" t="t" r="r" b="b"/>
            <a:pathLst>
              <a:path w="18128720" h="7965306">
                <a:moveTo>
                  <a:pt x="0" y="0"/>
                </a:moveTo>
                <a:lnTo>
                  <a:pt x="18128720" y="0"/>
                </a:lnTo>
                <a:lnTo>
                  <a:pt x="18128720" y="7965306"/>
                </a:lnTo>
                <a:lnTo>
                  <a:pt x="0" y="7965306"/>
                </a:lnTo>
                <a:lnTo>
                  <a:pt x="0" y="0"/>
                </a:lnTo>
                <a:close/>
              </a:path>
            </a:pathLst>
          </a:custGeom>
          <a:blipFill>
            <a:blip r:embed="rId2"/>
            <a:stretch>
              <a:fillRect/>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996659" y="1666136"/>
            <a:ext cx="8681450" cy="7685795"/>
            <a:chOff x="0" y="0"/>
            <a:chExt cx="2451622" cy="2170452"/>
          </a:xfrm>
        </p:grpSpPr>
        <p:sp>
          <p:nvSpPr>
            <p:cNvPr id="5" name="Freeform 5"/>
            <p:cNvSpPr/>
            <p:nvPr/>
          </p:nvSpPr>
          <p:spPr>
            <a:xfrm>
              <a:off x="0" y="0"/>
              <a:ext cx="2451622" cy="2170451"/>
            </a:xfrm>
            <a:custGeom>
              <a:avLst/>
              <a:gdLst/>
              <a:ahLst/>
              <a:cxnLst/>
              <a:rect l="l" t="t" r="r" b="b"/>
              <a:pathLst>
                <a:path w="2451622" h="2170451">
                  <a:moveTo>
                    <a:pt x="30320" y="0"/>
                  </a:moveTo>
                  <a:lnTo>
                    <a:pt x="2421302" y="0"/>
                  </a:lnTo>
                  <a:cubicBezTo>
                    <a:pt x="2429343" y="0"/>
                    <a:pt x="2437056" y="3194"/>
                    <a:pt x="2442742" y="8881"/>
                  </a:cubicBezTo>
                  <a:cubicBezTo>
                    <a:pt x="2448428" y="14567"/>
                    <a:pt x="2451622" y="22279"/>
                    <a:pt x="2451622" y="30320"/>
                  </a:cubicBezTo>
                  <a:lnTo>
                    <a:pt x="2451622" y="2140131"/>
                  </a:lnTo>
                  <a:cubicBezTo>
                    <a:pt x="2451622" y="2156876"/>
                    <a:pt x="2438047" y="2170451"/>
                    <a:pt x="2421302" y="2170451"/>
                  </a:cubicBezTo>
                  <a:lnTo>
                    <a:pt x="30320" y="2170451"/>
                  </a:lnTo>
                  <a:cubicBezTo>
                    <a:pt x="13575" y="2170451"/>
                    <a:pt x="0" y="2156876"/>
                    <a:pt x="0" y="2140131"/>
                  </a:cubicBezTo>
                  <a:lnTo>
                    <a:pt x="0" y="30320"/>
                  </a:lnTo>
                  <a:cubicBezTo>
                    <a:pt x="0" y="13575"/>
                    <a:pt x="13575" y="0"/>
                    <a:pt x="30320" y="0"/>
                  </a:cubicBezTo>
                  <a:close/>
                </a:path>
              </a:pathLst>
            </a:custGeom>
            <a:solidFill>
              <a:srgbClr val="CFD9E0">
                <a:alpha val="32941"/>
              </a:srgbClr>
            </a:solidFill>
          </p:spPr>
        </p:sp>
        <p:sp>
          <p:nvSpPr>
            <p:cNvPr id="6" name="TextBox 6"/>
            <p:cNvSpPr txBox="1"/>
            <p:nvPr/>
          </p:nvSpPr>
          <p:spPr>
            <a:xfrm>
              <a:off x="0" y="-38100"/>
              <a:ext cx="2451622" cy="220855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8" name="Group 8"/>
          <p:cNvGrpSpPr/>
          <p:nvPr/>
        </p:nvGrpSpPr>
        <p:grpSpPr>
          <a:xfrm>
            <a:off x="10865737" y="1267366"/>
            <a:ext cx="5233984" cy="767781"/>
            <a:chOff x="0" y="0"/>
            <a:chExt cx="1478066" cy="216820"/>
          </a:xfrm>
        </p:grpSpPr>
        <p:sp>
          <p:nvSpPr>
            <p:cNvPr id="9" name="Freeform 9"/>
            <p:cNvSpPr/>
            <p:nvPr/>
          </p:nvSpPr>
          <p:spPr>
            <a:xfrm>
              <a:off x="0" y="0"/>
              <a:ext cx="1478065" cy="216820"/>
            </a:xfrm>
            <a:custGeom>
              <a:avLst/>
              <a:gdLst/>
              <a:ahLst/>
              <a:cxnLst/>
              <a:rect l="l" t="t" r="r" b="b"/>
              <a:pathLst>
                <a:path w="1478065" h="216820">
                  <a:moveTo>
                    <a:pt x="75437" y="0"/>
                  </a:moveTo>
                  <a:lnTo>
                    <a:pt x="1402628" y="0"/>
                  </a:lnTo>
                  <a:cubicBezTo>
                    <a:pt x="1444291" y="0"/>
                    <a:pt x="1478065" y="33774"/>
                    <a:pt x="1478065" y="75437"/>
                  </a:cubicBezTo>
                  <a:lnTo>
                    <a:pt x="1478065" y="141382"/>
                  </a:lnTo>
                  <a:cubicBezTo>
                    <a:pt x="1478065" y="183045"/>
                    <a:pt x="1444291" y="216820"/>
                    <a:pt x="1402628" y="216820"/>
                  </a:cubicBezTo>
                  <a:lnTo>
                    <a:pt x="75437" y="216820"/>
                  </a:lnTo>
                  <a:cubicBezTo>
                    <a:pt x="33774" y="216820"/>
                    <a:pt x="0" y="183045"/>
                    <a:pt x="0" y="141382"/>
                  </a:cubicBezTo>
                  <a:lnTo>
                    <a:pt x="0" y="75437"/>
                  </a:lnTo>
                  <a:cubicBezTo>
                    <a:pt x="0" y="33774"/>
                    <a:pt x="33774" y="0"/>
                    <a:pt x="75437" y="0"/>
                  </a:cubicBezTo>
                  <a:close/>
                </a:path>
              </a:pathLst>
            </a:custGeom>
            <a:solidFill>
              <a:srgbClr val="0C6161">
                <a:alpha val="40000"/>
              </a:srgbClr>
            </a:solidFill>
            <a:ln w="9525" cap="rnd">
              <a:solidFill>
                <a:srgbClr val="FFFFFF">
                  <a:alpha val="40000"/>
                </a:srgbClr>
              </a:solidFill>
              <a:prstDash val="solid"/>
              <a:round/>
            </a:ln>
          </p:spPr>
        </p:sp>
        <p:sp>
          <p:nvSpPr>
            <p:cNvPr id="10" name="TextBox 10"/>
            <p:cNvSpPr txBox="1"/>
            <p:nvPr/>
          </p:nvSpPr>
          <p:spPr>
            <a:xfrm>
              <a:off x="0" y="-38100"/>
              <a:ext cx="1478066" cy="254920"/>
            </a:xfrm>
            <a:prstGeom prst="rect">
              <a:avLst/>
            </a:prstGeom>
          </p:spPr>
          <p:txBody>
            <a:bodyPr lIns="50800" tIns="50800" rIns="50800" bIns="50800" rtlCol="0" anchor="ctr"/>
            <a:lstStyle/>
            <a:p>
              <a:pPr algn="ctr">
                <a:lnSpc>
                  <a:spcPts val="3359"/>
                </a:lnSpc>
                <a:spcBef>
                  <a:spcPct val="0"/>
                </a:spcBef>
              </a:pPr>
              <a:endParaRPr/>
            </a:p>
          </p:txBody>
        </p:sp>
      </p:grpSp>
      <p:grpSp>
        <p:nvGrpSpPr>
          <p:cNvPr id="11" name="Group 11"/>
          <p:cNvGrpSpPr/>
          <p:nvPr/>
        </p:nvGrpSpPr>
        <p:grpSpPr>
          <a:xfrm>
            <a:off x="10865737" y="2271575"/>
            <a:ext cx="5233984" cy="2632692"/>
            <a:chOff x="0" y="0"/>
            <a:chExt cx="1478066" cy="743467"/>
          </a:xfrm>
        </p:grpSpPr>
        <p:sp>
          <p:nvSpPr>
            <p:cNvPr id="12" name="Freeform 12"/>
            <p:cNvSpPr/>
            <p:nvPr/>
          </p:nvSpPr>
          <p:spPr>
            <a:xfrm>
              <a:off x="0" y="0"/>
              <a:ext cx="1478065" cy="743467"/>
            </a:xfrm>
            <a:custGeom>
              <a:avLst/>
              <a:gdLst/>
              <a:ahLst/>
              <a:cxnLst/>
              <a:rect l="l" t="t" r="r" b="b"/>
              <a:pathLst>
                <a:path w="1478065" h="743467">
                  <a:moveTo>
                    <a:pt x="38458" y="0"/>
                  </a:moveTo>
                  <a:lnTo>
                    <a:pt x="1439607" y="0"/>
                  </a:lnTo>
                  <a:cubicBezTo>
                    <a:pt x="1449807" y="0"/>
                    <a:pt x="1459589" y="4052"/>
                    <a:pt x="1466801" y="11264"/>
                  </a:cubicBezTo>
                  <a:cubicBezTo>
                    <a:pt x="1474014" y="18476"/>
                    <a:pt x="1478065" y="28258"/>
                    <a:pt x="1478065" y="38458"/>
                  </a:cubicBezTo>
                  <a:lnTo>
                    <a:pt x="1478065" y="705008"/>
                  </a:lnTo>
                  <a:cubicBezTo>
                    <a:pt x="1478065" y="726248"/>
                    <a:pt x="1460847" y="743467"/>
                    <a:pt x="1439607" y="743467"/>
                  </a:cubicBezTo>
                  <a:lnTo>
                    <a:pt x="38458" y="743467"/>
                  </a:lnTo>
                  <a:cubicBezTo>
                    <a:pt x="28258" y="743467"/>
                    <a:pt x="18476" y="739415"/>
                    <a:pt x="11264" y="732202"/>
                  </a:cubicBezTo>
                  <a:cubicBezTo>
                    <a:pt x="4052" y="724990"/>
                    <a:pt x="0" y="715208"/>
                    <a:pt x="0" y="705008"/>
                  </a:cubicBezTo>
                  <a:lnTo>
                    <a:pt x="0" y="38458"/>
                  </a:lnTo>
                  <a:cubicBezTo>
                    <a:pt x="0" y="28258"/>
                    <a:pt x="4052" y="18476"/>
                    <a:pt x="11264" y="11264"/>
                  </a:cubicBezTo>
                  <a:cubicBezTo>
                    <a:pt x="18476" y="4052"/>
                    <a:pt x="28258" y="0"/>
                    <a:pt x="38458" y="0"/>
                  </a:cubicBezTo>
                  <a:close/>
                </a:path>
              </a:pathLst>
            </a:custGeom>
            <a:solidFill>
              <a:srgbClr val="0C6161">
                <a:alpha val="40000"/>
              </a:srgbClr>
            </a:solidFill>
            <a:ln w="9525" cap="rnd">
              <a:solidFill>
                <a:srgbClr val="FFFFFF">
                  <a:alpha val="40000"/>
                </a:srgbClr>
              </a:solidFill>
              <a:prstDash val="solid"/>
              <a:round/>
            </a:ln>
          </p:spPr>
        </p:sp>
        <p:sp>
          <p:nvSpPr>
            <p:cNvPr id="13" name="TextBox 13"/>
            <p:cNvSpPr txBox="1"/>
            <p:nvPr/>
          </p:nvSpPr>
          <p:spPr>
            <a:xfrm>
              <a:off x="0" y="-38100"/>
              <a:ext cx="1478066" cy="781567"/>
            </a:xfrm>
            <a:prstGeom prst="rect">
              <a:avLst/>
            </a:prstGeom>
          </p:spPr>
          <p:txBody>
            <a:bodyPr lIns="50800" tIns="50800" rIns="50800" bIns="50800" rtlCol="0" anchor="ctr"/>
            <a:lstStyle/>
            <a:p>
              <a:pPr algn="ctr">
                <a:lnSpc>
                  <a:spcPts val="3359"/>
                </a:lnSpc>
                <a:spcBef>
                  <a:spcPct val="0"/>
                </a:spcBef>
              </a:pPr>
              <a:endParaRPr/>
            </a:p>
          </p:txBody>
        </p:sp>
      </p:grpSp>
      <p:grpSp>
        <p:nvGrpSpPr>
          <p:cNvPr id="14" name="Group 14"/>
          <p:cNvGrpSpPr/>
          <p:nvPr/>
        </p:nvGrpSpPr>
        <p:grpSpPr>
          <a:xfrm>
            <a:off x="10865737" y="5139491"/>
            <a:ext cx="5233984" cy="2197726"/>
            <a:chOff x="0" y="0"/>
            <a:chExt cx="1478066" cy="620633"/>
          </a:xfrm>
        </p:grpSpPr>
        <p:sp>
          <p:nvSpPr>
            <p:cNvPr id="15" name="Freeform 15"/>
            <p:cNvSpPr/>
            <p:nvPr/>
          </p:nvSpPr>
          <p:spPr>
            <a:xfrm>
              <a:off x="0" y="0"/>
              <a:ext cx="1478065" cy="620633"/>
            </a:xfrm>
            <a:custGeom>
              <a:avLst/>
              <a:gdLst/>
              <a:ahLst/>
              <a:cxnLst/>
              <a:rect l="l" t="t" r="r" b="b"/>
              <a:pathLst>
                <a:path w="1478065" h="620633">
                  <a:moveTo>
                    <a:pt x="38458" y="0"/>
                  </a:moveTo>
                  <a:lnTo>
                    <a:pt x="1439607" y="0"/>
                  </a:lnTo>
                  <a:cubicBezTo>
                    <a:pt x="1449807" y="0"/>
                    <a:pt x="1459589" y="4052"/>
                    <a:pt x="1466801" y="11264"/>
                  </a:cubicBezTo>
                  <a:cubicBezTo>
                    <a:pt x="1474014" y="18476"/>
                    <a:pt x="1478065" y="28258"/>
                    <a:pt x="1478065" y="38458"/>
                  </a:cubicBezTo>
                  <a:lnTo>
                    <a:pt x="1478065" y="582175"/>
                  </a:lnTo>
                  <a:cubicBezTo>
                    <a:pt x="1478065" y="603415"/>
                    <a:pt x="1460847" y="620633"/>
                    <a:pt x="1439607" y="620633"/>
                  </a:cubicBezTo>
                  <a:lnTo>
                    <a:pt x="38458" y="620633"/>
                  </a:lnTo>
                  <a:cubicBezTo>
                    <a:pt x="28258" y="620633"/>
                    <a:pt x="18476" y="616581"/>
                    <a:pt x="11264" y="609369"/>
                  </a:cubicBezTo>
                  <a:cubicBezTo>
                    <a:pt x="4052" y="602156"/>
                    <a:pt x="0" y="592374"/>
                    <a:pt x="0" y="582175"/>
                  </a:cubicBezTo>
                  <a:lnTo>
                    <a:pt x="0" y="38458"/>
                  </a:lnTo>
                  <a:cubicBezTo>
                    <a:pt x="0" y="28258"/>
                    <a:pt x="4052" y="18476"/>
                    <a:pt x="11264" y="11264"/>
                  </a:cubicBezTo>
                  <a:cubicBezTo>
                    <a:pt x="18476" y="4052"/>
                    <a:pt x="28258" y="0"/>
                    <a:pt x="38458" y="0"/>
                  </a:cubicBezTo>
                  <a:close/>
                </a:path>
              </a:pathLst>
            </a:custGeom>
            <a:solidFill>
              <a:srgbClr val="0C6161">
                <a:alpha val="40000"/>
              </a:srgbClr>
            </a:solidFill>
            <a:ln w="9525" cap="rnd">
              <a:solidFill>
                <a:srgbClr val="FFFFFF">
                  <a:alpha val="40000"/>
                </a:srgbClr>
              </a:solidFill>
              <a:prstDash val="solid"/>
              <a:round/>
            </a:ln>
          </p:spPr>
        </p:sp>
        <p:sp>
          <p:nvSpPr>
            <p:cNvPr id="16" name="TextBox 16"/>
            <p:cNvSpPr txBox="1"/>
            <p:nvPr/>
          </p:nvSpPr>
          <p:spPr>
            <a:xfrm>
              <a:off x="0" y="-38100"/>
              <a:ext cx="1478066" cy="658733"/>
            </a:xfrm>
            <a:prstGeom prst="rect">
              <a:avLst/>
            </a:prstGeom>
          </p:spPr>
          <p:txBody>
            <a:bodyPr lIns="50800" tIns="50800" rIns="50800" bIns="50800" rtlCol="0" anchor="ctr"/>
            <a:lstStyle/>
            <a:p>
              <a:pPr algn="ctr">
                <a:lnSpc>
                  <a:spcPts val="3359"/>
                </a:lnSpc>
                <a:spcBef>
                  <a:spcPct val="0"/>
                </a:spcBef>
              </a:pPr>
              <a:endParaRPr/>
            </a:p>
          </p:txBody>
        </p:sp>
      </p:grpSp>
      <p:grpSp>
        <p:nvGrpSpPr>
          <p:cNvPr id="17" name="Group 17"/>
          <p:cNvGrpSpPr/>
          <p:nvPr/>
        </p:nvGrpSpPr>
        <p:grpSpPr>
          <a:xfrm>
            <a:off x="10902916" y="7578244"/>
            <a:ext cx="5197281" cy="767781"/>
            <a:chOff x="0" y="0"/>
            <a:chExt cx="1467701" cy="216820"/>
          </a:xfrm>
        </p:grpSpPr>
        <p:sp>
          <p:nvSpPr>
            <p:cNvPr id="18" name="Freeform 18"/>
            <p:cNvSpPr/>
            <p:nvPr/>
          </p:nvSpPr>
          <p:spPr>
            <a:xfrm>
              <a:off x="0" y="0"/>
              <a:ext cx="1467701" cy="216820"/>
            </a:xfrm>
            <a:custGeom>
              <a:avLst/>
              <a:gdLst/>
              <a:ahLst/>
              <a:cxnLst/>
              <a:rect l="l" t="t" r="r" b="b"/>
              <a:pathLst>
                <a:path w="1467701" h="216820">
                  <a:moveTo>
                    <a:pt x="75970" y="0"/>
                  </a:moveTo>
                  <a:lnTo>
                    <a:pt x="1391731" y="0"/>
                  </a:lnTo>
                  <a:cubicBezTo>
                    <a:pt x="1411879" y="0"/>
                    <a:pt x="1431203" y="8004"/>
                    <a:pt x="1445450" y="22251"/>
                  </a:cubicBezTo>
                  <a:cubicBezTo>
                    <a:pt x="1459697" y="36498"/>
                    <a:pt x="1467701" y="55822"/>
                    <a:pt x="1467701" y="75970"/>
                  </a:cubicBezTo>
                  <a:lnTo>
                    <a:pt x="1467701" y="140850"/>
                  </a:lnTo>
                  <a:cubicBezTo>
                    <a:pt x="1467701" y="160998"/>
                    <a:pt x="1459697" y="180321"/>
                    <a:pt x="1445450" y="194569"/>
                  </a:cubicBezTo>
                  <a:cubicBezTo>
                    <a:pt x="1431203" y="208816"/>
                    <a:pt x="1411879" y="216820"/>
                    <a:pt x="1391731" y="216820"/>
                  </a:cubicBezTo>
                  <a:lnTo>
                    <a:pt x="75970" y="216820"/>
                  </a:lnTo>
                  <a:cubicBezTo>
                    <a:pt x="55822" y="216820"/>
                    <a:pt x="36498" y="208816"/>
                    <a:pt x="22251" y="194569"/>
                  </a:cubicBezTo>
                  <a:cubicBezTo>
                    <a:pt x="8004" y="180321"/>
                    <a:pt x="0" y="160998"/>
                    <a:pt x="0" y="140850"/>
                  </a:cubicBezTo>
                  <a:lnTo>
                    <a:pt x="0" y="75970"/>
                  </a:lnTo>
                  <a:cubicBezTo>
                    <a:pt x="0" y="55822"/>
                    <a:pt x="8004" y="36498"/>
                    <a:pt x="22251" y="22251"/>
                  </a:cubicBezTo>
                  <a:cubicBezTo>
                    <a:pt x="36498" y="8004"/>
                    <a:pt x="55822" y="0"/>
                    <a:pt x="75970" y="0"/>
                  </a:cubicBezTo>
                  <a:close/>
                </a:path>
              </a:pathLst>
            </a:custGeom>
            <a:solidFill>
              <a:srgbClr val="0C6161">
                <a:alpha val="40000"/>
              </a:srgbClr>
            </a:solidFill>
            <a:ln w="9525" cap="rnd">
              <a:solidFill>
                <a:srgbClr val="FFFFFF">
                  <a:alpha val="40000"/>
                </a:srgbClr>
              </a:solidFill>
              <a:prstDash val="solid"/>
              <a:round/>
            </a:ln>
          </p:spPr>
        </p:sp>
        <p:sp>
          <p:nvSpPr>
            <p:cNvPr id="19" name="TextBox 19"/>
            <p:cNvSpPr txBox="1"/>
            <p:nvPr/>
          </p:nvSpPr>
          <p:spPr>
            <a:xfrm>
              <a:off x="0" y="-38100"/>
              <a:ext cx="1467701" cy="254920"/>
            </a:xfrm>
            <a:prstGeom prst="rect">
              <a:avLst/>
            </a:prstGeom>
          </p:spPr>
          <p:txBody>
            <a:bodyPr lIns="50800" tIns="50800" rIns="50800" bIns="50800" rtlCol="0" anchor="ctr"/>
            <a:lstStyle/>
            <a:p>
              <a:pPr algn="ctr">
                <a:lnSpc>
                  <a:spcPts val="3359"/>
                </a:lnSpc>
                <a:spcBef>
                  <a:spcPct val="0"/>
                </a:spcBef>
              </a:pPr>
              <a:endParaRPr/>
            </a:p>
          </p:txBody>
        </p:sp>
      </p:grpSp>
      <p:grpSp>
        <p:nvGrpSpPr>
          <p:cNvPr id="20" name="Group 20"/>
          <p:cNvGrpSpPr/>
          <p:nvPr/>
        </p:nvGrpSpPr>
        <p:grpSpPr>
          <a:xfrm>
            <a:off x="10921267" y="8584150"/>
            <a:ext cx="5197281" cy="767781"/>
            <a:chOff x="0" y="0"/>
            <a:chExt cx="1467701" cy="216820"/>
          </a:xfrm>
        </p:grpSpPr>
        <p:sp>
          <p:nvSpPr>
            <p:cNvPr id="21" name="Freeform 21"/>
            <p:cNvSpPr/>
            <p:nvPr/>
          </p:nvSpPr>
          <p:spPr>
            <a:xfrm>
              <a:off x="0" y="0"/>
              <a:ext cx="1467701" cy="216820"/>
            </a:xfrm>
            <a:custGeom>
              <a:avLst/>
              <a:gdLst/>
              <a:ahLst/>
              <a:cxnLst/>
              <a:rect l="l" t="t" r="r" b="b"/>
              <a:pathLst>
                <a:path w="1467701" h="216820">
                  <a:moveTo>
                    <a:pt x="75970" y="0"/>
                  </a:moveTo>
                  <a:lnTo>
                    <a:pt x="1391731" y="0"/>
                  </a:lnTo>
                  <a:cubicBezTo>
                    <a:pt x="1411879" y="0"/>
                    <a:pt x="1431203" y="8004"/>
                    <a:pt x="1445450" y="22251"/>
                  </a:cubicBezTo>
                  <a:cubicBezTo>
                    <a:pt x="1459697" y="36498"/>
                    <a:pt x="1467701" y="55822"/>
                    <a:pt x="1467701" y="75970"/>
                  </a:cubicBezTo>
                  <a:lnTo>
                    <a:pt x="1467701" y="140850"/>
                  </a:lnTo>
                  <a:cubicBezTo>
                    <a:pt x="1467701" y="160998"/>
                    <a:pt x="1459697" y="180321"/>
                    <a:pt x="1445450" y="194569"/>
                  </a:cubicBezTo>
                  <a:cubicBezTo>
                    <a:pt x="1431203" y="208816"/>
                    <a:pt x="1411879" y="216820"/>
                    <a:pt x="1391731" y="216820"/>
                  </a:cubicBezTo>
                  <a:lnTo>
                    <a:pt x="75970" y="216820"/>
                  </a:lnTo>
                  <a:cubicBezTo>
                    <a:pt x="55822" y="216820"/>
                    <a:pt x="36498" y="208816"/>
                    <a:pt x="22251" y="194569"/>
                  </a:cubicBezTo>
                  <a:cubicBezTo>
                    <a:pt x="8004" y="180321"/>
                    <a:pt x="0" y="160998"/>
                    <a:pt x="0" y="140850"/>
                  </a:cubicBezTo>
                  <a:lnTo>
                    <a:pt x="0" y="75970"/>
                  </a:lnTo>
                  <a:cubicBezTo>
                    <a:pt x="0" y="55822"/>
                    <a:pt x="8004" y="36498"/>
                    <a:pt x="22251" y="22251"/>
                  </a:cubicBezTo>
                  <a:cubicBezTo>
                    <a:pt x="36498" y="8004"/>
                    <a:pt x="55822" y="0"/>
                    <a:pt x="75970" y="0"/>
                  </a:cubicBezTo>
                  <a:close/>
                </a:path>
              </a:pathLst>
            </a:custGeom>
            <a:solidFill>
              <a:srgbClr val="0C6161">
                <a:alpha val="40000"/>
              </a:srgbClr>
            </a:solidFill>
            <a:ln w="9525" cap="rnd">
              <a:solidFill>
                <a:srgbClr val="FFFFFF">
                  <a:alpha val="40000"/>
                </a:srgbClr>
              </a:solidFill>
              <a:prstDash val="solid"/>
              <a:round/>
            </a:ln>
          </p:spPr>
        </p:sp>
        <p:sp>
          <p:nvSpPr>
            <p:cNvPr id="22" name="TextBox 22"/>
            <p:cNvSpPr txBox="1"/>
            <p:nvPr/>
          </p:nvSpPr>
          <p:spPr>
            <a:xfrm>
              <a:off x="0" y="-38100"/>
              <a:ext cx="1467701" cy="254920"/>
            </a:xfrm>
            <a:prstGeom prst="rect">
              <a:avLst/>
            </a:prstGeom>
          </p:spPr>
          <p:txBody>
            <a:bodyPr lIns="50800" tIns="50800" rIns="50800" bIns="50800" rtlCol="0" anchor="ctr"/>
            <a:lstStyle/>
            <a:p>
              <a:pPr algn="ctr">
                <a:lnSpc>
                  <a:spcPts val="3359"/>
                </a:lnSpc>
                <a:spcBef>
                  <a:spcPct val="0"/>
                </a:spcBef>
              </a:pPr>
              <a:endParaRPr/>
            </a:p>
          </p:txBody>
        </p:sp>
      </p:grpSp>
      <p:sp>
        <p:nvSpPr>
          <p:cNvPr id="23" name="TextBox 23"/>
          <p:cNvSpPr txBox="1"/>
          <p:nvPr/>
        </p:nvSpPr>
        <p:spPr>
          <a:xfrm>
            <a:off x="10523214" y="1369752"/>
            <a:ext cx="5993386" cy="7760208"/>
          </a:xfrm>
          <a:prstGeom prst="rect">
            <a:avLst/>
          </a:prstGeom>
        </p:spPr>
        <p:txBody>
          <a:bodyPr lIns="0" tIns="0" rIns="0" bIns="0" rtlCol="0" anchor="t">
            <a:spAutoFit/>
          </a:bodyPr>
          <a:lstStyle/>
          <a:p>
            <a:pPr algn="ctr">
              <a:lnSpc>
                <a:spcPts val="3035"/>
              </a:lnSpc>
            </a:pPr>
            <a:r>
              <a:rPr lang="en-US" sz="2199">
                <a:solidFill>
                  <a:srgbClr val="FFFFFF"/>
                </a:solidFill>
                <a:latin typeface="Arimo"/>
                <a:ea typeface="Arimo"/>
                <a:cs typeface="Arimo"/>
                <a:sym typeface="Arimo"/>
              </a:rPr>
              <a:t>Original Design </a:t>
            </a:r>
          </a:p>
          <a:p>
            <a:pPr algn="ctr">
              <a:lnSpc>
                <a:spcPts val="3035"/>
              </a:lnSpc>
            </a:pPr>
            <a:endParaRPr lang="en-US" sz="2199">
              <a:solidFill>
                <a:srgbClr val="FFFFFF"/>
              </a:solidFill>
              <a:latin typeface="Arimo"/>
              <a:ea typeface="Arimo"/>
              <a:cs typeface="Arimo"/>
              <a:sym typeface="Arimo"/>
            </a:endParaRPr>
          </a:p>
          <a:p>
            <a:pPr algn="ctr">
              <a:lnSpc>
                <a:spcPts val="3035"/>
              </a:lnSpc>
            </a:pPr>
            <a:endParaRPr lang="en-US" sz="2199">
              <a:solidFill>
                <a:srgbClr val="FFFFFF"/>
              </a:solidFill>
              <a:latin typeface="Arimo"/>
              <a:ea typeface="Arimo"/>
              <a:cs typeface="Arimo"/>
              <a:sym typeface="Arimo"/>
            </a:endParaRPr>
          </a:p>
          <a:p>
            <a:pPr algn="ctr">
              <a:lnSpc>
                <a:spcPts val="3035"/>
              </a:lnSpc>
            </a:pPr>
            <a:r>
              <a:rPr lang="en-US" sz="2199">
                <a:solidFill>
                  <a:srgbClr val="FFFFFF"/>
                </a:solidFill>
                <a:latin typeface="Arimo"/>
                <a:ea typeface="Arimo"/>
                <a:cs typeface="Arimo"/>
                <a:sym typeface="Arimo"/>
              </a:rPr>
              <a:t>Long Combinational Datapaths </a:t>
            </a:r>
          </a:p>
          <a:p>
            <a:pPr algn="ctr">
              <a:lnSpc>
                <a:spcPts val="3035"/>
              </a:lnSpc>
            </a:pPr>
            <a:r>
              <a:rPr lang="en-US" sz="2199">
                <a:solidFill>
                  <a:srgbClr val="FFFFFF"/>
                </a:solidFill>
                <a:latin typeface="Arimo"/>
                <a:ea typeface="Arimo"/>
                <a:cs typeface="Arimo"/>
                <a:sym typeface="Arimo"/>
              </a:rPr>
              <a:t>Pointwise Multiplication </a:t>
            </a:r>
          </a:p>
          <a:p>
            <a:pPr algn="ctr">
              <a:lnSpc>
                <a:spcPts val="3035"/>
              </a:lnSpc>
            </a:pPr>
            <a:r>
              <a:rPr lang="en-US" sz="2199">
                <a:solidFill>
                  <a:srgbClr val="FFFFFF"/>
                </a:solidFill>
                <a:latin typeface="Arimo"/>
                <a:ea typeface="Arimo"/>
                <a:cs typeface="Arimo"/>
                <a:sym typeface="Arimo"/>
              </a:rPr>
              <a:t>Matrix-Vector Accumulation</a:t>
            </a:r>
          </a:p>
          <a:p>
            <a:pPr algn="ctr">
              <a:lnSpc>
                <a:spcPts val="3035"/>
              </a:lnSpc>
            </a:pPr>
            <a:r>
              <a:rPr lang="en-US" sz="2199">
                <a:solidFill>
                  <a:srgbClr val="FFFFFF"/>
                </a:solidFill>
                <a:latin typeface="Arimo"/>
                <a:ea typeface="Arimo"/>
                <a:cs typeface="Arimo"/>
                <a:sym typeface="Arimo"/>
              </a:rPr>
              <a:t>Barrett Reduction </a:t>
            </a:r>
          </a:p>
          <a:p>
            <a:pPr algn="ctr">
              <a:lnSpc>
                <a:spcPts val="3035"/>
              </a:lnSpc>
            </a:pPr>
            <a:r>
              <a:rPr lang="en-US" sz="2199">
                <a:solidFill>
                  <a:srgbClr val="FFFFFF"/>
                </a:solidFill>
                <a:latin typeface="Arimo"/>
                <a:ea typeface="Arimo"/>
                <a:cs typeface="Arimo"/>
                <a:sym typeface="Arimo"/>
              </a:rPr>
              <a:t>Encryption Compression</a:t>
            </a:r>
          </a:p>
          <a:p>
            <a:pPr algn="ctr">
              <a:lnSpc>
                <a:spcPts val="3035"/>
              </a:lnSpc>
            </a:pPr>
            <a:endParaRPr lang="en-US" sz="2199">
              <a:solidFill>
                <a:srgbClr val="FFFFFF"/>
              </a:solidFill>
              <a:latin typeface="Arimo"/>
              <a:ea typeface="Arimo"/>
              <a:cs typeface="Arimo"/>
              <a:sym typeface="Arimo"/>
            </a:endParaRPr>
          </a:p>
          <a:p>
            <a:pPr algn="ctr">
              <a:lnSpc>
                <a:spcPts val="3035"/>
              </a:lnSpc>
            </a:pPr>
            <a:endParaRPr lang="en-US" sz="2199">
              <a:solidFill>
                <a:srgbClr val="FFFFFF"/>
              </a:solidFill>
              <a:latin typeface="Arimo"/>
              <a:ea typeface="Arimo"/>
              <a:cs typeface="Arimo"/>
              <a:sym typeface="Arimo"/>
            </a:endParaRPr>
          </a:p>
          <a:p>
            <a:pPr algn="ctr">
              <a:lnSpc>
                <a:spcPts val="2207"/>
              </a:lnSpc>
            </a:pPr>
            <a:endParaRPr lang="en-US" sz="2199">
              <a:solidFill>
                <a:srgbClr val="FFFFFF"/>
              </a:solidFill>
              <a:latin typeface="Arimo"/>
              <a:ea typeface="Arimo"/>
              <a:cs typeface="Arimo"/>
              <a:sym typeface="Arimo"/>
            </a:endParaRPr>
          </a:p>
          <a:p>
            <a:pPr algn="ctr">
              <a:lnSpc>
                <a:spcPts val="3035"/>
              </a:lnSpc>
            </a:pPr>
            <a:r>
              <a:rPr lang="en-US" sz="2199">
                <a:solidFill>
                  <a:srgbClr val="FFFFFF"/>
                </a:solidFill>
                <a:latin typeface="Arimo"/>
                <a:ea typeface="Arimo"/>
                <a:cs typeface="Arimo"/>
                <a:sym typeface="Arimo"/>
              </a:rPr>
              <a:t>Selected RTL Optimization </a:t>
            </a:r>
          </a:p>
          <a:p>
            <a:pPr algn="ctr">
              <a:lnSpc>
                <a:spcPts val="3035"/>
              </a:lnSpc>
            </a:pPr>
            <a:r>
              <a:rPr lang="en-US" sz="2199">
                <a:solidFill>
                  <a:srgbClr val="FFFFFF"/>
                </a:solidFill>
                <a:latin typeface="Arimo"/>
                <a:ea typeface="Arimo"/>
                <a:cs typeface="Arimo"/>
                <a:sym typeface="Arimo"/>
              </a:rPr>
              <a:t>Pipeline Registers </a:t>
            </a:r>
          </a:p>
          <a:p>
            <a:pPr algn="ctr">
              <a:lnSpc>
                <a:spcPts val="3035"/>
              </a:lnSpc>
            </a:pPr>
            <a:r>
              <a:rPr lang="en-US" sz="2199">
                <a:solidFill>
                  <a:srgbClr val="FFFFFF"/>
                </a:solidFill>
                <a:latin typeface="Arimo"/>
                <a:ea typeface="Arimo"/>
                <a:cs typeface="Arimo"/>
                <a:sym typeface="Arimo"/>
              </a:rPr>
              <a:t>Holding Registers </a:t>
            </a:r>
          </a:p>
          <a:p>
            <a:pPr algn="ctr">
              <a:lnSpc>
                <a:spcPts val="3035"/>
              </a:lnSpc>
            </a:pPr>
            <a:r>
              <a:rPr lang="en-US" sz="2199">
                <a:solidFill>
                  <a:srgbClr val="FFFFFF"/>
                </a:solidFill>
                <a:latin typeface="Arimo"/>
                <a:ea typeface="Arimo"/>
                <a:cs typeface="Arimo"/>
                <a:sym typeface="Arimo"/>
              </a:rPr>
              <a:t>Intermediate FSM States</a:t>
            </a:r>
          </a:p>
          <a:p>
            <a:pPr algn="ctr">
              <a:lnSpc>
                <a:spcPts val="3035"/>
              </a:lnSpc>
            </a:pPr>
            <a:r>
              <a:rPr lang="en-US" sz="2199">
                <a:solidFill>
                  <a:srgbClr val="FFFFFF"/>
                </a:solidFill>
                <a:latin typeface="Arimo"/>
                <a:ea typeface="Arimo"/>
                <a:cs typeface="Arimo"/>
                <a:sym typeface="Arimo"/>
              </a:rPr>
              <a:t> </a:t>
            </a:r>
          </a:p>
          <a:p>
            <a:pPr algn="ctr">
              <a:lnSpc>
                <a:spcPts val="3035"/>
              </a:lnSpc>
            </a:pPr>
            <a:endParaRPr lang="en-US" sz="2199">
              <a:solidFill>
                <a:srgbClr val="FFFFFF"/>
              </a:solidFill>
              <a:latin typeface="Arimo"/>
              <a:ea typeface="Arimo"/>
              <a:cs typeface="Arimo"/>
              <a:sym typeface="Arimo"/>
            </a:endParaRPr>
          </a:p>
          <a:p>
            <a:pPr algn="ctr">
              <a:lnSpc>
                <a:spcPts val="3035"/>
              </a:lnSpc>
            </a:pPr>
            <a:r>
              <a:rPr lang="en-US" sz="2199">
                <a:solidFill>
                  <a:srgbClr val="FFFFFF"/>
                </a:solidFill>
                <a:latin typeface="Arimo"/>
                <a:ea typeface="Arimo"/>
                <a:cs typeface="Arimo"/>
                <a:sym typeface="Arimo"/>
              </a:rPr>
              <a:t>Shorter Combinational Paths</a:t>
            </a:r>
          </a:p>
          <a:p>
            <a:pPr algn="ctr">
              <a:lnSpc>
                <a:spcPts val="3035"/>
              </a:lnSpc>
            </a:pPr>
            <a:endParaRPr lang="en-US" sz="2199">
              <a:solidFill>
                <a:srgbClr val="FFFFFF"/>
              </a:solidFill>
              <a:latin typeface="Arimo"/>
              <a:ea typeface="Arimo"/>
              <a:cs typeface="Arimo"/>
              <a:sym typeface="Arimo"/>
            </a:endParaRPr>
          </a:p>
          <a:p>
            <a:pPr algn="ctr">
              <a:lnSpc>
                <a:spcPts val="1932"/>
              </a:lnSpc>
            </a:pPr>
            <a:endParaRPr lang="en-US" sz="2199">
              <a:solidFill>
                <a:srgbClr val="FFFFFF"/>
              </a:solidFill>
              <a:latin typeface="Arimo"/>
              <a:ea typeface="Arimo"/>
              <a:cs typeface="Arimo"/>
              <a:sym typeface="Arimo"/>
            </a:endParaRPr>
          </a:p>
          <a:p>
            <a:pPr algn="ctr">
              <a:lnSpc>
                <a:spcPts val="3035"/>
              </a:lnSpc>
            </a:pPr>
            <a:r>
              <a:rPr lang="en-US" sz="2199">
                <a:solidFill>
                  <a:srgbClr val="FFFFFF"/>
                </a:solidFill>
                <a:latin typeface="Arimo"/>
                <a:ea typeface="Arimo"/>
                <a:cs typeface="Arimo"/>
                <a:sym typeface="Arimo"/>
              </a:rPr>
              <a:t>Improved Synthesis Timing</a:t>
            </a:r>
          </a:p>
        </p:txBody>
      </p:sp>
      <p:sp>
        <p:nvSpPr>
          <p:cNvPr id="24" name="TextBox 24"/>
          <p:cNvSpPr txBox="1"/>
          <p:nvPr/>
        </p:nvSpPr>
        <p:spPr>
          <a:xfrm>
            <a:off x="1028700" y="563138"/>
            <a:ext cx="8106150"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Selected Approach</a:t>
            </a:r>
          </a:p>
        </p:txBody>
      </p:sp>
      <p:sp>
        <p:nvSpPr>
          <p:cNvPr id="25" name="TextBox 25"/>
          <p:cNvSpPr txBox="1"/>
          <p:nvPr/>
        </p:nvSpPr>
        <p:spPr>
          <a:xfrm>
            <a:off x="1428012" y="1951292"/>
            <a:ext cx="8040896" cy="7289292"/>
          </a:xfrm>
          <a:prstGeom prst="rect">
            <a:avLst/>
          </a:prstGeom>
        </p:spPr>
        <p:txBody>
          <a:bodyPr lIns="0" tIns="0" rIns="0" bIns="0" rtlCol="0" anchor="t">
            <a:spAutoFit/>
          </a:bodyPr>
          <a:lstStyle/>
          <a:p>
            <a:pPr algn="l">
              <a:lnSpc>
                <a:spcPts val="3863"/>
              </a:lnSpc>
            </a:pPr>
            <a:r>
              <a:rPr lang="en-US" sz="2799">
                <a:solidFill>
                  <a:srgbClr val="FFFFFF"/>
                </a:solidFill>
                <a:latin typeface="Arimo"/>
                <a:ea typeface="Arimo"/>
                <a:cs typeface="Arimo"/>
                <a:sym typeface="Arimo"/>
              </a:rPr>
              <a:t>Selected approach:</a:t>
            </a:r>
          </a:p>
          <a:p>
            <a:pPr algn="l">
              <a:lnSpc>
                <a:spcPts val="3863"/>
              </a:lnSpc>
            </a:pPr>
            <a:r>
              <a:rPr lang="en-US" sz="2799" b="1">
                <a:solidFill>
                  <a:srgbClr val="FFFFFF"/>
                </a:solidFill>
                <a:latin typeface="Arimo Bold"/>
                <a:ea typeface="Arimo Bold"/>
                <a:cs typeface="Arimo Bold"/>
                <a:sym typeface="Arimo Bold"/>
              </a:rPr>
              <a:t>Targeted architectural pipelining</a:t>
            </a:r>
          </a:p>
          <a:p>
            <a:pPr algn="l">
              <a:lnSpc>
                <a:spcPts val="3863"/>
              </a:lnSpc>
            </a:pPr>
            <a:endParaRPr lang="en-US" sz="2799" b="1">
              <a:solidFill>
                <a:srgbClr val="FFFFFF"/>
              </a:solidFill>
              <a:latin typeface="Arimo Bold"/>
              <a:ea typeface="Arimo Bold"/>
              <a:cs typeface="Arimo Bold"/>
              <a:sym typeface="Arimo Bold"/>
            </a:endParaRPr>
          </a:p>
          <a:p>
            <a:pPr algn="l">
              <a:lnSpc>
                <a:spcPts val="3863"/>
              </a:lnSpc>
            </a:pPr>
            <a:r>
              <a:rPr lang="en-US" sz="2799">
                <a:solidFill>
                  <a:srgbClr val="FFFFFF"/>
                </a:solidFill>
                <a:latin typeface="Arimo"/>
                <a:ea typeface="Arimo"/>
                <a:cs typeface="Arimo"/>
                <a:sym typeface="Arimo"/>
              </a:rPr>
              <a:t>rather than:</a:t>
            </a:r>
          </a:p>
          <a:p>
            <a:pPr algn="l">
              <a:lnSpc>
                <a:spcPts val="3863"/>
              </a:lnSpc>
            </a:pPr>
            <a:r>
              <a:rPr lang="en-US" sz="2799" b="1">
                <a:solidFill>
                  <a:srgbClr val="FFFFFF"/>
                </a:solidFill>
                <a:latin typeface="Arimo Bold"/>
                <a:ea typeface="Arimo Bold"/>
                <a:cs typeface="Arimo Bold"/>
                <a:sym typeface="Arimo Bold"/>
              </a:rPr>
              <a:t>Global pipelining of every arithmetic primitive</a:t>
            </a:r>
          </a:p>
          <a:p>
            <a:pPr algn="l">
              <a:lnSpc>
                <a:spcPts val="3863"/>
              </a:lnSpc>
            </a:pPr>
            <a:endParaRPr lang="en-US" sz="2799" b="1">
              <a:solidFill>
                <a:srgbClr val="FFFFFF"/>
              </a:solidFill>
              <a:latin typeface="Arimo Bold"/>
              <a:ea typeface="Arimo Bold"/>
              <a:cs typeface="Arimo Bold"/>
              <a:sym typeface="Arimo Bold"/>
            </a:endParaRPr>
          </a:p>
          <a:p>
            <a:pPr algn="l">
              <a:lnSpc>
                <a:spcPts val="3863"/>
              </a:lnSpc>
            </a:pPr>
            <a:r>
              <a:rPr lang="en-US" sz="2799">
                <a:solidFill>
                  <a:srgbClr val="FFFFFF"/>
                </a:solidFill>
                <a:latin typeface="Arimo"/>
                <a:ea typeface="Arimo"/>
                <a:cs typeface="Arimo"/>
                <a:sym typeface="Arimo"/>
              </a:rPr>
              <a:t>Why this approach?</a:t>
            </a:r>
          </a:p>
          <a:p>
            <a:pPr marL="604519" lvl="1" indent="-302260" algn="l">
              <a:lnSpc>
                <a:spcPts val="3863"/>
              </a:lnSpc>
              <a:buFont typeface="Arial"/>
              <a:buChar char="•"/>
            </a:pPr>
            <a:r>
              <a:rPr lang="en-US" sz="2799">
                <a:solidFill>
                  <a:srgbClr val="FFFFFF"/>
                </a:solidFill>
                <a:latin typeface="Arimo"/>
                <a:ea typeface="Arimo"/>
                <a:cs typeface="Arimo"/>
                <a:sym typeface="Arimo"/>
              </a:rPr>
              <a:t>Limits unnecessary architectural changes</a:t>
            </a:r>
          </a:p>
          <a:p>
            <a:pPr marL="604519" lvl="1" indent="-302260" algn="l">
              <a:lnSpc>
                <a:spcPts val="3863"/>
              </a:lnSpc>
              <a:buFont typeface="Arial"/>
              <a:buChar char="•"/>
            </a:pPr>
            <a:r>
              <a:rPr lang="en-US" sz="2799">
                <a:solidFill>
                  <a:srgbClr val="FFFFFF"/>
                </a:solidFill>
                <a:latin typeface="Arimo"/>
                <a:ea typeface="Arimo"/>
                <a:cs typeface="Arimo"/>
                <a:sym typeface="Arimo"/>
              </a:rPr>
              <a:t>Preserves the existing ML-KEM datapath structure</a:t>
            </a:r>
          </a:p>
          <a:p>
            <a:pPr marL="604519" lvl="1" indent="-302260" algn="l">
              <a:lnSpc>
                <a:spcPts val="3863"/>
              </a:lnSpc>
              <a:buFont typeface="Arial"/>
              <a:buChar char="•"/>
            </a:pPr>
            <a:r>
              <a:rPr lang="en-US" sz="2799">
                <a:solidFill>
                  <a:srgbClr val="FFFFFF"/>
                </a:solidFill>
                <a:latin typeface="Arimo"/>
                <a:ea typeface="Arimo"/>
                <a:cs typeface="Arimo"/>
                <a:sym typeface="Arimo"/>
              </a:rPr>
              <a:t>Breaks the dominant timing paths</a:t>
            </a:r>
          </a:p>
          <a:p>
            <a:pPr marL="604519" lvl="1" indent="-302260" algn="l">
              <a:lnSpc>
                <a:spcPts val="3863"/>
              </a:lnSpc>
              <a:buFont typeface="Arial"/>
              <a:buChar char="•"/>
            </a:pPr>
            <a:r>
              <a:rPr lang="en-US" sz="2799">
                <a:solidFill>
                  <a:srgbClr val="FFFFFF"/>
                </a:solidFill>
                <a:latin typeface="Arimo"/>
                <a:ea typeface="Arimo"/>
                <a:cs typeface="Arimo"/>
                <a:sym typeface="Arimo"/>
              </a:rPr>
              <a:t>Allows FSMs to explicitly control multi-cycle operations</a:t>
            </a:r>
          </a:p>
          <a:p>
            <a:pPr marL="604519" lvl="1" indent="-302260" algn="l">
              <a:lnSpc>
                <a:spcPts val="3863"/>
              </a:lnSpc>
              <a:buFont typeface="Arial"/>
              <a:buChar char="•"/>
            </a:pPr>
            <a:r>
              <a:rPr lang="en-US" sz="2799">
                <a:solidFill>
                  <a:srgbClr val="FFFFFF"/>
                </a:solidFill>
                <a:latin typeface="Arimo"/>
                <a:ea typeface="Arimo"/>
                <a:cs typeface="Arimo"/>
                <a:sym typeface="Arimo"/>
              </a:rPr>
              <a:t>Adds latency only where necessary</a:t>
            </a:r>
          </a:p>
          <a:p>
            <a:pPr algn="l">
              <a:lnSpc>
                <a:spcPts val="3863"/>
              </a:lnSpc>
            </a:pPr>
            <a:endParaRPr lang="en-US" sz="2799">
              <a:solidFill>
                <a:srgbClr val="FFFFFF"/>
              </a:solidFill>
              <a:latin typeface="Arimo"/>
              <a:ea typeface="Arimo"/>
              <a:cs typeface="Arimo"/>
              <a:sym typeface="Arimo"/>
            </a:endParaRPr>
          </a:p>
        </p:txBody>
      </p:sp>
      <p:sp>
        <p:nvSpPr>
          <p:cNvPr id="26" name="AutoShape 26"/>
          <p:cNvSpPr/>
          <p:nvPr/>
        </p:nvSpPr>
        <p:spPr>
          <a:xfrm>
            <a:off x="13482729" y="2035147"/>
            <a:ext cx="0" cy="236429"/>
          </a:xfrm>
          <a:prstGeom prst="line">
            <a:avLst/>
          </a:prstGeom>
          <a:ln w="38100" cap="flat">
            <a:solidFill>
              <a:srgbClr val="FFFFFF"/>
            </a:solidFill>
            <a:prstDash val="solid"/>
            <a:headEnd type="none" w="sm" len="sm"/>
            <a:tailEnd type="arrow" w="med" len="sm"/>
          </a:ln>
        </p:spPr>
      </p:sp>
      <p:sp>
        <p:nvSpPr>
          <p:cNvPr id="27" name="AutoShape 27"/>
          <p:cNvSpPr/>
          <p:nvPr/>
        </p:nvSpPr>
        <p:spPr>
          <a:xfrm>
            <a:off x="13482729" y="4904268"/>
            <a:ext cx="0" cy="235223"/>
          </a:xfrm>
          <a:prstGeom prst="line">
            <a:avLst/>
          </a:prstGeom>
          <a:ln w="38100" cap="flat">
            <a:solidFill>
              <a:srgbClr val="FFFFFF"/>
            </a:solidFill>
            <a:prstDash val="solid"/>
            <a:headEnd type="none" w="sm" len="sm"/>
            <a:tailEnd type="arrow" w="med" len="sm"/>
          </a:ln>
        </p:spPr>
      </p:sp>
      <p:sp>
        <p:nvSpPr>
          <p:cNvPr id="28" name="AutoShape 28"/>
          <p:cNvSpPr/>
          <p:nvPr/>
        </p:nvSpPr>
        <p:spPr>
          <a:xfrm>
            <a:off x="13482729" y="7337217"/>
            <a:ext cx="0" cy="235223"/>
          </a:xfrm>
          <a:prstGeom prst="line">
            <a:avLst/>
          </a:prstGeom>
          <a:ln w="38100" cap="flat">
            <a:solidFill>
              <a:srgbClr val="FFFFFF"/>
            </a:solidFill>
            <a:prstDash val="solid"/>
            <a:headEnd type="none" w="sm" len="sm"/>
            <a:tailEnd type="arrow" w="med" len="sm"/>
          </a:ln>
        </p:spPr>
      </p:sp>
      <p:sp>
        <p:nvSpPr>
          <p:cNvPr id="29" name="AutoShape 29"/>
          <p:cNvSpPr/>
          <p:nvPr/>
        </p:nvSpPr>
        <p:spPr>
          <a:xfrm>
            <a:off x="13482729" y="8355550"/>
            <a:ext cx="0" cy="235223"/>
          </a:xfrm>
          <a:prstGeom prst="line">
            <a:avLst/>
          </a:prstGeom>
          <a:ln w="38100" cap="flat">
            <a:solidFill>
              <a:srgbClr val="FFFFFF"/>
            </a:solidFill>
            <a:prstDash val="solid"/>
            <a:headEnd type="none" w="sm" len="sm"/>
            <a:tailEnd type="arrow" w="med" len="sm"/>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710280" y="776655"/>
            <a:ext cx="10690110" cy="1047750"/>
          </a:xfrm>
          <a:prstGeom prst="rect">
            <a:avLst/>
          </a:prstGeom>
        </p:spPr>
        <p:txBody>
          <a:bodyPr lIns="0" tIns="0" rIns="0" bIns="0" rtlCol="0" anchor="t">
            <a:spAutoFit/>
          </a:bodyPr>
          <a:lstStyle/>
          <a:p>
            <a:pPr algn="l">
              <a:lnSpc>
                <a:spcPts val="8399"/>
              </a:lnSpc>
            </a:pPr>
            <a:r>
              <a:rPr lang="en-US" sz="6999" b="1">
                <a:solidFill>
                  <a:srgbClr val="FFFFFF"/>
                </a:solidFill>
                <a:latin typeface="Darker Grotesque Bold"/>
                <a:ea typeface="Darker Grotesque Bold"/>
                <a:cs typeface="Darker Grotesque Bold"/>
                <a:sym typeface="Darker Grotesque Bold"/>
              </a:rPr>
              <a:t>Pipelining Strategy in Effect</a:t>
            </a:r>
          </a:p>
        </p:txBody>
      </p:sp>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aphicFrame>
        <p:nvGraphicFramePr>
          <p:cNvPr id="6" name="Table 6"/>
          <p:cNvGraphicFramePr>
            <a:graphicFrameLocks noGrp="1"/>
          </p:cNvGraphicFramePr>
          <p:nvPr/>
        </p:nvGraphicFramePr>
        <p:xfrm>
          <a:off x="710280" y="2160730"/>
          <a:ext cx="16867441" cy="7097570"/>
        </p:xfrm>
        <a:graphic>
          <a:graphicData uri="http://schemas.openxmlformats.org/drawingml/2006/table">
            <a:tbl>
              <a:tblPr/>
              <a:tblGrid>
                <a:gridCol w="3171607">
                  <a:extLst>
                    <a:ext uri="{9D8B030D-6E8A-4147-A177-3AD203B41FA5}">
                      <a16:colId xmlns:a16="http://schemas.microsoft.com/office/drawing/2014/main" val="20000"/>
                    </a:ext>
                  </a:extLst>
                </a:gridCol>
                <a:gridCol w="4317595">
                  <a:extLst>
                    <a:ext uri="{9D8B030D-6E8A-4147-A177-3AD203B41FA5}">
                      <a16:colId xmlns:a16="http://schemas.microsoft.com/office/drawing/2014/main" val="20001"/>
                    </a:ext>
                  </a:extLst>
                </a:gridCol>
                <a:gridCol w="4609556">
                  <a:extLst>
                    <a:ext uri="{9D8B030D-6E8A-4147-A177-3AD203B41FA5}">
                      <a16:colId xmlns:a16="http://schemas.microsoft.com/office/drawing/2014/main" val="20002"/>
                    </a:ext>
                  </a:extLst>
                </a:gridCol>
                <a:gridCol w="4768683">
                  <a:extLst>
                    <a:ext uri="{9D8B030D-6E8A-4147-A177-3AD203B41FA5}">
                      <a16:colId xmlns:a16="http://schemas.microsoft.com/office/drawing/2014/main" val="20003"/>
                    </a:ext>
                  </a:extLst>
                </a:gridCol>
              </a:tblGrid>
              <a:tr h="839326">
                <a:tc>
                  <a:txBody>
                    <a:bodyPr/>
                    <a:lstStyle/>
                    <a:p>
                      <a:pPr algn="ctr">
                        <a:lnSpc>
                          <a:spcPts val="2221"/>
                        </a:lnSpc>
                        <a:defRPr/>
                      </a:pPr>
                      <a:r>
                        <a:rPr lang="en-US" sz="2199" b="1">
                          <a:solidFill>
                            <a:srgbClr val="000000"/>
                          </a:solidFill>
                          <a:latin typeface="Arimo Bold"/>
                          <a:ea typeface="Arimo Bold"/>
                          <a:cs typeface="Arimo Bold"/>
                          <a:sym typeface="Arimo Bold"/>
                        </a:rPr>
                        <a:t>Module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2221"/>
                        </a:lnSpc>
                        <a:defRPr/>
                      </a:pPr>
                      <a:r>
                        <a:rPr lang="en-US" sz="2199" b="1">
                          <a:solidFill>
                            <a:srgbClr val="000000"/>
                          </a:solidFill>
                          <a:latin typeface="Arimo Bold"/>
                          <a:ea typeface="Arimo Bold"/>
                          <a:cs typeface="Arimo Bold"/>
                          <a:sym typeface="Arimo Bold"/>
                        </a:rPr>
                        <a:t>Original bottleneck</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2221"/>
                        </a:lnSpc>
                        <a:defRPr/>
                      </a:pPr>
                      <a:r>
                        <a:rPr lang="en-US" sz="2199" b="1">
                          <a:solidFill>
                            <a:srgbClr val="000000"/>
                          </a:solidFill>
                          <a:latin typeface="Arimo Bold"/>
                          <a:ea typeface="Arimo Bold"/>
                          <a:cs typeface="Arimo Bold"/>
                          <a:sym typeface="Arimo Bold"/>
                        </a:rPr>
                        <a:t>Selected modification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tc>
                  <a:txBody>
                    <a:bodyPr/>
                    <a:lstStyle/>
                    <a:p>
                      <a:pPr algn="ctr">
                        <a:lnSpc>
                          <a:spcPts val="2221"/>
                        </a:lnSpc>
                        <a:defRPr/>
                      </a:pPr>
                      <a:r>
                        <a:rPr lang="en-US" sz="2199" b="1">
                          <a:solidFill>
                            <a:srgbClr val="000000"/>
                          </a:solidFill>
                          <a:latin typeface="Arimo Bold"/>
                          <a:ea typeface="Arimo Bold"/>
                          <a:cs typeface="Arimo Bold"/>
                          <a:sym typeface="Arimo Bold"/>
                        </a:rPr>
                        <a:t>Effect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869FB2"/>
                    </a:solidFill>
                  </a:tcPr>
                </a:tc>
                <a:extLst>
                  <a:ext uri="{0D108BD9-81ED-4DB2-BD59-A6C34878D82A}">
                    <a16:rowId xmlns:a16="http://schemas.microsoft.com/office/drawing/2014/main" val="10000"/>
                  </a:ext>
                </a:extLst>
              </a:tr>
              <a:tr h="1622859">
                <a:tc>
                  <a:txBody>
                    <a:bodyPr/>
                    <a:lstStyle/>
                    <a:p>
                      <a:pPr algn="ctr">
                        <a:lnSpc>
                          <a:spcPts val="2800"/>
                        </a:lnSpc>
                        <a:defRPr/>
                      </a:pPr>
                      <a:r>
                        <a:rPr lang="en-US" sz="2000">
                          <a:solidFill>
                            <a:srgbClr val="FFFFFF"/>
                          </a:solidFill>
                          <a:latin typeface="Arimo"/>
                          <a:ea typeface="Arimo"/>
                          <a:cs typeface="Arimo"/>
                          <a:sym typeface="Arimo"/>
                        </a:rPr>
                        <a:t>poly_mul_pointwise.v</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Two Barrett modular multiplications cascaded in one cycle</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Pointwise multiplication divided into 2 pipeline stages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Critical path reduced from ~14 ns to ~5 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639068">
                <a:tc>
                  <a:txBody>
                    <a:bodyPr/>
                    <a:lstStyle/>
                    <a:p>
                      <a:pPr algn="ctr">
                        <a:lnSpc>
                          <a:spcPts val="2800"/>
                        </a:lnSpc>
                        <a:defRPr/>
                      </a:pPr>
                      <a:r>
                        <a:rPr lang="en-US" sz="2000">
                          <a:solidFill>
                            <a:srgbClr val="FFFFFF"/>
                          </a:solidFill>
                          <a:latin typeface="Arimo"/>
                          <a:ea typeface="Arimo"/>
                          <a:cs typeface="Arimo"/>
                          <a:sym typeface="Arimo"/>
                        </a:rPr>
                        <a:t>mlkem_enc.v</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INTT → polynomial additions → 768 compression units formed one long path</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Dedicated RUN_COMP state + holding registers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Isolated compression logic; removed ~5 ns from path</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489344">
                <a:tc>
                  <a:txBody>
                    <a:bodyPr/>
                    <a:lstStyle/>
                    <a:p>
                      <a:pPr algn="ctr">
                        <a:lnSpc>
                          <a:spcPts val="2800"/>
                        </a:lnSpc>
                        <a:defRPr/>
                      </a:pPr>
                      <a:r>
                        <a:rPr lang="en-US" sz="2000">
                          <a:solidFill>
                            <a:srgbClr val="FFFFFF"/>
                          </a:solidFill>
                          <a:latin typeface="Arimo"/>
                          <a:ea typeface="Arimo"/>
                          <a:cs typeface="Arimo"/>
                          <a:sym typeface="Arimo"/>
                        </a:rPr>
                        <a:t>matrix_vec_mul.v</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Pointwise multiplication directly drove 256 parallel modular adders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Pipeline holding registers + intermediate FSM states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Prevented multiplier/add-tree delay from being combined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506972">
                <a:tc>
                  <a:txBody>
                    <a:bodyPr/>
                    <a:lstStyle/>
                    <a:p>
                      <a:pPr algn="ctr">
                        <a:lnSpc>
                          <a:spcPts val="2800"/>
                        </a:lnSpc>
                        <a:defRPr/>
                      </a:pPr>
                      <a:r>
                        <a:rPr lang="en-US" sz="2000">
                          <a:solidFill>
                            <a:srgbClr val="FFFFFF"/>
                          </a:solidFill>
                          <a:latin typeface="Arimo"/>
                          <a:ea typeface="Arimo"/>
                          <a:cs typeface="Arimo"/>
                          <a:sym typeface="Arimo"/>
                        </a:rPr>
                        <a:t>mod_reduce_3329.v</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Barrett reduction had long reciprocal/remainder computation</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Reciprocal multiplication and quotient/remainder calculation divided into 2 stages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800"/>
                        </a:lnSpc>
                        <a:defRPr/>
                      </a:pPr>
                      <a:r>
                        <a:rPr lang="en-US" sz="2000">
                          <a:solidFill>
                            <a:srgbClr val="FFFFFF"/>
                          </a:solidFill>
                          <a:latin typeface="Arimo"/>
                          <a:ea typeface="Arimo"/>
                          <a:cs typeface="Arimo"/>
                          <a:sym typeface="Arimo"/>
                        </a:rPr>
                        <a:t>Reduction divided into shorter timing stages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2461869" y="2020451"/>
            <a:ext cx="5628338" cy="853992"/>
            <a:chOff x="0" y="0"/>
            <a:chExt cx="1589430" cy="241165"/>
          </a:xfrm>
        </p:grpSpPr>
        <p:sp>
          <p:nvSpPr>
            <p:cNvPr id="5" name="Freeform 5"/>
            <p:cNvSpPr/>
            <p:nvPr/>
          </p:nvSpPr>
          <p:spPr>
            <a:xfrm>
              <a:off x="0" y="0"/>
              <a:ext cx="1589430" cy="241165"/>
            </a:xfrm>
            <a:custGeom>
              <a:avLst/>
              <a:gdLst/>
              <a:ahLst/>
              <a:cxnLst/>
              <a:rect l="l" t="t" r="r" b="b"/>
              <a:pathLst>
                <a:path w="1589430" h="241165">
                  <a:moveTo>
                    <a:pt x="70152" y="0"/>
                  </a:moveTo>
                  <a:lnTo>
                    <a:pt x="1519278" y="0"/>
                  </a:lnTo>
                  <a:cubicBezTo>
                    <a:pt x="1558022" y="0"/>
                    <a:pt x="1589430" y="31408"/>
                    <a:pt x="1589430" y="70152"/>
                  </a:cubicBezTo>
                  <a:lnTo>
                    <a:pt x="1589430" y="171014"/>
                  </a:lnTo>
                  <a:cubicBezTo>
                    <a:pt x="1589430" y="209757"/>
                    <a:pt x="1558022" y="241165"/>
                    <a:pt x="1519278" y="241165"/>
                  </a:cubicBezTo>
                  <a:lnTo>
                    <a:pt x="70152" y="241165"/>
                  </a:lnTo>
                  <a:cubicBezTo>
                    <a:pt x="31408" y="241165"/>
                    <a:pt x="0" y="209757"/>
                    <a:pt x="0" y="171014"/>
                  </a:cubicBezTo>
                  <a:lnTo>
                    <a:pt x="0" y="70152"/>
                  </a:lnTo>
                  <a:cubicBezTo>
                    <a:pt x="0" y="31408"/>
                    <a:pt x="31408" y="0"/>
                    <a:pt x="70152" y="0"/>
                  </a:cubicBezTo>
                  <a:close/>
                </a:path>
              </a:pathLst>
            </a:custGeom>
            <a:solidFill>
              <a:srgbClr val="0C6161"/>
            </a:solidFill>
          </p:spPr>
        </p:sp>
        <p:sp>
          <p:nvSpPr>
            <p:cNvPr id="6" name="TextBox 6"/>
            <p:cNvSpPr txBox="1"/>
            <p:nvPr/>
          </p:nvSpPr>
          <p:spPr>
            <a:xfrm>
              <a:off x="0" y="-38100"/>
              <a:ext cx="1589430"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Algorithm Study</a:t>
              </a:r>
            </a:p>
          </p:txBody>
        </p:sp>
      </p:grpSp>
      <p:grpSp>
        <p:nvGrpSpPr>
          <p:cNvPr id="7" name="Group 7"/>
          <p:cNvGrpSpPr/>
          <p:nvPr/>
        </p:nvGrpSpPr>
        <p:grpSpPr>
          <a:xfrm>
            <a:off x="2461869" y="3167594"/>
            <a:ext cx="5628338" cy="853992"/>
            <a:chOff x="0" y="0"/>
            <a:chExt cx="1589430" cy="241165"/>
          </a:xfrm>
        </p:grpSpPr>
        <p:sp>
          <p:nvSpPr>
            <p:cNvPr id="8" name="Freeform 8"/>
            <p:cNvSpPr/>
            <p:nvPr/>
          </p:nvSpPr>
          <p:spPr>
            <a:xfrm>
              <a:off x="0" y="0"/>
              <a:ext cx="1589430" cy="241165"/>
            </a:xfrm>
            <a:custGeom>
              <a:avLst/>
              <a:gdLst/>
              <a:ahLst/>
              <a:cxnLst/>
              <a:rect l="l" t="t" r="r" b="b"/>
              <a:pathLst>
                <a:path w="1589430" h="241165">
                  <a:moveTo>
                    <a:pt x="70152" y="0"/>
                  </a:moveTo>
                  <a:lnTo>
                    <a:pt x="1519278" y="0"/>
                  </a:lnTo>
                  <a:cubicBezTo>
                    <a:pt x="1558022" y="0"/>
                    <a:pt x="1589430" y="31408"/>
                    <a:pt x="1589430" y="70152"/>
                  </a:cubicBezTo>
                  <a:lnTo>
                    <a:pt x="1589430" y="171014"/>
                  </a:lnTo>
                  <a:cubicBezTo>
                    <a:pt x="1589430" y="209757"/>
                    <a:pt x="1558022" y="241165"/>
                    <a:pt x="1519278" y="241165"/>
                  </a:cubicBezTo>
                  <a:lnTo>
                    <a:pt x="70152" y="241165"/>
                  </a:lnTo>
                  <a:cubicBezTo>
                    <a:pt x="31408" y="241165"/>
                    <a:pt x="0" y="209757"/>
                    <a:pt x="0" y="171014"/>
                  </a:cubicBezTo>
                  <a:lnTo>
                    <a:pt x="0" y="70152"/>
                  </a:lnTo>
                  <a:cubicBezTo>
                    <a:pt x="0" y="31408"/>
                    <a:pt x="31408" y="0"/>
                    <a:pt x="70152" y="0"/>
                  </a:cubicBezTo>
                  <a:close/>
                </a:path>
              </a:pathLst>
            </a:custGeom>
            <a:solidFill>
              <a:srgbClr val="0C6161"/>
            </a:solidFill>
          </p:spPr>
        </p:sp>
        <p:sp>
          <p:nvSpPr>
            <p:cNvPr id="9" name="TextBox 9"/>
            <p:cNvSpPr txBox="1"/>
            <p:nvPr/>
          </p:nvSpPr>
          <p:spPr>
            <a:xfrm>
              <a:off x="0" y="-38100"/>
              <a:ext cx="1589430"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Architecture Design</a:t>
              </a:r>
            </a:p>
          </p:txBody>
        </p:sp>
      </p:grpSp>
      <p:grpSp>
        <p:nvGrpSpPr>
          <p:cNvPr id="10" name="Group 10"/>
          <p:cNvGrpSpPr/>
          <p:nvPr/>
        </p:nvGrpSpPr>
        <p:grpSpPr>
          <a:xfrm>
            <a:off x="10115412" y="2594022"/>
            <a:ext cx="5659927" cy="2221022"/>
            <a:chOff x="0" y="0"/>
            <a:chExt cx="1598351" cy="627212"/>
          </a:xfrm>
        </p:grpSpPr>
        <p:sp>
          <p:nvSpPr>
            <p:cNvPr id="11" name="Freeform 11"/>
            <p:cNvSpPr/>
            <p:nvPr/>
          </p:nvSpPr>
          <p:spPr>
            <a:xfrm>
              <a:off x="0" y="0"/>
              <a:ext cx="1598351" cy="627212"/>
            </a:xfrm>
            <a:custGeom>
              <a:avLst/>
              <a:gdLst/>
              <a:ahLst/>
              <a:cxnLst/>
              <a:rect l="l" t="t" r="r" b="b"/>
              <a:pathLst>
                <a:path w="1598351" h="627212">
                  <a:moveTo>
                    <a:pt x="69760" y="0"/>
                  </a:moveTo>
                  <a:lnTo>
                    <a:pt x="1528591" y="0"/>
                  </a:lnTo>
                  <a:cubicBezTo>
                    <a:pt x="1567118" y="0"/>
                    <a:pt x="1598351" y="31233"/>
                    <a:pt x="1598351" y="69760"/>
                  </a:cubicBezTo>
                  <a:lnTo>
                    <a:pt x="1598351" y="557451"/>
                  </a:lnTo>
                  <a:cubicBezTo>
                    <a:pt x="1598351" y="575953"/>
                    <a:pt x="1591001" y="593697"/>
                    <a:pt x="1577919" y="606779"/>
                  </a:cubicBezTo>
                  <a:cubicBezTo>
                    <a:pt x="1564836" y="619862"/>
                    <a:pt x="1547092" y="627212"/>
                    <a:pt x="1528591" y="627212"/>
                  </a:cubicBezTo>
                  <a:lnTo>
                    <a:pt x="69760" y="627212"/>
                  </a:lnTo>
                  <a:cubicBezTo>
                    <a:pt x="51259" y="627212"/>
                    <a:pt x="33515" y="619862"/>
                    <a:pt x="20432" y="606779"/>
                  </a:cubicBezTo>
                  <a:cubicBezTo>
                    <a:pt x="7350" y="593697"/>
                    <a:pt x="0" y="575953"/>
                    <a:pt x="0" y="557451"/>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12" name="TextBox 12"/>
            <p:cNvSpPr txBox="1"/>
            <p:nvPr/>
          </p:nvSpPr>
          <p:spPr>
            <a:xfrm>
              <a:off x="0" y="-38100"/>
              <a:ext cx="1598351" cy="665312"/>
            </a:xfrm>
            <a:prstGeom prst="rect">
              <a:avLst/>
            </a:prstGeom>
          </p:spPr>
          <p:txBody>
            <a:bodyPr lIns="50800" tIns="50800" rIns="50800" bIns="50800" rtlCol="0" anchor="ctr"/>
            <a:lstStyle/>
            <a:p>
              <a:pPr algn="ctr">
                <a:lnSpc>
                  <a:spcPts val="3359"/>
                </a:lnSpc>
              </a:pPr>
              <a:r>
                <a:rPr lang="en-US" sz="2400">
                  <a:solidFill>
                    <a:srgbClr val="FFFFFF"/>
                  </a:solidFill>
                  <a:latin typeface="Canva Sans"/>
                  <a:ea typeface="Canva Sans"/>
                  <a:cs typeface="Canva Sans"/>
                  <a:sym typeface="Canva Sans"/>
                </a:rPr>
                <a:t>Timing-Driven RTL Optimization: Pipeline insertion</a:t>
              </a:r>
            </a:p>
            <a:p>
              <a:pPr algn="ctr">
                <a:lnSpc>
                  <a:spcPts val="3359"/>
                </a:lnSpc>
              </a:pPr>
              <a:r>
                <a:rPr lang="en-US" sz="2400">
                  <a:solidFill>
                    <a:srgbClr val="FFFFFF"/>
                  </a:solidFill>
                  <a:latin typeface="Canva Sans"/>
                  <a:ea typeface="Canva Sans"/>
                  <a:cs typeface="Canva Sans"/>
                  <a:sym typeface="Canva Sans"/>
                </a:rPr>
                <a:t>FSM modification</a:t>
              </a:r>
            </a:p>
            <a:p>
              <a:pPr algn="ctr">
                <a:lnSpc>
                  <a:spcPts val="3359"/>
                </a:lnSpc>
              </a:pPr>
              <a:r>
                <a:rPr lang="en-US" sz="2400">
                  <a:solidFill>
                    <a:srgbClr val="FFFFFF"/>
                  </a:solidFill>
                  <a:latin typeface="Canva Sans"/>
                  <a:ea typeface="Canva Sans"/>
                  <a:cs typeface="Canva Sans"/>
                  <a:sym typeface="Canva Sans"/>
                </a:rPr>
                <a:t>Holding registers</a:t>
              </a:r>
            </a:p>
            <a:p>
              <a:pPr algn="ctr">
                <a:lnSpc>
                  <a:spcPts val="3359"/>
                </a:lnSpc>
                <a:spcBef>
                  <a:spcPct val="0"/>
                </a:spcBef>
              </a:pPr>
              <a:r>
                <a:rPr lang="en-US" sz="2400">
                  <a:solidFill>
                    <a:srgbClr val="FFFFFF"/>
                  </a:solidFill>
                  <a:latin typeface="Canva Sans"/>
                  <a:ea typeface="Canva Sans"/>
                  <a:cs typeface="Canva Sans"/>
                  <a:sym typeface="Canva Sans"/>
                </a:rPr>
                <a:t>SDC refinement</a:t>
              </a:r>
            </a:p>
          </p:txBody>
        </p:sp>
      </p:grpSp>
      <p:grpSp>
        <p:nvGrpSpPr>
          <p:cNvPr id="13" name="Group 13"/>
          <p:cNvGrpSpPr/>
          <p:nvPr/>
        </p:nvGrpSpPr>
        <p:grpSpPr>
          <a:xfrm>
            <a:off x="2461869" y="4314736"/>
            <a:ext cx="5628338" cy="853992"/>
            <a:chOff x="0" y="0"/>
            <a:chExt cx="1589430" cy="241165"/>
          </a:xfrm>
        </p:grpSpPr>
        <p:sp>
          <p:nvSpPr>
            <p:cNvPr id="14" name="Freeform 14"/>
            <p:cNvSpPr/>
            <p:nvPr/>
          </p:nvSpPr>
          <p:spPr>
            <a:xfrm>
              <a:off x="0" y="0"/>
              <a:ext cx="1589430" cy="241165"/>
            </a:xfrm>
            <a:custGeom>
              <a:avLst/>
              <a:gdLst/>
              <a:ahLst/>
              <a:cxnLst/>
              <a:rect l="l" t="t" r="r" b="b"/>
              <a:pathLst>
                <a:path w="1589430" h="241165">
                  <a:moveTo>
                    <a:pt x="70152" y="0"/>
                  </a:moveTo>
                  <a:lnTo>
                    <a:pt x="1519278" y="0"/>
                  </a:lnTo>
                  <a:cubicBezTo>
                    <a:pt x="1558022" y="0"/>
                    <a:pt x="1589430" y="31408"/>
                    <a:pt x="1589430" y="70152"/>
                  </a:cubicBezTo>
                  <a:lnTo>
                    <a:pt x="1589430" y="171014"/>
                  </a:lnTo>
                  <a:cubicBezTo>
                    <a:pt x="1589430" y="209757"/>
                    <a:pt x="1558022" y="241165"/>
                    <a:pt x="1519278" y="241165"/>
                  </a:cubicBezTo>
                  <a:lnTo>
                    <a:pt x="70152" y="241165"/>
                  </a:lnTo>
                  <a:cubicBezTo>
                    <a:pt x="31408" y="241165"/>
                    <a:pt x="0" y="209757"/>
                    <a:pt x="0" y="171014"/>
                  </a:cubicBezTo>
                  <a:lnTo>
                    <a:pt x="0" y="70152"/>
                  </a:lnTo>
                  <a:cubicBezTo>
                    <a:pt x="0" y="31408"/>
                    <a:pt x="31408" y="0"/>
                    <a:pt x="70152" y="0"/>
                  </a:cubicBezTo>
                  <a:close/>
                </a:path>
              </a:pathLst>
            </a:custGeom>
            <a:solidFill>
              <a:srgbClr val="0C6161"/>
            </a:solidFill>
          </p:spPr>
        </p:sp>
        <p:sp>
          <p:nvSpPr>
            <p:cNvPr id="15" name="TextBox 15"/>
            <p:cNvSpPr txBox="1"/>
            <p:nvPr/>
          </p:nvSpPr>
          <p:spPr>
            <a:xfrm>
              <a:off x="0" y="-38100"/>
              <a:ext cx="1589430"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Functional Verification</a:t>
              </a:r>
            </a:p>
          </p:txBody>
        </p:sp>
      </p:grpSp>
      <p:grpSp>
        <p:nvGrpSpPr>
          <p:cNvPr id="16" name="Group 16"/>
          <p:cNvGrpSpPr/>
          <p:nvPr/>
        </p:nvGrpSpPr>
        <p:grpSpPr>
          <a:xfrm>
            <a:off x="2461869" y="5462332"/>
            <a:ext cx="5628338" cy="853992"/>
            <a:chOff x="0" y="0"/>
            <a:chExt cx="1589430" cy="241165"/>
          </a:xfrm>
        </p:grpSpPr>
        <p:sp>
          <p:nvSpPr>
            <p:cNvPr id="17" name="Freeform 17"/>
            <p:cNvSpPr/>
            <p:nvPr/>
          </p:nvSpPr>
          <p:spPr>
            <a:xfrm>
              <a:off x="0" y="0"/>
              <a:ext cx="1589430" cy="241165"/>
            </a:xfrm>
            <a:custGeom>
              <a:avLst/>
              <a:gdLst/>
              <a:ahLst/>
              <a:cxnLst/>
              <a:rect l="l" t="t" r="r" b="b"/>
              <a:pathLst>
                <a:path w="1589430" h="241165">
                  <a:moveTo>
                    <a:pt x="70152" y="0"/>
                  </a:moveTo>
                  <a:lnTo>
                    <a:pt x="1519278" y="0"/>
                  </a:lnTo>
                  <a:cubicBezTo>
                    <a:pt x="1558022" y="0"/>
                    <a:pt x="1589430" y="31408"/>
                    <a:pt x="1589430" y="70152"/>
                  </a:cubicBezTo>
                  <a:lnTo>
                    <a:pt x="1589430" y="171014"/>
                  </a:lnTo>
                  <a:cubicBezTo>
                    <a:pt x="1589430" y="209757"/>
                    <a:pt x="1558022" y="241165"/>
                    <a:pt x="1519278" y="241165"/>
                  </a:cubicBezTo>
                  <a:lnTo>
                    <a:pt x="70152" y="241165"/>
                  </a:lnTo>
                  <a:cubicBezTo>
                    <a:pt x="31408" y="241165"/>
                    <a:pt x="0" y="209757"/>
                    <a:pt x="0" y="171014"/>
                  </a:cubicBezTo>
                  <a:lnTo>
                    <a:pt x="0" y="70152"/>
                  </a:lnTo>
                  <a:cubicBezTo>
                    <a:pt x="0" y="31408"/>
                    <a:pt x="31408" y="0"/>
                    <a:pt x="70152" y="0"/>
                  </a:cubicBezTo>
                  <a:close/>
                </a:path>
              </a:pathLst>
            </a:custGeom>
            <a:solidFill>
              <a:srgbClr val="0C6161"/>
            </a:solidFill>
          </p:spPr>
        </p:sp>
        <p:sp>
          <p:nvSpPr>
            <p:cNvPr id="18" name="TextBox 18"/>
            <p:cNvSpPr txBox="1"/>
            <p:nvPr/>
          </p:nvSpPr>
          <p:spPr>
            <a:xfrm>
              <a:off x="0" y="-38100"/>
              <a:ext cx="1589430"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Synthesis (Genus)</a:t>
              </a:r>
            </a:p>
          </p:txBody>
        </p:sp>
      </p:grpSp>
      <p:grpSp>
        <p:nvGrpSpPr>
          <p:cNvPr id="19" name="Group 19"/>
          <p:cNvGrpSpPr/>
          <p:nvPr/>
        </p:nvGrpSpPr>
        <p:grpSpPr>
          <a:xfrm>
            <a:off x="2461869" y="6609475"/>
            <a:ext cx="5628338" cy="853992"/>
            <a:chOff x="0" y="0"/>
            <a:chExt cx="1589430" cy="241165"/>
          </a:xfrm>
        </p:grpSpPr>
        <p:sp>
          <p:nvSpPr>
            <p:cNvPr id="20" name="Freeform 20"/>
            <p:cNvSpPr/>
            <p:nvPr/>
          </p:nvSpPr>
          <p:spPr>
            <a:xfrm>
              <a:off x="0" y="0"/>
              <a:ext cx="1589430" cy="241165"/>
            </a:xfrm>
            <a:custGeom>
              <a:avLst/>
              <a:gdLst/>
              <a:ahLst/>
              <a:cxnLst/>
              <a:rect l="l" t="t" r="r" b="b"/>
              <a:pathLst>
                <a:path w="1589430" h="241165">
                  <a:moveTo>
                    <a:pt x="70152" y="0"/>
                  </a:moveTo>
                  <a:lnTo>
                    <a:pt x="1519278" y="0"/>
                  </a:lnTo>
                  <a:cubicBezTo>
                    <a:pt x="1558022" y="0"/>
                    <a:pt x="1589430" y="31408"/>
                    <a:pt x="1589430" y="70152"/>
                  </a:cubicBezTo>
                  <a:lnTo>
                    <a:pt x="1589430" y="171014"/>
                  </a:lnTo>
                  <a:cubicBezTo>
                    <a:pt x="1589430" y="209757"/>
                    <a:pt x="1558022" y="241165"/>
                    <a:pt x="1519278" y="241165"/>
                  </a:cubicBezTo>
                  <a:lnTo>
                    <a:pt x="70152" y="241165"/>
                  </a:lnTo>
                  <a:cubicBezTo>
                    <a:pt x="31408" y="241165"/>
                    <a:pt x="0" y="209757"/>
                    <a:pt x="0" y="171014"/>
                  </a:cubicBezTo>
                  <a:lnTo>
                    <a:pt x="0" y="70152"/>
                  </a:lnTo>
                  <a:cubicBezTo>
                    <a:pt x="0" y="31408"/>
                    <a:pt x="31408" y="0"/>
                    <a:pt x="70152" y="0"/>
                  </a:cubicBezTo>
                  <a:close/>
                </a:path>
              </a:pathLst>
            </a:custGeom>
            <a:solidFill>
              <a:srgbClr val="0C6161"/>
            </a:solidFill>
          </p:spPr>
        </p:sp>
        <p:sp>
          <p:nvSpPr>
            <p:cNvPr id="21" name="TextBox 21"/>
            <p:cNvSpPr txBox="1"/>
            <p:nvPr/>
          </p:nvSpPr>
          <p:spPr>
            <a:xfrm>
              <a:off x="0" y="-38100"/>
              <a:ext cx="1589430"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Critical Path Analysis</a:t>
              </a:r>
            </a:p>
          </p:txBody>
        </p:sp>
      </p:grpSp>
      <p:sp>
        <p:nvSpPr>
          <p:cNvPr id="22" name="AutoShape 22"/>
          <p:cNvSpPr/>
          <p:nvPr/>
        </p:nvSpPr>
        <p:spPr>
          <a:xfrm>
            <a:off x="5276038" y="2874443"/>
            <a:ext cx="0" cy="293151"/>
          </a:xfrm>
          <a:prstGeom prst="line">
            <a:avLst/>
          </a:prstGeom>
          <a:ln w="38100" cap="flat">
            <a:solidFill>
              <a:srgbClr val="FFFFFF"/>
            </a:solidFill>
            <a:prstDash val="solid"/>
            <a:headEnd type="none" w="sm" len="sm"/>
            <a:tailEnd type="arrow" w="med" len="sm"/>
          </a:ln>
        </p:spPr>
      </p:sp>
      <p:sp>
        <p:nvSpPr>
          <p:cNvPr id="23" name="AutoShape 23"/>
          <p:cNvSpPr/>
          <p:nvPr/>
        </p:nvSpPr>
        <p:spPr>
          <a:xfrm flipH="1">
            <a:off x="5276038" y="4021585"/>
            <a:ext cx="0" cy="293151"/>
          </a:xfrm>
          <a:prstGeom prst="line">
            <a:avLst/>
          </a:prstGeom>
          <a:ln w="38100" cap="flat">
            <a:solidFill>
              <a:srgbClr val="FFFFFF"/>
            </a:solidFill>
            <a:prstDash val="solid"/>
            <a:headEnd type="none" w="sm" len="sm"/>
            <a:tailEnd type="arrow" w="med" len="sm"/>
          </a:ln>
        </p:spPr>
      </p:sp>
      <p:sp>
        <p:nvSpPr>
          <p:cNvPr id="24" name="AutoShape 24"/>
          <p:cNvSpPr/>
          <p:nvPr/>
        </p:nvSpPr>
        <p:spPr>
          <a:xfrm>
            <a:off x="5276038" y="5168728"/>
            <a:ext cx="0" cy="293604"/>
          </a:xfrm>
          <a:prstGeom prst="line">
            <a:avLst/>
          </a:prstGeom>
          <a:ln w="38100" cap="flat">
            <a:solidFill>
              <a:srgbClr val="FFFFFF"/>
            </a:solidFill>
            <a:prstDash val="solid"/>
            <a:headEnd type="none" w="sm" len="sm"/>
            <a:tailEnd type="arrow" w="med" len="sm"/>
          </a:ln>
        </p:spPr>
      </p:sp>
      <p:sp>
        <p:nvSpPr>
          <p:cNvPr id="25" name="AutoShape 25"/>
          <p:cNvSpPr/>
          <p:nvPr/>
        </p:nvSpPr>
        <p:spPr>
          <a:xfrm>
            <a:off x="5276038" y="6316324"/>
            <a:ext cx="0" cy="293151"/>
          </a:xfrm>
          <a:prstGeom prst="line">
            <a:avLst/>
          </a:prstGeom>
          <a:ln w="38100" cap="flat">
            <a:solidFill>
              <a:srgbClr val="FFFFFF"/>
            </a:solidFill>
            <a:prstDash val="solid"/>
            <a:headEnd type="none" w="sm" len="sm"/>
            <a:tailEnd type="arrow" w="med" len="sm"/>
          </a:ln>
        </p:spPr>
      </p:sp>
      <p:sp>
        <p:nvSpPr>
          <p:cNvPr id="26" name="AutoShape 26"/>
          <p:cNvSpPr/>
          <p:nvPr/>
        </p:nvSpPr>
        <p:spPr>
          <a:xfrm>
            <a:off x="5276038" y="7463467"/>
            <a:ext cx="6157" cy="314325"/>
          </a:xfrm>
          <a:prstGeom prst="line">
            <a:avLst/>
          </a:prstGeom>
          <a:ln w="38100" cap="flat">
            <a:solidFill>
              <a:srgbClr val="FFFFFF"/>
            </a:solidFill>
            <a:prstDash val="solid"/>
            <a:headEnd type="none" w="sm" len="sm"/>
            <a:tailEnd type="arrow" w="med" len="sm"/>
          </a:ln>
        </p:spPr>
      </p:sp>
      <p:sp>
        <p:nvSpPr>
          <p:cNvPr id="27" name="AutoShape 27"/>
          <p:cNvSpPr/>
          <p:nvPr/>
        </p:nvSpPr>
        <p:spPr>
          <a:xfrm flipH="1">
            <a:off x="12945375" y="2262506"/>
            <a:ext cx="0" cy="331516"/>
          </a:xfrm>
          <a:prstGeom prst="line">
            <a:avLst/>
          </a:prstGeom>
          <a:ln w="38100" cap="flat">
            <a:solidFill>
              <a:srgbClr val="FFFFFF"/>
            </a:solidFill>
            <a:prstDash val="solid"/>
            <a:headEnd type="none" w="sm" len="sm"/>
            <a:tailEnd type="arrow" w="med" len="sm"/>
          </a:ln>
        </p:spPr>
      </p:sp>
      <p:sp>
        <p:nvSpPr>
          <p:cNvPr id="28" name="AutoShape 28"/>
          <p:cNvSpPr/>
          <p:nvPr/>
        </p:nvSpPr>
        <p:spPr>
          <a:xfrm>
            <a:off x="9102809" y="2281821"/>
            <a:ext cx="0" cy="5499174"/>
          </a:xfrm>
          <a:prstGeom prst="line">
            <a:avLst/>
          </a:prstGeom>
          <a:ln w="38100" cap="flat">
            <a:solidFill>
              <a:srgbClr val="FFFFFF"/>
            </a:solidFill>
            <a:prstDash val="solid"/>
            <a:headEnd type="none" w="sm" len="sm"/>
            <a:tailEnd type="none" w="sm" len="sm"/>
          </a:ln>
        </p:spPr>
      </p:sp>
      <p:sp>
        <p:nvSpPr>
          <p:cNvPr id="29" name="AutoShape 29"/>
          <p:cNvSpPr/>
          <p:nvPr/>
        </p:nvSpPr>
        <p:spPr>
          <a:xfrm flipH="1">
            <a:off x="5282195" y="7777792"/>
            <a:ext cx="3861789" cy="3204"/>
          </a:xfrm>
          <a:prstGeom prst="line">
            <a:avLst/>
          </a:prstGeom>
          <a:ln w="38100" cap="flat">
            <a:solidFill>
              <a:srgbClr val="FFFFFF"/>
            </a:solidFill>
            <a:prstDash val="solid"/>
            <a:headEnd type="none" w="sm" len="sm"/>
            <a:tailEnd type="none" w="sm" len="sm"/>
          </a:ln>
        </p:spPr>
      </p:sp>
      <p:sp>
        <p:nvSpPr>
          <p:cNvPr id="30" name="AutoShape 30"/>
          <p:cNvSpPr/>
          <p:nvPr/>
        </p:nvSpPr>
        <p:spPr>
          <a:xfrm flipV="1">
            <a:off x="9102809" y="2283720"/>
            <a:ext cx="3842566" cy="17151"/>
          </a:xfrm>
          <a:prstGeom prst="line">
            <a:avLst/>
          </a:prstGeom>
          <a:ln w="38100" cap="flat">
            <a:solidFill>
              <a:srgbClr val="FFFFFF"/>
            </a:solidFill>
            <a:prstDash val="solid"/>
            <a:headEnd type="none" w="sm" len="sm"/>
            <a:tailEnd type="none" w="sm" len="sm"/>
          </a:ln>
        </p:spPr>
      </p:sp>
      <p:grpSp>
        <p:nvGrpSpPr>
          <p:cNvPr id="31" name="Group 31"/>
          <p:cNvGrpSpPr/>
          <p:nvPr/>
        </p:nvGrpSpPr>
        <p:grpSpPr>
          <a:xfrm>
            <a:off x="10115412" y="6203653"/>
            <a:ext cx="5659927" cy="853992"/>
            <a:chOff x="0" y="0"/>
            <a:chExt cx="1598351" cy="241165"/>
          </a:xfrm>
        </p:grpSpPr>
        <p:sp>
          <p:nvSpPr>
            <p:cNvPr id="32" name="Freeform 32"/>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33" name="TextBox 33"/>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Reached Timing Baseline</a:t>
              </a:r>
            </a:p>
          </p:txBody>
        </p:sp>
      </p:grpSp>
      <p:sp>
        <p:nvSpPr>
          <p:cNvPr id="34" name="AutoShape 34"/>
          <p:cNvSpPr/>
          <p:nvPr/>
        </p:nvSpPr>
        <p:spPr>
          <a:xfrm flipH="1">
            <a:off x="12945375" y="4815044"/>
            <a:ext cx="0" cy="1388609"/>
          </a:xfrm>
          <a:prstGeom prst="line">
            <a:avLst/>
          </a:prstGeom>
          <a:ln w="38100" cap="flat">
            <a:solidFill>
              <a:srgbClr val="FFFFFF"/>
            </a:solidFill>
            <a:prstDash val="solid"/>
            <a:headEnd type="none" w="sm" len="sm"/>
            <a:tailEnd type="arrow" w="med" len="sm"/>
          </a:ln>
        </p:spPr>
      </p:sp>
      <p:grpSp>
        <p:nvGrpSpPr>
          <p:cNvPr id="35" name="Group 35"/>
          <p:cNvGrpSpPr/>
          <p:nvPr/>
        </p:nvGrpSpPr>
        <p:grpSpPr>
          <a:xfrm>
            <a:off x="10115412" y="7350796"/>
            <a:ext cx="5659927" cy="853992"/>
            <a:chOff x="0" y="0"/>
            <a:chExt cx="1598351" cy="241165"/>
          </a:xfrm>
        </p:grpSpPr>
        <p:sp>
          <p:nvSpPr>
            <p:cNvPr id="36" name="Freeform 36"/>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37" name="TextBox 37"/>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Placement, CTS, Routing, Checks</a:t>
              </a:r>
            </a:p>
          </p:txBody>
        </p:sp>
      </p:grpSp>
      <p:sp>
        <p:nvSpPr>
          <p:cNvPr id="38" name="AutoShape 38"/>
          <p:cNvSpPr/>
          <p:nvPr/>
        </p:nvSpPr>
        <p:spPr>
          <a:xfrm>
            <a:off x="12945375" y="7057645"/>
            <a:ext cx="0" cy="293151"/>
          </a:xfrm>
          <a:prstGeom prst="line">
            <a:avLst/>
          </a:prstGeom>
          <a:ln w="38100" cap="flat">
            <a:solidFill>
              <a:srgbClr val="FFFFFF"/>
            </a:solidFill>
            <a:prstDash val="solid"/>
            <a:headEnd type="none" w="sm" len="sm"/>
            <a:tailEnd type="arrow" w="med" len="sm"/>
          </a:ln>
        </p:spPr>
      </p:sp>
      <p:grpSp>
        <p:nvGrpSpPr>
          <p:cNvPr id="39" name="Group 39"/>
          <p:cNvGrpSpPr/>
          <p:nvPr/>
        </p:nvGrpSpPr>
        <p:grpSpPr>
          <a:xfrm>
            <a:off x="10115412" y="8497939"/>
            <a:ext cx="5659927" cy="853992"/>
            <a:chOff x="0" y="0"/>
            <a:chExt cx="1598351" cy="241165"/>
          </a:xfrm>
        </p:grpSpPr>
        <p:sp>
          <p:nvSpPr>
            <p:cNvPr id="40" name="Freeform 40"/>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41" name="TextBox 41"/>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GDSII</a:t>
              </a:r>
            </a:p>
          </p:txBody>
        </p:sp>
      </p:grpSp>
      <p:sp>
        <p:nvSpPr>
          <p:cNvPr id="42" name="AutoShape 42"/>
          <p:cNvSpPr/>
          <p:nvPr/>
        </p:nvSpPr>
        <p:spPr>
          <a:xfrm flipH="1">
            <a:off x="12945375" y="8204788"/>
            <a:ext cx="0" cy="293151"/>
          </a:xfrm>
          <a:prstGeom prst="line">
            <a:avLst/>
          </a:prstGeom>
          <a:ln w="38100" cap="flat">
            <a:solidFill>
              <a:srgbClr val="FFFFFF"/>
            </a:solidFill>
            <a:prstDash val="solid"/>
            <a:headEnd type="none" w="sm" len="sm"/>
            <a:tailEnd type="arrow" w="med" len="sm"/>
          </a:ln>
        </p:spPr>
      </p:sp>
      <p:sp>
        <p:nvSpPr>
          <p:cNvPr id="43" name="Freeform 43"/>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44" name="Freeform 44"/>
          <p:cNvSpPr/>
          <p:nvPr/>
        </p:nvSpPr>
        <p:spPr>
          <a:xfrm>
            <a:off x="13027493" y="5218272"/>
            <a:ext cx="463713" cy="488119"/>
          </a:xfrm>
          <a:custGeom>
            <a:avLst/>
            <a:gdLst/>
            <a:ahLst/>
            <a:cxnLst/>
            <a:rect l="l" t="t" r="r" b="b"/>
            <a:pathLst>
              <a:path w="463713" h="488119">
                <a:moveTo>
                  <a:pt x="0" y="0"/>
                </a:moveTo>
                <a:lnTo>
                  <a:pt x="463713" y="0"/>
                </a:lnTo>
                <a:lnTo>
                  <a:pt x="463713" y="488120"/>
                </a:lnTo>
                <a:lnTo>
                  <a:pt x="0" y="48812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5" name="TextBox 45"/>
          <p:cNvSpPr txBox="1"/>
          <p:nvPr/>
        </p:nvSpPr>
        <p:spPr>
          <a:xfrm>
            <a:off x="5090925" y="485775"/>
            <a:ext cx="8106150" cy="857250"/>
          </a:xfrm>
          <a:prstGeom prst="rect">
            <a:avLst/>
          </a:prstGeom>
        </p:spPr>
        <p:txBody>
          <a:bodyPr lIns="0" tIns="0" rIns="0" bIns="0" rtlCol="0" anchor="t">
            <a:spAutoFit/>
          </a:bodyPr>
          <a:lstStyle/>
          <a:p>
            <a:pPr algn="ctr">
              <a:lnSpc>
                <a:spcPts val="6900"/>
              </a:lnSpc>
            </a:pPr>
            <a:r>
              <a:rPr lang="en-US" sz="5000" b="1">
                <a:solidFill>
                  <a:srgbClr val="FFFFFF"/>
                </a:solidFill>
                <a:latin typeface="Darker Grotesque Bold"/>
                <a:ea typeface="Darker Grotesque Bold"/>
                <a:cs typeface="Darker Grotesque Bold"/>
                <a:sym typeface="Darker Grotesque Bold"/>
              </a:rPr>
              <a:t>Proposed Methodology Updated</a:t>
            </a:r>
          </a:p>
        </p:txBody>
      </p:sp>
      <p:sp>
        <p:nvSpPr>
          <p:cNvPr id="46" name="TextBox 46"/>
          <p:cNvSpPr txBox="1"/>
          <p:nvPr/>
        </p:nvSpPr>
        <p:spPr>
          <a:xfrm>
            <a:off x="13638139" y="5245162"/>
            <a:ext cx="1904107" cy="396240"/>
          </a:xfrm>
          <a:prstGeom prst="rect">
            <a:avLst/>
          </a:prstGeom>
        </p:spPr>
        <p:txBody>
          <a:bodyPr lIns="0" tIns="0" rIns="0" bIns="0" rtlCol="0" anchor="t">
            <a:spAutoFit/>
          </a:bodyPr>
          <a:lstStyle/>
          <a:p>
            <a:pPr algn="ctr">
              <a:lnSpc>
                <a:spcPts val="3359"/>
              </a:lnSpc>
              <a:spcBef>
                <a:spcPct val="0"/>
              </a:spcBef>
            </a:pPr>
            <a:r>
              <a:rPr lang="en-US" sz="2400">
                <a:solidFill>
                  <a:srgbClr val="FFFFFF"/>
                </a:solidFill>
                <a:latin typeface="Canva Sans"/>
                <a:ea typeface="Canva Sans"/>
                <a:cs typeface="Canva Sans"/>
                <a:sym typeface="Canva Sans"/>
              </a:rPr>
              <a:t>Re-Synthesis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73200" y="817287"/>
            <a:ext cx="8156002" cy="6997596"/>
            <a:chOff x="0" y="0"/>
            <a:chExt cx="2303237" cy="1976106"/>
          </a:xfrm>
        </p:grpSpPr>
        <p:sp>
          <p:nvSpPr>
            <p:cNvPr id="5" name="Freeform 5"/>
            <p:cNvSpPr/>
            <p:nvPr/>
          </p:nvSpPr>
          <p:spPr>
            <a:xfrm>
              <a:off x="0" y="0"/>
              <a:ext cx="2303237" cy="1976106"/>
            </a:xfrm>
            <a:custGeom>
              <a:avLst/>
              <a:gdLst/>
              <a:ahLst/>
              <a:cxnLst/>
              <a:rect l="l" t="t" r="r" b="b"/>
              <a:pathLst>
                <a:path w="2303237" h="1976106">
                  <a:moveTo>
                    <a:pt x="32274" y="0"/>
                  </a:moveTo>
                  <a:lnTo>
                    <a:pt x="2270963" y="0"/>
                  </a:lnTo>
                  <a:cubicBezTo>
                    <a:pt x="2288787" y="0"/>
                    <a:pt x="2303237" y="14449"/>
                    <a:pt x="2303237" y="32274"/>
                  </a:cubicBezTo>
                  <a:lnTo>
                    <a:pt x="2303237" y="1943832"/>
                  </a:lnTo>
                  <a:cubicBezTo>
                    <a:pt x="2303237" y="1961656"/>
                    <a:pt x="2288787" y="1976106"/>
                    <a:pt x="2270963" y="1976106"/>
                  </a:cubicBezTo>
                  <a:lnTo>
                    <a:pt x="32274" y="1976106"/>
                  </a:lnTo>
                  <a:cubicBezTo>
                    <a:pt x="14449" y="1976106"/>
                    <a:pt x="0" y="1961656"/>
                    <a:pt x="0" y="1943832"/>
                  </a:cubicBezTo>
                  <a:lnTo>
                    <a:pt x="0" y="32274"/>
                  </a:lnTo>
                  <a:cubicBezTo>
                    <a:pt x="0" y="14449"/>
                    <a:pt x="14449" y="0"/>
                    <a:pt x="32274" y="0"/>
                  </a:cubicBezTo>
                  <a:close/>
                </a:path>
              </a:pathLst>
            </a:custGeom>
            <a:solidFill>
              <a:srgbClr val="CFD9E0">
                <a:alpha val="32941"/>
              </a:srgbClr>
            </a:solidFill>
          </p:spPr>
        </p:sp>
        <p:sp>
          <p:nvSpPr>
            <p:cNvPr id="6" name="TextBox 6"/>
            <p:cNvSpPr txBox="1"/>
            <p:nvPr/>
          </p:nvSpPr>
          <p:spPr>
            <a:xfrm>
              <a:off x="0" y="-38100"/>
              <a:ext cx="2303237" cy="2014206"/>
            </a:xfrm>
            <a:prstGeom prst="rect">
              <a:avLst/>
            </a:prstGeom>
          </p:spPr>
          <p:txBody>
            <a:bodyPr lIns="50800" tIns="50800" rIns="50800" bIns="50800" rtlCol="0" anchor="ctr"/>
            <a:lstStyle/>
            <a:p>
              <a:pPr algn="ctr">
                <a:lnSpc>
                  <a:spcPts val="3359"/>
                </a:lnSpc>
                <a:spcBef>
                  <a:spcPct val="0"/>
                </a:spcBef>
              </a:pPr>
              <a:endParaRPr/>
            </a:p>
          </p:txBody>
        </p:sp>
      </p:grpSp>
      <p:sp>
        <p:nvSpPr>
          <p:cNvPr id="7" name="TextBox 7"/>
          <p:cNvSpPr txBox="1"/>
          <p:nvPr/>
        </p:nvSpPr>
        <p:spPr>
          <a:xfrm>
            <a:off x="879724" y="1906715"/>
            <a:ext cx="7742954" cy="5831967"/>
          </a:xfrm>
          <a:prstGeom prst="rect">
            <a:avLst/>
          </a:prstGeom>
        </p:spPr>
        <p:txBody>
          <a:bodyPr lIns="0" tIns="0" rIns="0" bIns="0" rtlCol="0" anchor="t">
            <a:spAutoFit/>
          </a:bodyPr>
          <a:lstStyle/>
          <a:p>
            <a:pPr marL="604519" lvl="1" indent="-302260" algn="l">
              <a:lnSpc>
                <a:spcPts val="3863"/>
              </a:lnSpc>
              <a:buFont typeface="Arial"/>
              <a:buChar char="•"/>
            </a:pPr>
            <a:r>
              <a:rPr lang="en-US" sz="2799">
                <a:solidFill>
                  <a:srgbClr val="FFFFFF"/>
                </a:solidFill>
                <a:latin typeface="Arimo"/>
                <a:ea typeface="Arimo"/>
                <a:cs typeface="Arimo"/>
                <a:sym typeface="Arimo"/>
              </a:rPr>
              <a:t>Hardware acceleration of ML-KEM</a:t>
            </a:r>
          </a:p>
          <a:p>
            <a:pPr marL="604519" lvl="1" indent="-302260" algn="l">
              <a:lnSpc>
                <a:spcPts val="3863"/>
              </a:lnSpc>
              <a:buFont typeface="Arial"/>
              <a:buChar char="•"/>
            </a:pPr>
            <a:r>
              <a:rPr lang="en-US" sz="2799">
                <a:solidFill>
                  <a:srgbClr val="FFFFFF"/>
                </a:solidFill>
                <a:latin typeface="Arimo"/>
                <a:ea typeface="Arimo"/>
                <a:cs typeface="Arimo"/>
                <a:sym typeface="Arimo"/>
              </a:rPr>
              <a:t>RTL implementation of selected ML-KEM computational modules</a:t>
            </a:r>
          </a:p>
          <a:p>
            <a:pPr marL="604519" lvl="1" indent="-302260" algn="l">
              <a:lnSpc>
                <a:spcPts val="3863"/>
              </a:lnSpc>
              <a:buFont typeface="Arial"/>
              <a:buChar char="•"/>
            </a:pPr>
            <a:r>
              <a:rPr lang="en-US" sz="2799">
                <a:solidFill>
                  <a:srgbClr val="FFFFFF"/>
                </a:solidFill>
                <a:latin typeface="Arimo"/>
                <a:ea typeface="Arimo"/>
                <a:cs typeface="Arimo"/>
                <a:sym typeface="Arimo"/>
              </a:rPr>
              <a:t>PicoRV32-based host processor</a:t>
            </a:r>
          </a:p>
          <a:p>
            <a:pPr marL="604519" lvl="1" indent="-302260" algn="l">
              <a:lnSpc>
                <a:spcPts val="3863"/>
              </a:lnSpc>
              <a:buFont typeface="Arial"/>
              <a:buChar char="•"/>
            </a:pPr>
            <a:r>
              <a:rPr lang="en-US" sz="2799">
                <a:solidFill>
                  <a:srgbClr val="FFFFFF"/>
                </a:solidFill>
                <a:latin typeface="Arimo"/>
                <a:ea typeface="Arimo"/>
                <a:cs typeface="Arimo"/>
                <a:sym typeface="Arimo"/>
              </a:rPr>
              <a:t>Memory-mapped processor–accelerator communication</a:t>
            </a:r>
          </a:p>
          <a:p>
            <a:pPr marL="604519" lvl="1" indent="-302260" algn="l">
              <a:lnSpc>
                <a:spcPts val="3863"/>
              </a:lnSpc>
              <a:buFont typeface="Arial"/>
              <a:buChar char="•"/>
            </a:pPr>
            <a:r>
              <a:rPr lang="en-US" sz="2799">
                <a:solidFill>
                  <a:srgbClr val="FFFFFF"/>
                </a:solidFill>
                <a:latin typeface="Arimo"/>
                <a:ea typeface="Arimo"/>
                <a:cs typeface="Arimo"/>
                <a:sym typeface="Arimo"/>
              </a:rPr>
              <a:t>Module-level and integrated functional verification</a:t>
            </a:r>
          </a:p>
          <a:p>
            <a:pPr marL="604519" lvl="1" indent="-302260" algn="l">
              <a:lnSpc>
                <a:spcPts val="3863"/>
              </a:lnSpc>
              <a:buFont typeface="Arial"/>
              <a:buChar char="•"/>
            </a:pPr>
            <a:r>
              <a:rPr lang="en-US" sz="2799">
                <a:solidFill>
                  <a:srgbClr val="FFFFFF"/>
                </a:solidFill>
                <a:latin typeface="Arimo"/>
                <a:ea typeface="Arimo"/>
                <a:cs typeface="Arimo"/>
                <a:sym typeface="Arimo"/>
              </a:rPr>
              <a:t>Pre-synthesis verification</a:t>
            </a:r>
          </a:p>
          <a:p>
            <a:pPr marL="604519" lvl="1" indent="-302260" algn="l">
              <a:lnSpc>
                <a:spcPts val="3863"/>
              </a:lnSpc>
              <a:buFont typeface="Arial"/>
              <a:buChar char="•"/>
            </a:pPr>
            <a:r>
              <a:rPr lang="en-US" sz="2799">
                <a:solidFill>
                  <a:srgbClr val="FFFFFF"/>
                </a:solidFill>
                <a:latin typeface="Arimo"/>
                <a:ea typeface="Arimo"/>
                <a:cs typeface="Arimo"/>
                <a:sym typeface="Arimo"/>
              </a:rPr>
              <a:t>Logic synthesis and ASIC implementation</a:t>
            </a:r>
          </a:p>
          <a:p>
            <a:pPr marL="604519" lvl="1" indent="-302260" algn="l">
              <a:lnSpc>
                <a:spcPts val="3863"/>
              </a:lnSpc>
              <a:buFont typeface="Arial"/>
              <a:buChar char="•"/>
            </a:pPr>
            <a:r>
              <a:rPr lang="en-US" sz="2799">
                <a:solidFill>
                  <a:srgbClr val="FFFFFF"/>
                </a:solidFill>
                <a:latin typeface="Arimo"/>
                <a:ea typeface="Arimo"/>
                <a:cs typeface="Arimo"/>
                <a:sym typeface="Arimo"/>
              </a:rPr>
              <a:t>Physical design leading to GDSII</a:t>
            </a:r>
          </a:p>
          <a:p>
            <a:pPr algn="l">
              <a:lnSpc>
                <a:spcPts val="3863"/>
              </a:lnSpc>
            </a:pPr>
            <a:endParaRPr lang="en-US" sz="2799">
              <a:solidFill>
                <a:srgbClr val="FFFFFF"/>
              </a:solidFill>
              <a:latin typeface="Arimo"/>
              <a:ea typeface="Arimo"/>
              <a:cs typeface="Arimo"/>
              <a:sym typeface="Arimo"/>
            </a:endParaRPr>
          </a:p>
        </p:txBody>
      </p:sp>
      <p:sp>
        <p:nvSpPr>
          <p:cNvPr id="8" name="TextBox 8"/>
          <p:cNvSpPr txBox="1"/>
          <p:nvPr/>
        </p:nvSpPr>
        <p:spPr>
          <a:xfrm>
            <a:off x="1133475" y="933450"/>
            <a:ext cx="6642326"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In Scope</a:t>
            </a:r>
          </a:p>
        </p:txBody>
      </p:sp>
      <p:grpSp>
        <p:nvGrpSpPr>
          <p:cNvPr id="9" name="Group 9"/>
          <p:cNvGrpSpPr/>
          <p:nvPr/>
        </p:nvGrpSpPr>
        <p:grpSpPr>
          <a:xfrm>
            <a:off x="9144000" y="1409700"/>
            <a:ext cx="8612554" cy="7848600"/>
            <a:chOff x="0" y="0"/>
            <a:chExt cx="2432166" cy="2216427"/>
          </a:xfrm>
        </p:grpSpPr>
        <p:sp>
          <p:nvSpPr>
            <p:cNvPr id="10" name="Freeform 10"/>
            <p:cNvSpPr/>
            <p:nvPr/>
          </p:nvSpPr>
          <p:spPr>
            <a:xfrm>
              <a:off x="0" y="0"/>
              <a:ext cx="2432166" cy="2216427"/>
            </a:xfrm>
            <a:custGeom>
              <a:avLst/>
              <a:gdLst/>
              <a:ahLst/>
              <a:cxnLst/>
              <a:rect l="l" t="t" r="r" b="b"/>
              <a:pathLst>
                <a:path w="2432166" h="2216427">
                  <a:moveTo>
                    <a:pt x="30563" y="0"/>
                  </a:moveTo>
                  <a:lnTo>
                    <a:pt x="2401603" y="0"/>
                  </a:lnTo>
                  <a:cubicBezTo>
                    <a:pt x="2418483" y="0"/>
                    <a:pt x="2432166" y="13684"/>
                    <a:pt x="2432166" y="30563"/>
                  </a:cubicBezTo>
                  <a:lnTo>
                    <a:pt x="2432166" y="2185864"/>
                  </a:lnTo>
                  <a:cubicBezTo>
                    <a:pt x="2432166" y="2202744"/>
                    <a:pt x="2418483" y="2216427"/>
                    <a:pt x="2401603" y="2216427"/>
                  </a:cubicBezTo>
                  <a:lnTo>
                    <a:pt x="30563" y="2216427"/>
                  </a:lnTo>
                  <a:cubicBezTo>
                    <a:pt x="13684" y="2216427"/>
                    <a:pt x="0" y="2202744"/>
                    <a:pt x="0" y="2185864"/>
                  </a:cubicBezTo>
                  <a:lnTo>
                    <a:pt x="0" y="30563"/>
                  </a:lnTo>
                  <a:cubicBezTo>
                    <a:pt x="0" y="13684"/>
                    <a:pt x="13684" y="0"/>
                    <a:pt x="30563" y="0"/>
                  </a:cubicBezTo>
                  <a:close/>
                </a:path>
              </a:pathLst>
            </a:custGeom>
            <a:solidFill>
              <a:srgbClr val="40C5C5">
                <a:alpha val="32941"/>
              </a:srgbClr>
            </a:solidFill>
          </p:spPr>
        </p:sp>
        <p:sp>
          <p:nvSpPr>
            <p:cNvPr id="11" name="TextBox 11"/>
            <p:cNvSpPr txBox="1"/>
            <p:nvPr/>
          </p:nvSpPr>
          <p:spPr>
            <a:xfrm>
              <a:off x="0" y="-38100"/>
              <a:ext cx="2432166" cy="2254527"/>
            </a:xfrm>
            <a:prstGeom prst="rect">
              <a:avLst/>
            </a:prstGeom>
          </p:spPr>
          <p:txBody>
            <a:bodyPr lIns="50800" tIns="50800" rIns="50800" bIns="50800" rtlCol="0" anchor="ctr"/>
            <a:lstStyle/>
            <a:p>
              <a:pPr algn="ctr">
                <a:lnSpc>
                  <a:spcPts val="3359"/>
                </a:lnSpc>
                <a:spcBef>
                  <a:spcPct val="0"/>
                </a:spcBef>
              </a:pPr>
              <a:endParaRPr/>
            </a:p>
          </p:txBody>
        </p:sp>
      </p:grpSp>
      <p:sp>
        <p:nvSpPr>
          <p:cNvPr id="12" name="TextBox 12"/>
          <p:cNvSpPr txBox="1"/>
          <p:nvPr/>
        </p:nvSpPr>
        <p:spPr>
          <a:xfrm>
            <a:off x="9339721" y="2540508"/>
            <a:ext cx="8040896" cy="6803517"/>
          </a:xfrm>
          <a:prstGeom prst="rect">
            <a:avLst/>
          </a:prstGeom>
        </p:spPr>
        <p:txBody>
          <a:bodyPr lIns="0" tIns="0" rIns="0" bIns="0" rtlCol="0" anchor="t">
            <a:spAutoFit/>
          </a:bodyPr>
          <a:lstStyle/>
          <a:p>
            <a:pPr marL="604519" lvl="1" indent="-302260" algn="l">
              <a:lnSpc>
                <a:spcPts val="3863"/>
              </a:lnSpc>
              <a:buFont typeface="Arial"/>
              <a:buChar char="•"/>
            </a:pPr>
            <a:r>
              <a:rPr lang="en-US" sz="2799">
                <a:solidFill>
                  <a:srgbClr val="FFFFFF"/>
                </a:solidFill>
                <a:latin typeface="Arimo"/>
                <a:ea typeface="Arimo"/>
                <a:cs typeface="Arimo"/>
                <a:sym typeface="Arimo"/>
              </a:rPr>
              <a:t>Implementation of all NIST-selected/standardized PQC algorithms is outside the project scope.</a:t>
            </a:r>
          </a:p>
          <a:p>
            <a:pPr marL="604519" lvl="1" indent="-302260" algn="l">
              <a:lnSpc>
                <a:spcPts val="3863"/>
              </a:lnSpc>
              <a:buFont typeface="Arial"/>
              <a:buChar char="•"/>
            </a:pPr>
            <a:r>
              <a:rPr lang="en-US" sz="2799">
                <a:solidFill>
                  <a:srgbClr val="FFFFFF"/>
                </a:solidFill>
                <a:latin typeface="Arimo"/>
                <a:ea typeface="Arimo"/>
                <a:cs typeface="Arimo"/>
                <a:sym typeface="Arimo"/>
              </a:rPr>
              <a:t>The project focuses specifically on ML-KEM due to the available project duration and implementation complexity.</a:t>
            </a:r>
          </a:p>
          <a:p>
            <a:pPr marL="604519" lvl="1" indent="-302260" algn="l">
              <a:lnSpc>
                <a:spcPts val="3863"/>
              </a:lnSpc>
              <a:buFont typeface="Arial"/>
              <a:buChar char="•"/>
            </a:pPr>
            <a:r>
              <a:rPr lang="en-US" sz="2799">
                <a:solidFill>
                  <a:srgbClr val="FFFFFF"/>
                </a:solidFill>
                <a:latin typeface="Arimo"/>
                <a:ea typeface="Arimo"/>
                <a:cs typeface="Arimo"/>
                <a:sym typeface="Arimo"/>
              </a:rPr>
              <a:t>Full implementation of other NIST PQC schemes such as ML-DSA and SLH-DSA is not attempted.</a:t>
            </a:r>
          </a:p>
          <a:p>
            <a:pPr marL="604519" lvl="1" indent="-302260" algn="l">
              <a:lnSpc>
                <a:spcPts val="3863"/>
              </a:lnSpc>
              <a:buFont typeface="Arial"/>
              <a:buChar char="•"/>
            </a:pPr>
            <a:r>
              <a:rPr lang="en-US" sz="2799">
                <a:solidFill>
                  <a:srgbClr val="FFFFFF"/>
                </a:solidFill>
                <a:latin typeface="Arimo"/>
                <a:ea typeface="Arimo"/>
                <a:cs typeface="Arimo"/>
                <a:sym typeface="Arimo"/>
              </a:rPr>
              <a:t>The primary objective is end-to-end ASIC implementation of one representative standardized PQC KEM, rather than creating a universal PQC accelerator.</a:t>
            </a:r>
          </a:p>
          <a:p>
            <a:pPr algn="l">
              <a:lnSpc>
                <a:spcPts val="3863"/>
              </a:lnSpc>
            </a:pPr>
            <a:endParaRPr lang="en-US" sz="2799">
              <a:solidFill>
                <a:srgbClr val="FFFFFF"/>
              </a:solidFill>
              <a:latin typeface="Arimo"/>
              <a:ea typeface="Arimo"/>
              <a:cs typeface="Arimo"/>
              <a:sym typeface="Arimo"/>
            </a:endParaRPr>
          </a:p>
        </p:txBody>
      </p:sp>
      <p:sp>
        <p:nvSpPr>
          <p:cNvPr id="13" name="TextBox 13"/>
          <p:cNvSpPr txBox="1"/>
          <p:nvPr/>
        </p:nvSpPr>
        <p:spPr>
          <a:xfrm>
            <a:off x="9678109" y="1497140"/>
            <a:ext cx="6789270"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Out of Scope / Limitations</a:t>
            </a:r>
          </a:p>
        </p:txBody>
      </p:sp>
      <p:sp>
        <p:nvSpPr>
          <p:cNvPr id="14" name="Freeform 14"/>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3124335" y="793206"/>
            <a:ext cx="24558827" cy="8709653"/>
          </a:xfrm>
          <a:custGeom>
            <a:avLst/>
            <a:gdLst/>
            <a:ahLst/>
            <a:cxnLst/>
            <a:rect l="l" t="t" r="r" b="b"/>
            <a:pathLst>
              <a:path w="24558827" h="8709653">
                <a:moveTo>
                  <a:pt x="0" y="0"/>
                </a:moveTo>
                <a:lnTo>
                  <a:pt x="24558827" y="0"/>
                </a:lnTo>
                <a:lnTo>
                  <a:pt x="24558827" y="8709653"/>
                </a:lnTo>
                <a:lnTo>
                  <a:pt x="0" y="8709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16329550" y="4401480"/>
            <a:ext cx="1484052" cy="1484052"/>
          </a:xfrm>
          <a:custGeom>
            <a:avLst/>
            <a:gdLst/>
            <a:ahLst/>
            <a:cxnLst/>
            <a:rect l="l" t="t" r="r" b="b"/>
            <a:pathLst>
              <a:path w="1484052" h="1484052">
                <a:moveTo>
                  <a:pt x="0" y="0"/>
                </a:moveTo>
                <a:lnTo>
                  <a:pt x="1484052" y="0"/>
                </a:lnTo>
                <a:lnTo>
                  <a:pt x="1484052" y="1484052"/>
                </a:lnTo>
                <a:lnTo>
                  <a:pt x="0" y="1484052"/>
                </a:lnTo>
                <a:lnTo>
                  <a:pt x="0" y="0"/>
                </a:lnTo>
                <a:close/>
              </a:path>
            </a:pathLst>
          </a:custGeom>
          <a:blipFill>
            <a:blip r:embed="rId5"/>
            <a:stretch>
              <a:fillRect/>
            </a:stretch>
          </a:blipFill>
        </p:spPr>
      </p:sp>
      <p:sp>
        <p:nvSpPr>
          <p:cNvPr id="5" name="TextBox 5"/>
          <p:cNvSpPr txBox="1"/>
          <p:nvPr/>
        </p:nvSpPr>
        <p:spPr>
          <a:xfrm>
            <a:off x="1634007" y="3549245"/>
            <a:ext cx="15019987" cy="2605659"/>
          </a:xfrm>
          <a:prstGeom prst="rect">
            <a:avLst/>
          </a:prstGeom>
        </p:spPr>
        <p:txBody>
          <a:bodyPr lIns="0" tIns="0" rIns="0" bIns="0" rtlCol="0" anchor="t">
            <a:spAutoFit/>
          </a:bodyPr>
          <a:lstStyle/>
          <a:p>
            <a:pPr algn="ctr">
              <a:lnSpc>
                <a:spcPts val="10098"/>
              </a:lnSpc>
            </a:pPr>
            <a:r>
              <a:rPr lang="en-US" sz="10200" b="1">
                <a:solidFill>
                  <a:srgbClr val="869FB2"/>
                </a:solidFill>
                <a:latin typeface="Darker Grotesque Bold"/>
                <a:ea typeface="Darker Grotesque Bold"/>
                <a:cs typeface="Darker Grotesque Bold"/>
                <a:sym typeface="Darker Grotesque Bold"/>
              </a:rPr>
              <a:t>Implementation &amp; Project Status</a:t>
            </a:r>
          </a:p>
        </p:txBody>
      </p:sp>
      <p:sp>
        <p:nvSpPr>
          <p:cNvPr id="6" name="TextBox 6"/>
          <p:cNvSpPr txBox="1"/>
          <p:nvPr/>
        </p:nvSpPr>
        <p:spPr>
          <a:xfrm>
            <a:off x="5236934" y="2358620"/>
            <a:ext cx="7836288" cy="971550"/>
          </a:xfrm>
          <a:prstGeom prst="rect">
            <a:avLst/>
          </a:prstGeom>
        </p:spPr>
        <p:txBody>
          <a:bodyPr lIns="0" tIns="0" rIns="0" bIns="0" rtlCol="0" anchor="t">
            <a:spAutoFit/>
          </a:bodyPr>
          <a:lstStyle/>
          <a:p>
            <a:pPr algn="ctr">
              <a:lnSpc>
                <a:spcPts val="7679"/>
              </a:lnSpc>
            </a:pPr>
            <a:r>
              <a:rPr lang="en-US" sz="6399" b="1">
                <a:solidFill>
                  <a:srgbClr val="765DF3"/>
                </a:solidFill>
                <a:latin typeface="Darker Grotesque Bold"/>
                <a:ea typeface="Darker Grotesque Bold"/>
                <a:cs typeface="Darker Grotesque Bold"/>
                <a:sym typeface="Darker Grotesque Bold"/>
              </a:rPr>
              <a:t>Section</a:t>
            </a:r>
            <a:r>
              <a:rPr lang="en-US" sz="6399" b="1">
                <a:solidFill>
                  <a:srgbClr val="40C5C5"/>
                </a:solidFill>
                <a:latin typeface="Darker Grotesque Bold"/>
                <a:ea typeface="Darker Grotesque Bold"/>
                <a:cs typeface="Darker Grotesque Bold"/>
                <a:sym typeface="Darker Grotesque Bold"/>
              </a:rPr>
              <a:t> </a:t>
            </a:r>
            <a:r>
              <a:rPr lang="en-US" sz="6399" b="1">
                <a:solidFill>
                  <a:srgbClr val="E3E9ED"/>
                </a:solidFill>
                <a:latin typeface="Darker Grotesque Bold"/>
                <a:ea typeface="Darker Grotesque Bold"/>
                <a:cs typeface="Darker Grotesque Bold"/>
                <a:sym typeface="Darker Grotesque Bold"/>
              </a:rPr>
              <a:t>- </a:t>
            </a:r>
            <a:r>
              <a:rPr lang="en-US" sz="6399" b="1">
                <a:solidFill>
                  <a:srgbClr val="40C5C5"/>
                </a:solidFill>
                <a:latin typeface="Darker Grotesque Bold"/>
                <a:ea typeface="Darker Grotesque Bold"/>
                <a:cs typeface="Darker Grotesque Bold"/>
                <a:sym typeface="Darker Grotesque Bold"/>
              </a:rPr>
              <a:t>03</a:t>
            </a:r>
          </a:p>
        </p:txBody>
      </p:sp>
      <p:sp>
        <p:nvSpPr>
          <p:cNvPr id="7" name="Freeform 7"/>
          <p:cNvSpPr/>
          <p:nvPr/>
        </p:nvSpPr>
        <p:spPr>
          <a:xfrm>
            <a:off x="1032400" y="1530252"/>
            <a:ext cx="1760604" cy="1760552"/>
          </a:xfrm>
          <a:custGeom>
            <a:avLst/>
            <a:gdLst/>
            <a:ahLst/>
            <a:cxnLst/>
            <a:rect l="l" t="t" r="r" b="b"/>
            <a:pathLst>
              <a:path w="1760604" h="1760552">
                <a:moveTo>
                  <a:pt x="0" y="0"/>
                </a:moveTo>
                <a:lnTo>
                  <a:pt x="1760604" y="0"/>
                </a:lnTo>
                <a:lnTo>
                  <a:pt x="1760604" y="1760552"/>
                </a:lnTo>
                <a:lnTo>
                  <a:pt x="0" y="1760552"/>
                </a:lnTo>
                <a:lnTo>
                  <a:pt x="0" y="0"/>
                </a:lnTo>
                <a:close/>
              </a:path>
            </a:pathLst>
          </a:custGeom>
          <a:blipFill>
            <a:blip r:embed="rId6"/>
            <a:stretch>
              <a:fillRect b="-2"/>
            </a:stretch>
          </a:blipFill>
        </p:spPr>
      </p:sp>
      <p:sp>
        <p:nvSpPr>
          <p:cNvPr id="8" name="TextBox 8"/>
          <p:cNvSpPr txBox="1"/>
          <p:nvPr/>
        </p:nvSpPr>
        <p:spPr>
          <a:xfrm>
            <a:off x="5125425" y="6822855"/>
            <a:ext cx="8037150" cy="1678686"/>
          </a:xfrm>
          <a:prstGeom prst="rect">
            <a:avLst/>
          </a:prstGeom>
        </p:spPr>
        <p:txBody>
          <a:bodyPr lIns="0" tIns="0" rIns="0" bIns="0" rtlCol="0" anchor="t">
            <a:spAutoFit/>
          </a:bodyPr>
          <a:lstStyle/>
          <a:p>
            <a:pPr algn="ctr">
              <a:lnSpc>
                <a:spcPts val="3311"/>
              </a:lnSpc>
            </a:pPr>
            <a:r>
              <a:rPr lang="en-US" sz="2400">
                <a:solidFill>
                  <a:srgbClr val="FFFFFF"/>
                </a:solidFill>
                <a:latin typeface="Arimo"/>
                <a:ea typeface="Arimo"/>
                <a:cs typeface="Arimo"/>
                <a:sym typeface="Arimo"/>
              </a:rPr>
              <a:t>Work Completed</a:t>
            </a:r>
          </a:p>
          <a:p>
            <a:pPr algn="ctr">
              <a:lnSpc>
                <a:spcPts val="3311"/>
              </a:lnSpc>
            </a:pPr>
            <a:r>
              <a:rPr lang="en-US" sz="2400">
                <a:solidFill>
                  <a:srgbClr val="FFFFFF"/>
                </a:solidFill>
                <a:latin typeface="Arimo"/>
                <a:ea typeface="Arimo"/>
                <a:cs typeface="Arimo"/>
                <a:sym typeface="Arimo"/>
              </a:rPr>
              <a:t>Results and Graphs</a:t>
            </a:r>
          </a:p>
          <a:p>
            <a:pPr algn="ctr">
              <a:lnSpc>
                <a:spcPts val="3311"/>
              </a:lnSpc>
            </a:pPr>
            <a:r>
              <a:rPr lang="en-US" sz="2400">
                <a:solidFill>
                  <a:srgbClr val="FFFFFF"/>
                </a:solidFill>
                <a:latin typeface="Arimo"/>
                <a:ea typeface="Arimo"/>
                <a:cs typeface="Arimo"/>
                <a:sym typeface="Arimo"/>
              </a:rPr>
              <a:t>References</a:t>
            </a:r>
          </a:p>
          <a:p>
            <a:pPr algn="ctr">
              <a:lnSpc>
                <a:spcPts val="3311"/>
              </a:lnSpc>
            </a:pPr>
            <a:endParaRPr lang="en-US" sz="2400">
              <a:solidFill>
                <a:srgbClr val="FFFFFF"/>
              </a:solidFill>
              <a:latin typeface="Arimo"/>
              <a:ea typeface="Arimo"/>
              <a:cs typeface="Arimo"/>
              <a:sym typeface="Arimo"/>
            </a:endParaRPr>
          </a:p>
        </p:txBody>
      </p:sp>
      <p:sp>
        <p:nvSpPr>
          <p:cNvPr id="9" name="Freeform 9"/>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7"/>
            <a:stretch>
              <a:fillRect/>
            </a:stretch>
          </a:blipFill>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694348" y="1434972"/>
            <a:ext cx="16899304" cy="4389568"/>
            <a:chOff x="0" y="0"/>
            <a:chExt cx="4772326" cy="1239604"/>
          </a:xfrm>
        </p:grpSpPr>
        <p:sp>
          <p:nvSpPr>
            <p:cNvPr id="5" name="Freeform 5"/>
            <p:cNvSpPr/>
            <p:nvPr/>
          </p:nvSpPr>
          <p:spPr>
            <a:xfrm>
              <a:off x="0" y="0"/>
              <a:ext cx="4772326" cy="1239604"/>
            </a:xfrm>
            <a:custGeom>
              <a:avLst/>
              <a:gdLst/>
              <a:ahLst/>
              <a:cxnLst/>
              <a:rect l="l" t="t" r="r" b="b"/>
              <a:pathLst>
                <a:path w="4772326" h="1239604">
                  <a:moveTo>
                    <a:pt x="15576" y="0"/>
                  </a:moveTo>
                  <a:lnTo>
                    <a:pt x="4756750" y="0"/>
                  </a:lnTo>
                  <a:cubicBezTo>
                    <a:pt x="4760881" y="0"/>
                    <a:pt x="4764843" y="1641"/>
                    <a:pt x="4767764" y="4562"/>
                  </a:cubicBezTo>
                  <a:cubicBezTo>
                    <a:pt x="4770685" y="7483"/>
                    <a:pt x="4772326" y="11445"/>
                    <a:pt x="4772326" y="15576"/>
                  </a:cubicBezTo>
                  <a:lnTo>
                    <a:pt x="4772326" y="1224028"/>
                  </a:lnTo>
                  <a:cubicBezTo>
                    <a:pt x="4772326" y="1232630"/>
                    <a:pt x="4765353" y="1239604"/>
                    <a:pt x="4756750" y="1239604"/>
                  </a:cubicBezTo>
                  <a:lnTo>
                    <a:pt x="15576" y="1239604"/>
                  </a:lnTo>
                  <a:cubicBezTo>
                    <a:pt x="6974" y="1239604"/>
                    <a:pt x="0" y="1232630"/>
                    <a:pt x="0" y="1224028"/>
                  </a:cubicBezTo>
                  <a:lnTo>
                    <a:pt x="0" y="15576"/>
                  </a:lnTo>
                  <a:cubicBezTo>
                    <a:pt x="0" y="6974"/>
                    <a:pt x="6974" y="0"/>
                    <a:pt x="15576" y="0"/>
                  </a:cubicBezTo>
                  <a:close/>
                </a:path>
              </a:pathLst>
            </a:custGeom>
            <a:solidFill>
              <a:srgbClr val="CFD9E0">
                <a:alpha val="32941"/>
              </a:srgbClr>
            </a:solidFill>
          </p:spPr>
        </p:sp>
        <p:sp>
          <p:nvSpPr>
            <p:cNvPr id="6" name="TextBox 6"/>
            <p:cNvSpPr txBox="1"/>
            <p:nvPr/>
          </p:nvSpPr>
          <p:spPr>
            <a:xfrm>
              <a:off x="0" y="-38100"/>
              <a:ext cx="4772326" cy="1277704"/>
            </a:xfrm>
            <a:prstGeom prst="rect">
              <a:avLst/>
            </a:prstGeom>
          </p:spPr>
          <p:txBody>
            <a:bodyPr lIns="50800" tIns="50800" rIns="50800" bIns="50800" rtlCol="0" anchor="ctr"/>
            <a:lstStyle/>
            <a:p>
              <a:pPr algn="ctr">
                <a:lnSpc>
                  <a:spcPts val="3359"/>
                </a:lnSpc>
                <a:spcBef>
                  <a:spcPct val="0"/>
                </a:spcBef>
              </a:pPr>
              <a:endParaRPr/>
            </a:p>
          </p:txBody>
        </p:sp>
      </p:grpSp>
      <p:sp>
        <p:nvSpPr>
          <p:cNvPr id="7" name="TextBox 7"/>
          <p:cNvSpPr txBox="1"/>
          <p:nvPr/>
        </p:nvSpPr>
        <p:spPr>
          <a:xfrm>
            <a:off x="956230" y="1630189"/>
            <a:ext cx="16173052" cy="3888867"/>
          </a:xfrm>
          <a:prstGeom prst="rect">
            <a:avLst/>
          </a:prstGeom>
        </p:spPr>
        <p:txBody>
          <a:bodyPr lIns="0" tIns="0" rIns="0" bIns="0" rtlCol="0" anchor="t">
            <a:spAutoFit/>
          </a:bodyPr>
          <a:lstStyle/>
          <a:p>
            <a:pPr algn="l">
              <a:lnSpc>
                <a:spcPts val="3863"/>
              </a:lnSpc>
            </a:pPr>
            <a:r>
              <a:rPr lang="en-US" sz="2799">
                <a:solidFill>
                  <a:srgbClr val="FFFFFF"/>
                </a:solidFill>
                <a:latin typeface="Arimo"/>
                <a:ea typeface="Arimo"/>
                <a:cs typeface="Arimo"/>
                <a:sym typeface="Arimo"/>
              </a:rPr>
              <a:t>RTL Development —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ML-KEM computational modules implemented in synthesizable RTL.</a:t>
            </a:r>
          </a:p>
          <a:p>
            <a:pPr marL="604519" lvl="1" indent="-302260" algn="l">
              <a:lnSpc>
                <a:spcPts val="3863"/>
              </a:lnSpc>
              <a:buFont typeface="Arial"/>
              <a:buChar char="•"/>
            </a:pPr>
            <a:r>
              <a:rPr lang="en-US" sz="2799">
                <a:solidFill>
                  <a:srgbClr val="FFFFFF"/>
                </a:solidFill>
                <a:latin typeface="Arimo"/>
                <a:ea typeface="Arimo"/>
                <a:cs typeface="Arimo"/>
                <a:sym typeface="Arimo"/>
              </a:rPr>
              <a:t>Modular arithmetic and polynomial arithmetic datapaths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NTT and INTT hardware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Auxilary modules including control, sampling, encoding/decoding and Keccak/SHAKE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Accelerator modules integrated with the PicoRV32-based SoC.</a:t>
            </a:r>
          </a:p>
          <a:p>
            <a:pPr marL="604519" lvl="1" indent="-302260" algn="l">
              <a:lnSpc>
                <a:spcPts val="3863"/>
              </a:lnSpc>
              <a:buFont typeface="Arial"/>
              <a:buChar char="•"/>
            </a:pPr>
            <a:r>
              <a:rPr lang="en-US" sz="2799">
                <a:solidFill>
                  <a:srgbClr val="FFFFFF"/>
                </a:solidFill>
                <a:latin typeface="Arimo"/>
                <a:ea typeface="Arimo"/>
                <a:cs typeface="Arimo"/>
                <a:sym typeface="Arimo"/>
              </a:rPr>
              <a:t>Memory-mapped processor–accelerator communication implemented.</a:t>
            </a:r>
          </a:p>
          <a:p>
            <a:pPr marL="604519" lvl="1" indent="-302260" algn="l">
              <a:lnSpc>
                <a:spcPts val="3863"/>
              </a:lnSpc>
              <a:buFont typeface="Arial"/>
              <a:buChar char="•"/>
            </a:pPr>
            <a:r>
              <a:rPr lang="en-US" sz="2799">
                <a:solidFill>
                  <a:srgbClr val="FFFFFF"/>
                </a:solidFill>
                <a:latin typeface="Arimo"/>
                <a:ea typeface="Arimo"/>
                <a:cs typeface="Arimo"/>
                <a:sym typeface="Arimo"/>
              </a:rPr>
              <a:t>Existing PicoRV32 core retained as the host processor.</a:t>
            </a:r>
          </a:p>
        </p:txBody>
      </p:sp>
      <p:sp>
        <p:nvSpPr>
          <p:cNvPr id="8" name="TextBox 8"/>
          <p:cNvSpPr txBox="1"/>
          <p:nvPr/>
        </p:nvSpPr>
        <p:spPr>
          <a:xfrm>
            <a:off x="673200" y="363149"/>
            <a:ext cx="8726541" cy="857250"/>
          </a:xfrm>
          <a:prstGeom prst="rect">
            <a:avLst/>
          </a:prstGeom>
        </p:spPr>
        <p:txBody>
          <a:bodyPr lIns="0" tIns="0" rIns="0" bIns="0" rtlCol="0" anchor="t">
            <a:spAutoFit/>
          </a:bodyPr>
          <a:lstStyle/>
          <a:p>
            <a:pPr algn="l">
              <a:lnSpc>
                <a:spcPts val="6900"/>
              </a:lnSpc>
            </a:pPr>
            <a:r>
              <a:rPr lang="en-US" sz="5000" b="1">
                <a:solidFill>
                  <a:srgbClr val="FFFFFF"/>
                </a:solidFill>
                <a:latin typeface="Darker Grotesque Bold"/>
                <a:ea typeface="Darker Grotesque Bold"/>
                <a:cs typeface="Darker Grotesque Bold"/>
                <a:sym typeface="Darker Grotesque Bold"/>
              </a:rPr>
              <a:t>Work Completed till Review 1</a:t>
            </a:r>
          </a:p>
        </p:txBody>
      </p:sp>
      <p:grpSp>
        <p:nvGrpSpPr>
          <p:cNvPr id="9" name="Group 9"/>
          <p:cNvGrpSpPr/>
          <p:nvPr/>
        </p:nvGrpSpPr>
        <p:grpSpPr>
          <a:xfrm>
            <a:off x="673200" y="6043615"/>
            <a:ext cx="16899304" cy="3593592"/>
            <a:chOff x="0" y="0"/>
            <a:chExt cx="4772326" cy="1014822"/>
          </a:xfrm>
        </p:grpSpPr>
        <p:sp>
          <p:nvSpPr>
            <p:cNvPr id="10" name="Freeform 10"/>
            <p:cNvSpPr/>
            <p:nvPr/>
          </p:nvSpPr>
          <p:spPr>
            <a:xfrm>
              <a:off x="0" y="0"/>
              <a:ext cx="4772326" cy="1014822"/>
            </a:xfrm>
            <a:custGeom>
              <a:avLst/>
              <a:gdLst/>
              <a:ahLst/>
              <a:cxnLst/>
              <a:rect l="l" t="t" r="r" b="b"/>
              <a:pathLst>
                <a:path w="4772326" h="1014822">
                  <a:moveTo>
                    <a:pt x="15576" y="0"/>
                  </a:moveTo>
                  <a:lnTo>
                    <a:pt x="4756750" y="0"/>
                  </a:lnTo>
                  <a:cubicBezTo>
                    <a:pt x="4760881" y="0"/>
                    <a:pt x="4764843" y="1641"/>
                    <a:pt x="4767764" y="4562"/>
                  </a:cubicBezTo>
                  <a:cubicBezTo>
                    <a:pt x="4770685" y="7483"/>
                    <a:pt x="4772326" y="11445"/>
                    <a:pt x="4772326" y="15576"/>
                  </a:cubicBezTo>
                  <a:lnTo>
                    <a:pt x="4772326" y="999246"/>
                  </a:lnTo>
                  <a:cubicBezTo>
                    <a:pt x="4772326" y="1007849"/>
                    <a:pt x="4765353" y="1014822"/>
                    <a:pt x="4756750" y="1014822"/>
                  </a:cubicBezTo>
                  <a:lnTo>
                    <a:pt x="15576" y="1014822"/>
                  </a:lnTo>
                  <a:cubicBezTo>
                    <a:pt x="6974" y="1014822"/>
                    <a:pt x="0" y="1007849"/>
                    <a:pt x="0" y="999246"/>
                  </a:cubicBezTo>
                  <a:lnTo>
                    <a:pt x="0" y="15576"/>
                  </a:lnTo>
                  <a:cubicBezTo>
                    <a:pt x="0" y="6974"/>
                    <a:pt x="6974" y="0"/>
                    <a:pt x="15576" y="0"/>
                  </a:cubicBezTo>
                  <a:close/>
                </a:path>
              </a:pathLst>
            </a:custGeom>
            <a:solidFill>
              <a:srgbClr val="40C5C5">
                <a:alpha val="32941"/>
              </a:srgbClr>
            </a:solidFill>
          </p:spPr>
        </p:sp>
        <p:sp>
          <p:nvSpPr>
            <p:cNvPr id="11" name="TextBox 11"/>
            <p:cNvSpPr txBox="1"/>
            <p:nvPr/>
          </p:nvSpPr>
          <p:spPr>
            <a:xfrm>
              <a:off x="0" y="-38100"/>
              <a:ext cx="4772326" cy="1052922"/>
            </a:xfrm>
            <a:prstGeom prst="rect">
              <a:avLst/>
            </a:prstGeom>
          </p:spPr>
          <p:txBody>
            <a:bodyPr lIns="50800" tIns="50800" rIns="50800" bIns="50800" rtlCol="0" anchor="ctr"/>
            <a:lstStyle/>
            <a:p>
              <a:pPr algn="ctr">
                <a:lnSpc>
                  <a:spcPts val="3359"/>
                </a:lnSpc>
                <a:spcBef>
                  <a:spcPct val="0"/>
                </a:spcBef>
              </a:pPr>
              <a:endParaRPr/>
            </a:p>
          </p:txBody>
        </p:sp>
      </p:grpSp>
      <p:sp>
        <p:nvSpPr>
          <p:cNvPr id="12" name="TextBox 12"/>
          <p:cNvSpPr txBox="1"/>
          <p:nvPr/>
        </p:nvSpPr>
        <p:spPr>
          <a:xfrm>
            <a:off x="956230" y="6234115"/>
            <a:ext cx="16131228" cy="3403092"/>
          </a:xfrm>
          <a:prstGeom prst="rect">
            <a:avLst/>
          </a:prstGeom>
        </p:spPr>
        <p:txBody>
          <a:bodyPr lIns="0" tIns="0" rIns="0" bIns="0" rtlCol="0" anchor="t">
            <a:spAutoFit/>
          </a:bodyPr>
          <a:lstStyle/>
          <a:p>
            <a:pPr algn="l">
              <a:lnSpc>
                <a:spcPts val="3863"/>
              </a:lnSpc>
            </a:pPr>
            <a:r>
              <a:rPr lang="en-US" sz="2799">
                <a:solidFill>
                  <a:srgbClr val="FFFFFF"/>
                </a:solidFill>
                <a:latin typeface="Arimo"/>
                <a:ea typeface="Arimo"/>
                <a:cs typeface="Arimo"/>
                <a:sym typeface="Arimo"/>
              </a:rPr>
              <a:t>Verification —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Individual RTL modules functionally verified.</a:t>
            </a:r>
          </a:p>
          <a:p>
            <a:pPr marL="604519" lvl="1" indent="-302260" algn="l">
              <a:lnSpc>
                <a:spcPts val="3863"/>
              </a:lnSpc>
              <a:buFont typeface="Arial"/>
              <a:buChar char="•"/>
            </a:pPr>
            <a:r>
              <a:rPr lang="en-US" sz="2799">
                <a:solidFill>
                  <a:srgbClr val="FFFFFF"/>
                </a:solidFill>
                <a:latin typeface="Arimo"/>
                <a:ea typeface="Arimo"/>
                <a:cs typeface="Arimo"/>
                <a:sym typeface="Arimo"/>
              </a:rPr>
              <a:t>Integrated accelerator verified through simulation.</a:t>
            </a:r>
          </a:p>
          <a:p>
            <a:pPr marL="604519" lvl="1" indent="-302260" algn="l">
              <a:lnSpc>
                <a:spcPts val="3863"/>
              </a:lnSpc>
              <a:buFont typeface="Arial"/>
              <a:buChar char="•"/>
            </a:pPr>
            <a:r>
              <a:rPr lang="en-US" sz="2799">
                <a:solidFill>
                  <a:srgbClr val="FFFFFF"/>
                </a:solidFill>
                <a:latin typeface="Arimo"/>
                <a:ea typeface="Arimo"/>
                <a:cs typeface="Arimo"/>
                <a:sym typeface="Arimo"/>
              </a:rPr>
              <a:t>Pre-synthesis functional verification completed.</a:t>
            </a:r>
          </a:p>
          <a:p>
            <a:pPr marL="604519" lvl="1" indent="-302260" algn="l">
              <a:lnSpc>
                <a:spcPts val="3863"/>
              </a:lnSpc>
              <a:buFont typeface="Arial"/>
              <a:buChar char="•"/>
            </a:pPr>
            <a:r>
              <a:rPr lang="en-US" sz="2799">
                <a:solidFill>
                  <a:srgbClr val="FFFFFF"/>
                </a:solidFill>
                <a:latin typeface="Arimo"/>
                <a:ea typeface="Arimo"/>
                <a:cs typeface="Arimo"/>
                <a:sym typeface="Arimo"/>
              </a:rPr>
              <a:t>Processor-driven ML-KEM execution verified through the SoC test environment.</a:t>
            </a:r>
          </a:p>
          <a:p>
            <a:pPr marL="604519" lvl="1" indent="-302260" algn="l">
              <a:lnSpc>
                <a:spcPts val="3863"/>
              </a:lnSpc>
              <a:buFont typeface="Arial"/>
              <a:buChar char="•"/>
            </a:pPr>
            <a:r>
              <a:rPr lang="en-US" sz="2799">
                <a:solidFill>
                  <a:srgbClr val="FFFFFF"/>
                </a:solidFill>
                <a:latin typeface="Arimo"/>
                <a:ea typeface="Arimo"/>
                <a:cs typeface="Arimo"/>
                <a:sym typeface="Arimo"/>
              </a:rPr>
              <a:t>RTL is now considered functionally complete and ready for synthesis.</a:t>
            </a:r>
          </a:p>
          <a:p>
            <a:pPr algn="l">
              <a:lnSpc>
                <a:spcPts val="3863"/>
              </a:lnSpc>
            </a:pPr>
            <a:endParaRPr lang="en-US" sz="2799">
              <a:solidFill>
                <a:srgbClr val="FFFFFF"/>
              </a:solidFill>
              <a:latin typeface="Arimo"/>
              <a:ea typeface="Arimo"/>
              <a:cs typeface="Arimo"/>
              <a:sym typeface="Arimo"/>
            </a:endParaRPr>
          </a:p>
        </p:txBody>
      </p:sp>
      <p:sp>
        <p:nvSpPr>
          <p:cNvPr id="13" name="Freeform 13"/>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708931" y="2761523"/>
            <a:ext cx="6973283" cy="3266549"/>
            <a:chOff x="0" y="0"/>
            <a:chExt cx="1969240" cy="922466"/>
          </a:xfrm>
        </p:grpSpPr>
        <p:sp>
          <p:nvSpPr>
            <p:cNvPr id="5" name="Freeform 5"/>
            <p:cNvSpPr/>
            <p:nvPr/>
          </p:nvSpPr>
          <p:spPr>
            <a:xfrm>
              <a:off x="0" y="0"/>
              <a:ext cx="1969240" cy="922466"/>
            </a:xfrm>
            <a:custGeom>
              <a:avLst/>
              <a:gdLst/>
              <a:ahLst/>
              <a:cxnLst/>
              <a:rect l="l" t="t" r="r" b="b"/>
              <a:pathLst>
                <a:path w="1969240" h="922466">
                  <a:moveTo>
                    <a:pt x="37748" y="0"/>
                  </a:moveTo>
                  <a:lnTo>
                    <a:pt x="1931492" y="0"/>
                  </a:lnTo>
                  <a:cubicBezTo>
                    <a:pt x="1941504" y="0"/>
                    <a:pt x="1951105" y="3977"/>
                    <a:pt x="1958184" y="11056"/>
                  </a:cubicBezTo>
                  <a:cubicBezTo>
                    <a:pt x="1965263" y="18135"/>
                    <a:pt x="1969240" y="27736"/>
                    <a:pt x="1969240" y="37748"/>
                  </a:cubicBezTo>
                  <a:lnTo>
                    <a:pt x="1969240" y="884718"/>
                  </a:lnTo>
                  <a:cubicBezTo>
                    <a:pt x="1969240" y="894730"/>
                    <a:pt x="1965263" y="904331"/>
                    <a:pt x="1958184" y="911410"/>
                  </a:cubicBezTo>
                  <a:cubicBezTo>
                    <a:pt x="1951105" y="918489"/>
                    <a:pt x="1941504" y="922466"/>
                    <a:pt x="1931492" y="922466"/>
                  </a:cubicBezTo>
                  <a:lnTo>
                    <a:pt x="37748" y="922466"/>
                  </a:lnTo>
                  <a:cubicBezTo>
                    <a:pt x="27736" y="922466"/>
                    <a:pt x="18135" y="918489"/>
                    <a:pt x="11056" y="911410"/>
                  </a:cubicBezTo>
                  <a:cubicBezTo>
                    <a:pt x="3977" y="904331"/>
                    <a:pt x="0" y="894730"/>
                    <a:pt x="0" y="884718"/>
                  </a:cubicBezTo>
                  <a:lnTo>
                    <a:pt x="0" y="37748"/>
                  </a:lnTo>
                  <a:cubicBezTo>
                    <a:pt x="0" y="27736"/>
                    <a:pt x="3977" y="18135"/>
                    <a:pt x="11056" y="11056"/>
                  </a:cubicBezTo>
                  <a:cubicBezTo>
                    <a:pt x="18135" y="3977"/>
                    <a:pt x="27736" y="0"/>
                    <a:pt x="37748" y="0"/>
                  </a:cubicBezTo>
                  <a:close/>
                </a:path>
              </a:pathLst>
            </a:custGeom>
            <a:solidFill>
              <a:srgbClr val="CFD9E0">
                <a:alpha val="32941"/>
              </a:srgbClr>
            </a:solidFill>
          </p:spPr>
        </p:sp>
        <p:sp>
          <p:nvSpPr>
            <p:cNvPr id="6" name="TextBox 6"/>
            <p:cNvSpPr txBox="1"/>
            <p:nvPr/>
          </p:nvSpPr>
          <p:spPr>
            <a:xfrm>
              <a:off x="0" y="-38100"/>
              <a:ext cx="1969240" cy="960566"/>
            </a:xfrm>
            <a:prstGeom prst="rect">
              <a:avLst/>
            </a:prstGeom>
          </p:spPr>
          <p:txBody>
            <a:bodyPr lIns="50800" tIns="50800" rIns="50800" bIns="50800" rtlCol="0" anchor="ctr"/>
            <a:lstStyle/>
            <a:p>
              <a:pPr algn="ctr">
                <a:lnSpc>
                  <a:spcPts val="3359"/>
                </a:lnSpc>
                <a:spcBef>
                  <a:spcPct val="0"/>
                </a:spcBef>
              </a:pPr>
              <a:endParaRPr/>
            </a:p>
          </p:txBody>
        </p:sp>
      </p:grpSp>
      <p:sp>
        <p:nvSpPr>
          <p:cNvPr id="7" name="TextBox 7"/>
          <p:cNvSpPr txBox="1"/>
          <p:nvPr/>
        </p:nvSpPr>
        <p:spPr>
          <a:xfrm>
            <a:off x="970813" y="2982358"/>
            <a:ext cx="6711401" cy="2935986"/>
          </a:xfrm>
          <a:prstGeom prst="rect">
            <a:avLst/>
          </a:prstGeom>
        </p:spPr>
        <p:txBody>
          <a:bodyPr lIns="0" tIns="0" rIns="0" bIns="0" rtlCol="0" anchor="t">
            <a:spAutoFit/>
          </a:bodyPr>
          <a:lstStyle/>
          <a:p>
            <a:pPr algn="l">
              <a:lnSpc>
                <a:spcPts val="3311"/>
              </a:lnSpc>
            </a:pPr>
            <a:r>
              <a:rPr lang="en-US" sz="2400">
                <a:solidFill>
                  <a:srgbClr val="FFFFFF"/>
                </a:solidFill>
                <a:latin typeface="Arimo"/>
                <a:ea typeface="Arimo"/>
                <a:cs typeface="Arimo"/>
                <a:sym typeface="Arimo"/>
              </a:rPr>
              <a:t>1. Initial Full-Design Synthesis</a:t>
            </a:r>
          </a:p>
          <a:p>
            <a:pPr marL="518160" lvl="1" indent="-259080" algn="l">
              <a:lnSpc>
                <a:spcPts val="3311"/>
              </a:lnSpc>
              <a:buFont typeface="Arial"/>
              <a:buChar char="•"/>
            </a:pPr>
            <a:r>
              <a:rPr lang="en-US" sz="2400">
                <a:solidFill>
                  <a:srgbClr val="FFFFFF"/>
                </a:solidFill>
                <a:latin typeface="Arimo"/>
                <a:ea typeface="Arimo"/>
                <a:cs typeface="Arimo"/>
                <a:sym typeface="Arimo"/>
              </a:rPr>
              <a:t>Complete ML-KEM + PicoRV32 design synthesized using Cadence Genus</a:t>
            </a:r>
          </a:p>
          <a:p>
            <a:pPr marL="518160" lvl="1" indent="-259080" algn="l">
              <a:lnSpc>
                <a:spcPts val="3311"/>
              </a:lnSpc>
              <a:buFont typeface="Arial"/>
              <a:buChar char="•"/>
            </a:pPr>
            <a:r>
              <a:rPr lang="en-US" sz="2400">
                <a:solidFill>
                  <a:srgbClr val="FFFFFF"/>
                </a:solidFill>
                <a:latin typeface="Arimo"/>
                <a:ea typeface="Arimo"/>
                <a:cs typeface="Arimo"/>
                <a:sym typeface="Arimo"/>
              </a:rPr>
              <a:t>Initial synthesis runtime: ~4 hours</a:t>
            </a:r>
          </a:p>
          <a:p>
            <a:pPr marL="518160" lvl="1" indent="-259080" algn="l">
              <a:lnSpc>
                <a:spcPts val="3311"/>
              </a:lnSpc>
              <a:buFont typeface="Arial"/>
              <a:buChar char="•"/>
            </a:pPr>
            <a:r>
              <a:rPr lang="en-US" sz="2400">
                <a:solidFill>
                  <a:srgbClr val="FFFFFF"/>
                </a:solidFill>
                <a:latin typeface="Arimo"/>
                <a:ea typeface="Arimo"/>
                <a:cs typeface="Arimo"/>
                <a:sym typeface="Arimo"/>
              </a:rPr>
              <a:t>Initial WNS: −8840 ps</a:t>
            </a:r>
          </a:p>
          <a:p>
            <a:pPr marL="518160" lvl="1" indent="-259080" algn="l">
              <a:lnSpc>
                <a:spcPts val="3311"/>
              </a:lnSpc>
              <a:buFont typeface="Arial"/>
              <a:buChar char="•"/>
            </a:pPr>
            <a:r>
              <a:rPr lang="en-US" sz="2400">
                <a:solidFill>
                  <a:srgbClr val="FFFFFF"/>
                </a:solidFill>
                <a:latin typeface="Arimo"/>
                <a:ea typeface="Arimo"/>
                <a:cs typeface="Arimo"/>
                <a:sym typeface="Arimo"/>
              </a:rPr>
              <a:t>Severe timing violation identified</a:t>
            </a:r>
          </a:p>
          <a:p>
            <a:pPr algn="l">
              <a:lnSpc>
                <a:spcPts val="3311"/>
              </a:lnSpc>
            </a:pPr>
            <a:endParaRPr lang="en-US" sz="2400">
              <a:solidFill>
                <a:srgbClr val="FFFFFF"/>
              </a:solidFill>
              <a:latin typeface="Arimo"/>
              <a:ea typeface="Arimo"/>
              <a:cs typeface="Arimo"/>
              <a:sym typeface="Arimo"/>
            </a:endParaRPr>
          </a:p>
        </p:txBody>
      </p:sp>
      <p:sp>
        <p:nvSpPr>
          <p:cNvPr id="8" name="TextBox 8"/>
          <p:cNvSpPr txBox="1"/>
          <p:nvPr/>
        </p:nvSpPr>
        <p:spPr>
          <a:xfrm>
            <a:off x="945753" y="1697493"/>
            <a:ext cx="6485057"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Work Completed Since </a:t>
            </a:r>
          </a:p>
        </p:txBody>
      </p:sp>
      <p:grpSp>
        <p:nvGrpSpPr>
          <p:cNvPr id="9" name="Group 9"/>
          <p:cNvGrpSpPr/>
          <p:nvPr/>
        </p:nvGrpSpPr>
        <p:grpSpPr>
          <a:xfrm>
            <a:off x="694348" y="6259142"/>
            <a:ext cx="6987866" cy="2820924"/>
            <a:chOff x="0" y="0"/>
            <a:chExt cx="1973358" cy="796623"/>
          </a:xfrm>
        </p:grpSpPr>
        <p:sp>
          <p:nvSpPr>
            <p:cNvPr id="10" name="Freeform 10"/>
            <p:cNvSpPr/>
            <p:nvPr/>
          </p:nvSpPr>
          <p:spPr>
            <a:xfrm>
              <a:off x="0" y="0"/>
              <a:ext cx="1973358" cy="796623"/>
            </a:xfrm>
            <a:custGeom>
              <a:avLst/>
              <a:gdLst/>
              <a:ahLst/>
              <a:cxnLst/>
              <a:rect l="l" t="t" r="r" b="b"/>
              <a:pathLst>
                <a:path w="1973358" h="796623">
                  <a:moveTo>
                    <a:pt x="37669" y="0"/>
                  </a:moveTo>
                  <a:lnTo>
                    <a:pt x="1935689" y="0"/>
                  </a:lnTo>
                  <a:cubicBezTo>
                    <a:pt x="1956493" y="0"/>
                    <a:pt x="1973358" y="16865"/>
                    <a:pt x="1973358" y="37669"/>
                  </a:cubicBezTo>
                  <a:lnTo>
                    <a:pt x="1973358" y="758954"/>
                  </a:lnTo>
                  <a:cubicBezTo>
                    <a:pt x="1973358" y="779758"/>
                    <a:pt x="1956493" y="796623"/>
                    <a:pt x="1935689" y="796623"/>
                  </a:cubicBezTo>
                  <a:lnTo>
                    <a:pt x="37669" y="796623"/>
                  </a:lnTo>
                  <a:cubicBezTo>
                    <a:pt x="16865" y="796623"/>
                    <a:pt x="0" y="779758"/>
                    <a:pt x="0" y="758954"/>
                  </a:cubicBezTo>
                  <a:lnTo>
                    <a:pt x="0" y="37669"/>
                  </a:lnTo>
                  <a:cubicBezTo>
                    <a:pt x="0" y="16865"/>
                    <a:pt x="16865" y="0"/>
                    <a:pt x="37669" y="0"/>
                  </a:cubicBezTo>
                  <a:close/>
                </a:path>
              </a:pathLst>
            </a:custGeom>
            <a:solidFill>
              <a:srgbClr val="40C5C5">
                <a:alpha val="32941"/>
              </a:srgbClr>
            </a:solidFill>
          </p:spPr>
        </p:sp>
        <p:sp>
          <p:nvSpPr>
            <p:cNvPr id="11" name="TextBox 11"/>
            <p:cNvSpPr txBox="1"/>
            <p:nvPr/>
          </p:nvSpPr>
          <p:spPr>
            <a:xfrm>
              <a:off x="0" y="-38100"/>
              <a:ext cx="1973358" cy="834723"/>
            </a:xfrm>
            <a:prstGeom prst="rect">
              <a:avLst/>
            </a:prstGeom>
          </p:spPr>
          <p:txBody>
            <a:bodyPr lIns="50800" tIns="50800" rIns="50800" bIns="50800" rtlCol="0" anchor="ctr"/>
            <a:lstStyle/>
            <a:p>
              <a:pPr algn="ctr">
                <a:lnSpc>
                  <a:spcPts val="3359"/>
                </a:lnSpc>
                <a:spcBef>
                  <a:spcPct val="0"/>
                </a:spcBef>
              </a:pPr>
              <a:endParaRPr/>
            </a:p>
          </p:txBody>
        </p:sp>
      </p:grpSp>
      <p:sp>
        <p:nvSpPr>
          <p:cNvPr id="12" name="Freeform 12"/>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13" name="Group 13"/>
          <p:cNvGrpSpPr/>
          <p:nvPr/>
        </p:nvGrpSpPr>
        <p:grpSpPr>
          <a:xfrm>
            <a:off x="8055672" y="1748339"/>
            <a:ext cx="9334294" cy="7331727"/>
            <a:chOff x="0" y="0"/>
            <a:chExt cx="2635984" cy="2070464"/>
          </a:xfrm>
        </p:grpSpPr>
        <p:sp>
          <p:nvSpPr>
            <p:cNvPr id="14" name="Freeform 14"/>
            <p:cNvSpPr/>
            <p:nvPr/>
          </p:nvSpPr>
          <p:spPr>
            <a:xfrm>
              <a:off x="0" y="0"/>
              <a:ext cx="2635984" cy="2070464"/>
            </a:xfrm>
            <a:custGeom>
              <a:avLst/>
              <a:gdLst/>
              <a:ahLst/>
              <a:cxnLst/>
              <a:rect l="l" t="t" r="r" b="b"/>
              <a:pathLst>
                <a:path w="2635984" h="2070464">
                  <a:moveTo>
                    <a:pt x="28200" y="0"/>
                  </a:moveTo>
                  <a:lnTo>
                    <a:pt x="2607784" y="0"/>
                  </a:lnTo>
                  <a:cubicBezTo>
                    <a:pt x="2623359" y="0"/>
                    <a:pt x="2635984" y="12625"/>
                    <a:pt x="2635984" y="28200"/>
                  </a:cubicBezTo>
                  <a:lnTo>
                    <a:pt x="2635984" y="2042264"/>
                  </a:lnTo>
                  <a:cubicBezTo>
                    <a:pt x="2635984" y="2049743"/>
                    <a:pt x="2633013" y="2056916"/>
                    <a:pt x="2627724" y="2062204"/>
                  </a:cubicBezTo>
                  <a:cubicBezTo>
                    <a:pt x="2622436" y="2067493"/>
                    <a:pt x="2615263" y="2070464"/>
                    <a:pt x="2607784" y="2070464"/>
                  </a:cubicBezTo>
                  <a:lnTo>
                    <a:pt x="28200" y="2070464"/>
                  </a:lnTo>
                  <a:cubicBezTo>
                    <a:pt x="12625" y="2070464"/>
                    <a:pt x="0" y="2057838"/>
                    <a:pt x="0" y="2042264"/>
                  </a:cubicBezTo>
                  <a:lnTo>
                    <a:pt x="0" y="28200"/>
                  </a:lnTo>
                  <a:cubicBezTo>
                    <a:pt x="0" y="12625"/>
                    <a:pt x="12625" y="0"/>
                    <a:pt x="28200" y="0"/>
                  </a:cubicBezTo>
                  <a:close/>
                </a:path>
              </a:pathLst>
            </a:custGeom>
            <a:solidFill>
              <a:srgbClr val="CFD9E0">
                <a:alpha val="32941"/>
              </a:srgbClr>
            </a:solidFill>
          </p:spPr>
        </p:sp>
        <p:sp>
          <p:nvSpPr>
            <p:cNvPr id="15" name="TextBox 15"/>
            <p:cNvSpPr txBox="1"/>
            <p:nvPr/>
          </p:nvSpPr>
          <p:spPr>
            <a:xfrm>
              <a:off x="0" y="-38100"/>
              <a:ext cx="2635984" cy="2108564"/>
            </a:xfrm>
            <a:prstGeom prst="rect">
              <a:avLst/>
            </a:prstGeom>
          </p:spPr>
          <p:txBody>
            <a:bodyPr lIns="50800" tIns="50800" rIns="50800" bIns="50800" rtlCol="0" anchor="ctr"/>
            <a:lstStyle/>
            <a:p>
              <a:pPr algn="ctr">
                <a:lnSpc>
                  <a:spcPts val="3359"/>
                </a:lnSpc>
                <a:spcBef>
                  <a:spcPct val="0"/>
                </a:spcBef>
              </a:pPr>
              <a:endParaRPr/>
            </a:p>
          </p:txBody>
        </p:sp>
      </p:grpSp>
      <p:sp>
        <p:nvSpPr>
          <p:cNvPr id="16" name="TextBox 16"/>
          <p:cNvSpPr txBox="1"/>
          <p:nvPr/>
        </p:nvSpPr>
        <p:spPr>
          <a:xfrm>
            <a:off x="8317554" y="1953080"/>
            <a:ext cx="8842374" cy="7126986"/>
          </a:xfrm>
          <a:prstGeom prst="rect">
            <a:avLst/>
          </a:prstGeom>
        </p:spPr>
        <p:txBody>
          <a:bodyPr lIns="0" tIns="0" rIns="0" bIns="0" rtlCol="0" anchor="t">
            <a:spAutoFit/>
          </a:bodyPr>
          <a:lstStyle/>
          <a:p>
            <a:pPr algn="l">
              <a:lnSpc>
                <a:spcPts val="3311"/>
              </a:lnSpc>
            </a:pPr>
            <a:r>
              <a:rPr lang="en-US" sz="2400">
                <a:solidFill>
                  <a:srgbClr val="FFFFFF"/>
                </a:solidFill>
                <a:latin typeface="Arimo"/>
                <a:ea typeface="Arimo"/>
                <a:cs typeface="Arimo"/>
                <a:sym typeface="Arimo"/>
              </a:rPr>
              <a:t>2. Critical-Path Analysis</a:t>
            </a:r>
          </a:p>
          <a:p>
            <a:pPr marL="518160" lvl="1" indent="-259080" algn="l">
              <a:lnSpc>
                <a:spcPts val="3311"/>
              </a:lnSpc>
              <a:buFont typeface="Arial"/>
              <a:buChar char="•"/>
            </a:pPr>
            <a:r>
              <a:rPr lang="en-US" sz="2400">
                <a:solidFill>
                  <a:srgbClr val="FFFFFF"/>
                </a:solidFill>
                <a:latin typeface="Arimo"/>
                <a:ea typeface="Arimo"/>
                <a:cs typeface="Arimo"/>
                <a:sym typeface="Arimo"/>
              </a:rPr>
              <a:t>Long combinational paths traced to major ML-KEM datapaths</a:t>
            </a:r>
          </a:p>
          <a:p>
            <a:pPr marL="518160" lvl="1" indent="-259080" algn="l">
              <a:lnSpc>
                <a:spcPts val="3311"/>
              </a:lnSpc>
              <a:buFont typeface="Arial"/>
              <a:buChar char="•"/>
            </a:pPr>
            <a:r>
              <a:rPr lang="en-US" sz="2400">
                <a:solidFill>
                  <a:srgbClr val="FFFFFF"/>
                </a:solidFill>
                <a:latin typeface="Arimo"/>
                <a:ea typeface="Arimo"/>
                <a:cs typeface="Arimo"/>
                <a:sym typeface="Arimo"/>
              </a:rPr>
              <a:t>Identified timing bottlenecks in:</a:t>
            </a:r>
          </a:p>
          <a:p>
            <a:pPr marL="1036320" lvl="2" indent="-345440" algn="l">
              <a:lnSpc>
                <a:spcPts val="3311"/>
              </a:lnSpc>
              <a:buFont typeface="Arial"/>
              <a:buChar char="⚬"/>
            </a:pPr>
            <a:r>
              <a:rPr lang="en-US" sz="2400">
                <a:solidFill>
                  <a:srgbClr val="FFFFFF"/>
                </a:solidFill>
                <a:latin typeface="Arimo"/>
                <a:ea typeface="Arimo"/>
                <a:cs typeface="Arimo"/>
                <a:sym typeface="Arimo"/>
              </a:rPr>
              <a:t>Pointwise polynomial multiplication</a:t>
            </a:r>
          </a:p>
          <a:p>
            <a:pPr marL="1036320" lvl="2" indent="-345440" algn="l">
              <a:lnSpc>
                <a:spcPts val="3311"/>
              </a:lnSpc>
              <a:buFont typeface="Arial"/>
              <a:buChar char="⚬"/>
            </a:pPr>
            <a:r>
              <a:rPr lang="en-US" sz="2400">
                <a:solidFill>
                  <a:srgbClr val="FFFFFF"/>
                </a:solidFill>
                <a:latin typeface="Arimo"/>
                <a:ea typeface="Arimo"/>
                <a:cs typeface="Arimo"/>
                <a:sym typeface="Arimo"/>
              </a:rPr>
              <a:t>Matrix-vector multiplication</a:t>
            </a:r>
          </a:p>
          <a:p>
            <a:pPr marL="1036320" lvl="2" indent="-345440" algn="l">
              <a:lnSpc>
                <a:spcPts val="3311"/>
              </a:lnSpc>
              <a:buFont typeface="Arial"/>
              <a:buChar char="⚬"/>
            </a:pPr>
            <a:r>
              <a:rPr lang="en-US" sz="2400">
                <a:solidFill>
                  <a:srgbClr val="FFFFFF"/>
                </a:solidFill>
                <a:latin typeface="Arimo"/>
                <a:ea typeface="Arimo"/>
                <a:cs typeface="Arimo"/>
                <a:sym typeface="Arimo"/>
              </a:rPr>
              <a:t>Barrett modular reduction</a:t>
            </a:r>
          </a:p>
          <a:p>
            <a:pPr marL="1036320" lvl="2" indent="-345440" algn="l">
              <a:lnSpc>
                <a:spcPts val="3311"/>
              </a:lnSpc>
              <a:buFont typeface="Arial"/>
              <a:buChar char="⚬"/>
            </a:pPr>
            <a:r>
              <a:rPr lang="en-US" sz="2400">
                <a:solidFill>
                  <a:srgbClr val="FFFFFF"/>
                </a:solidFill>
                <a:latin typeface="Arimo"/>
                <a:ea typeface="Arimo"/>
                <a:cs typeface="Arimo"/>
                <a:sym typeface="Arimo"/>
              </a:rPr>
              <a:t>Encryption compression path</a:t>
            </a:r>
          </a:p>
          <a:p>
            <a:pPr algn="l">
              <a:lnSpc>
                <a:spcPts val="3311"/>
              </a:lnSpc>
            </a:pPr>
            <a:r>
              <a:rPr lang="en-US" sz="2400">
                <a:solidFill>
                  <a:srgbClr val="FFFFFF"/>
                </a:solidFill>
                <a:latin typeface="Arimo"/>
                <a:ea typeface="Arimo"/>
                <a:cs typeface="Arimo"/>
                <a:sym typeface="Arimo"/>
              </a:rPr>
              <a:t>3. RTL Timing Optimization</a:t>
            </a:r>
          </a:p>
          <a:p>
            <a:pPr marL="518160" lvl="1" indent="-259080" algn="l">
              <a:lnSpc>
                <a:spcPts val="3311"/>
              </a:lnSpc>
              <a:buFont typeface="Arial"/>
              <a:buChar char="•"/>
            </a:pPr>
            <a:r>
              <a:rPr lang="en-US" sz="2400">
                <a:solidFill>
                  <a:srgbClr val="FFFFFF"/>
                </a:solidFill>
                <a:latin typeface="Arimo"/>
                <a:ea typeface="Arimo"/>
                <a:cs typeface="Arimo"/>
                <a:sym typeface="Arimo"/>
              </a:rPr>
              <a:t>Multiple pipelining architectures investigated</a:t>
            </a:r>
          </a:p>
          <a:p>
            <a:pPr marL="518160" lvl="1" indent="-259080" algn="l">
              <a:lnSpc>
                <a:spcPts val="3311"/>
              </a:lnSpc>
              <a:buFont typeface="Arial"/>
              <a:buChar char="•"/>
            </a:pPr>
            <a:r>
              <a:rPr lang="en-US" sz="2400">
                <a:solidFill>
                  <a:srgbClr val="FFFFFF"/>
                </a:solidFill>
                <a:latin typeface="Arimo"/>
                <a:ea typeface="Arimo"/>
                <a:cs typeface="Arimo"/>
                <a:sym typeface="Arimo"/>
              </a:rPr>
              <a:t>Pipeline registers and intermediate FSM states introduced</a:t>
            </a:r>
          </a:p>
          <a:p>
            <a:pPr marL="518160" lvl="1" indent="-259080" algn="l">
              <a:lnSpc>
                <a:spcPts val="3311"/>
              </a:lnSpc>
              <a:buFont typeface="Arial"/>
              <a:buChar char="•"/>
            </a:pPr>
            <a:r>
              <a:rPr lang="en-US" sz="2400">
                <a:solidFill>
                  <a:srgbClr val="FFFFFF"/>
                </a:solidFill>
                <a:latin typeface="Arimo"/>
                <a:ea typeface="Arimo"/>
                <a:cs typeface="Arimo"/>
                <a:sym typeface="Arimo"/>
              </a:rPr>
              <a:t>Selected implementation optimized the dominant system-level paths</a:t>
            </a:r>
          </a:p>
          <a:p>
            <a:pPr algn="l">
              <a:lnSpc>
                <a:spcPts val="3311"/>
              </a:lnSpc>
            </a:pPr>
            <a:r>
              <a:rPr lang="en-US" sz="2400">
                <a:solidFill>
                  <a:srgbClr val="FFFFFF"/>
                </a:solidFill>
                <a:latin typeface="Arimo"/>
                <a:ea typeface="Arimo"/>
                <a:cs typeface="Arimo"/>
                <a:sym typeface="Arimo"/>
              </a:rPr>
              <a:t>4. Constraint &amp; Frequency Exploration</a:t>
            </a:r>
          </a:p>
          <a:p>
            <a:pPr marL="518160" lvl="1" indent="-259080" algn="l">
              <a:lnSpc>
                <a:spcPts val="3311"/>
              </a:lnSpc>
              <a:buFont typeface="Arial"/>
              <a:buChar char="•"/>
            </a:pPr>
            <a:r>
              <a:rPr lang="en-US" sz="2400">
                <a:solidFill>
                  <a:srgbClr val="FFFFFF"/>
                </a:solidFill>
                <a:latin typeface="Arimo"/>
                <a:ea typeface="Arimo"/>
                <a:cs typeface="Arimo"/>
                <a:sym typeface="Arimo"/>
              </a:rPr>
              <a:t>Multiple SDC configurations developed and tested</a:t>
            </a:r>
          </a:p>
          <a:p>
            <a:pPr marL="518160" lvl="1" indent="-259080" algn="l">
              <a:lnSpc>
                <a:spcPts val="3311"/>
              </a:lnSpc>
              <a:buFont typeface="Arial"/>
              <a:buChar char="•"/>
            </a:pPr>
            <a:r>
              <a:rPr lang="en-US" sz="2400">
                <a:solidFill>
                  <a:srgbClr val="FFFFFF"/>
                </a:solidFill>
                <a:latin typeface="Arimo"/>
                <a:ea typeface="Arimo"/>
                <a:cs typeface="Arimo"/>
                <a:sym typeface="Arimo"/>
              </a:rPr>
              <a:t>50 MHz, 100 MHz and 250 MHz targets evaluated</a:t>
            </a:r>
          </a:p>
          <a:p>
            <a:pPr marL="518160" lvl="1" indent="-259080" algn="l">
              <a:lnSpc>
                <a:spcPts val="3311"/>
              </a:lnSpc>
              <a:buFont typeface="Arial"/>
              <a:buChar char="•"/>
            </a:pPr>
            <a:r>
              <a:rPr lang="en-US" sz="2400">
                <a:solidFill>
                  <a:srgbClr val="FFFFFF"/>
                </a:solidFill>
                <a:latin typeface="Arimo"/>
                <a:ea typeface="Arimo"/>
                <a:cs typeface="Arimo"/>
                <a:sym typeface="Arimo"/>
              </a:rPr>
              <a:t>100 MHz selected as the current implementation baseline</a:t>
            </a:r>
          </a:p>
          <a:p>
            <a:pPr algn="l">
              <a:lnSpc>
                <a:spcPts val="3311"/>
              </a:lnSpc>
            </a:pPr>
            <a:endParaRPr lang="en-US" sz="2400">
              <a:solidFill>
                <a:srgbClr val="FFFFFF"/>
              </a:solidFill>
              <a:latin typeface="Arimo"/>
              <a:ea typeface="Arimo"/>
              <a:cs typeface="Arimo"/>
              <a:sym typeface="Arimo"/>
            </a:endParaRPr>
          </a:p>
        </p:txBody>
      </p:sp>
      <p:sp>
        <p:nvSpPr>
          <p:cNvPr id="17" name="TextBox 17"/>
          <p:cNvSpPr txBox="1"/>
          <p:nvPr/>
        </p:nvSpPr>
        <p:spPr>
          <a:xfrm>
            <a:off x="1105637" y="6519937"/>
            <a:ext cx="6165288" cy="2089785"/>
          </a:xfrm>
          <a:prstGeom prst="rect">
            <a:avLst/>
          </a:prstGeom>
        </p:spPr>
        <p:txBody>
          <a:bodyPr lIns="0" tIns="0" rIns="0" bIns="0" rtlCol="0" anchor="t">
            <a:spAutoFit/>
          </a:bodyPr>
          <a:lstStyle/>
          <a:p>
            <a:pPr algn="l">
              <a:lnSpc>
                <a:spcPts val="5670"/>
              </a:lnSpc>
            </a:pPr>
            <a:r>
              <a:rPr lang="en-US" sz="3000" b="1">
                <a:solidFill>
                  <a:srgbClr val="FFFFFF"/>
                </a:solidFill>
                <a:latin typeface="Arimo Bold"/>
                <a:ea typeface="Arimo Bold"/>
                <a:cs typeface="Arimo Bold"/>
                <a:sym typeface="Arimo Bold"/>
              </a:rPr>
              <a:t>From functional RTL → timing-driven RTL optimization → synthesis-ready implementation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253996" y="935082"/>
            <a:ext cx="15225150" cy="819150"/>
          </a:xfrm>
          <a:prstGeom prst="rect">
            <a:avLst/>
          </a:prstGeom>
        </p:spPr>
        <p:txBody>
          <a:bodyPr lIns="0" tIns="0" rIns="0" bIns="0" rtlCol="0" anchor="t">
            <a:spAutoFit/>
          </a:bodyPr>
          <a:lstStyle/>
          <a:p>
            <a:pPr algn="l">
              <a:lnSpc>
                <a:spcPts val="6599"/>
              </a:lnSpc>
            </a:pPr>
            <a:r>
              <a:rPr lang="en-US" sz="5499" b="1">
                <a:solidFill>
                  <a:srgbClr val="FFFFFF"/>
                </a:solidFill>
                <a:latin typeface="Darker Grotesque Bold"/>
                <a:ea typeface="Darker Grotesque Bold"/>
                <a:cs typeface="Darker Grotesque Bold"/>
                <a:sym typeface="Darker Grotesque Bold"/>
              </a:rPr>
              <a:t>Matrix Vector Multiplication (matrix_vec_mul.v)</a:t>
            </a:r>
          </a:p>
        </p:txBody>
      </p:sp>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6" name="Freeform 6"/>
          <p:cNvSpPr/>
          <p:nvPr/>
        </p:nvSpPr>
        <p:spPr>
          <a:xfrm>
            <a:off x="871804" y="2154282"/>
            <a:ext cx="16544392" cy="5871757"/>
          </a:xfrm>
          <a:custGeom>
            <a:avLst/>
            <a:gdLst/>
            <a:ahLst/>
            <a:cxnLst/>
            <a:rect l="l" t="t" r="r" b="b"/>
            <a:pathLst>
              <a:path w="16544392" h="5871757">
                <a:moveTo>
                  <a:pt x="0" y="0"/>
                </a:moveTo>
                <a:lnTo>
                  <a:pt x="16544392" y="0"/>
                </a:lnTo>
                <a:lnTo>
                  <a:pt x="16544392" y="5871758"/>
                </a:lnTo>
                <a:lnTo>
                  <a:pt x="0" y="5871758"/>
                </a:lnTo>
                <a:lnTo>
                  <a:pt x="0" y="0"/>
                </a:lnTo>
                <a:close/>
              </a:path>
            </a:pathLst>
          </a:custGeom>
          <a:blipFill>
            <a:blip r:embed="rId6"/>
            <a:stretch>
              <a:fillRect t="-30767" b="-27723"/>
            </a:stretch>
          </a:blipFill>
        </p:spPr>
      </p:sp>
      <p:sp>
        <p:nvSpPr>
          <p:cNvPr id="7" name="TextBox 7"/>
          <p:cNvSpPr txBox="1"/>
          <p:nvPr/>
        </p:nvSpPr>
        <p:spPr>
          <a:xfrm>
            <a:off x="1253996" y="8365236"/>
            <a:ext cx="10581409" cy="893064"/>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Key Improvement:</a:t>
            </a:r>
          </a:p>
          <a:p>
            <a:pPr algn="l">
              <a:lnSpc>
                <a:spcPts val="3588"/>
              </a:lnSpc>
            </a:pPr>
            <a:r>
              <a:rPr lang="en-US" sz="2600">
                <a:solidFill>
                  <a:srgbClr val="FFFFFF"/>
                </a:solidFill>
                <a:latin typeface="Arimo"/>
                <a:ea typeface="Arimo"/>
                <a:cs typeface="Arimo"/>
                <a:sym typeface="Arimo"/>
              </a:rPr>
              <a:t>Prevented multiplier/add-tree delay from being combined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133475" y="1140013"/>
            <a:ext cx="15225150" cy="819150"/>
          </a:xfrm>
          <a:prstGeom prst="rect">
            <a:avLst/>
          </a:prstGeom>
        </p:spPr>
        <p:txBody>
          <a:bodyPr lIns="0" tIns="0" rIns="0" bIns="0" rtlCol="0" anchor="t">
            <a:spAutoFit/>
          </a:bodyPr>
          <a:lstStyle/>
          <a:p>
            <a:pPr algn="l">
              <a:lnSpc>
                <a:spcPts val="6599"/>
              </a:lnSpc>
            </a:pPr>
            <a:r>
              <a:rPr lang="en-US" sz="5499" b="1">
                <a:solidFill>
                  <a:srgbClr val="FFFFFF"/>
                </a:solidFill>
                <a:latin typeface="Darker Grotesque Bold"/>
                <a:ea typeface="Darker Grotesque Bold"/>
                <a:cs typeface="Darker Grotesque Bold"/>
                <a:sym typeface="Darker Grotesque Bold"/>
              </a:rPr>
              <a:t>Polynomial Multiplication (poly_mul_pointwise.v)</a:t>
            </a:r>
          </a:p>
        </p:txBody>
      </p:sp>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6" name="TextBox 6"/>
          <p:cNvSpPr txBox="1"/>
          <p:nvPr/>
        </p:nvSpPr>
        <p:spPr>
          <a:xfrm>
            <a:off x="1209789" y="7815773"/>
            <a:ext cx="15739006" cy="1340739"/>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Key Improvement:</a:t>
            </a:r>
          </a:p>
          <a:p>
            <a:pPr algn="l">
              <a:lnSpc>
                <a:spcPts val="3588"/>
              </a:lnSpc>
            </a:pPr>
            <a:r>
              <a:rPr lang="en-US" sz="2600">
                <a:solidFill>
                  <a:srgbClr val="FFFFFF"/>
                </a:solidFill>
                <a:latin typeface="Arimo"/>
                <a:ea typeface="Arimo"/>
                <a:cs typeface="Arimo"/>
                <a:sym typeface="Arimo"/>
              </a:rPr>
              <a:t>Pointwise polynomial multiplication divided into two pipelined stages reducing critical paths from ~14ns to around ~5ns with a 1 cycle latency</a:t>
            </a:r>
          </a:p>
        </p:txBody>
      </p:sp>
      <p:sp>
        <p:nvSpPr>
          <p:cNvPr id="7" name="Freeform 7"/>
          <p:cNvSpPr/>
          <p:nvPr/>
        </p:nvSpPr>
        <p:spPr>
          <a:xfrm>
            <a:off x="984494" y="2359213"/>
            <a:ext cx="16319012" cy="5113661"/>
          </a:xfrm>
          <a:custGeom>
            <a:avLst/>
            <a:gdLst/>
            <a:ahLst/>
            <a:cxnLst/>
            <a:rect l="l" t="t" r="r" b="b"/>
            <a:pathLst>
              <a:path w="16319012" h="5113661">
                <a:moveTo>
                  <a:pt x="0" y="0"/>
                </a:moveTo>
                <a:lnTo>
                  <a:pt x="16319012" y="0"/>
                </a:lnTo>
                <a:lnTo>
                  <a:pt x="16319012" y="5113660"/>
                </a:lnTo>
                <a:lnTo>
                  <a:pt x="0" y="5113660"/>
                </a:lnTo>
                <a:lnTo>
                  <a:pt x="0" y="0"/>
                </a:lnTo>
                <a:close/>
              </a:path>
            </a:pathLst>
          </a:custGeom>
          <a:blipFill>
            <a:blip r:embed="rId6"/>
            <a:stretch>
              <a:fillRect l="-1247" t="-42907" b="-38840"/>
            </a:stretch>
          </a:blipFill>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253996" y="1457476"/>
            <a:ext cx="16276320" cy="771525"/>
          </a:xfrm>
          <a:prstGeom prst="rect">
            <a:avLst/>
          </a:prstGeom>
        </p:spPr>
        <p:txBody>
          <a:bodyPr lIns="0" tIns="0" rIns="0" bIns="0" rtlCol="0" anchor="t">
            <a:spAutoFit/>
          </a:bodyPr>
          <a:lstStyle/>
          <a:p>
            <a:pPr algn="l">
              <a:lnSpc>
                <a:spcPts val="6000"/>
              </a:lnSpc>
            </a:pPr>
            <a:r>
              <a:rPr lang="en-US" sz="5000" b="1">
                <a:solidFill>
                  <a:srgbClr val="FFFFFF"/>
                </a:solidFill>
                <a:latin typeface="Darker Grotesque Bold"/>
                <a:ea typeface="Darker Grotesque Bold"/>
                <a:cs typeface="Darker Grotesque Bold"/>
                <a:sym typeface="Darker Grotesque Bold"/>
              </a:rPr>
              <a:t>Pipelined Modular Barett Reduction (mod_reduce_3329.v)</a:t>
            </a:r>
          </a:p>
        </p:txBody>
      </p:sp>
      <p:sp>
        <p:nvSpPr>
          <p:cNvPr id="5" name="Freeform 5"/>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6" name="Freeform 6"/>
          <p:cNvSpPr/>
          <p:nvPr/>
        </p:nvSpPr>
        <p:spPr>
          <a:xfrm>
            <a:off x="1253996" y="2355866"/>
            <a:ext cx="15739006" cy="5432261"/>
          </a:xfrm>
          <a:custGeom>
            <a:avLst/>
            <a:gdLst/>
            <a:ahLst/>
            <a:cxnLst/>
            <a:rect l="l" t="t" r="r" b="b"/>
            <a:pathLst>
              <a:path w="15739006" h="5432261">
                <a:moveTo>
                  <a:pt x="0" y="0"/>
                </a:moveTo>
                <a:lnTo>
                  <a:pt x="15739005" y="0"/>
                </a:lnTo>
                <a:lnTo>
                  <a:pt x="15739005" y="5432261"/>
                </a:lnTo>
                <a:lnTo>
                  <a:pt x="0" y="5432261"/>
                </a:lnTo>
                <a:lnTo>
                  <a:pt x="0" y="0"/>
                </a:lnTo>
                <a:close/>
              </a:path>
            </a:pathLst>
          </a:custGeom>
          <a:blipFill>
            <a:blip r:embed="rId6"/>
            <a:stretch>
              <a:fillRect l="-2082" t="-35232" b="-31135"/>
            </a:stretch>
          </a:blipFill>
        </p:spPr>
      </p:sp>
      <p:sp>
        <p:nvSpPr>
          <p:cNvPr id="7" name="TextBox 7"/>
          <p:cNvSpPr txBox="1"/>
          <p:nvPr/>
        </p:nvSpPr>
        <p:spPr>
          <a:xfrm>
            <a:off x="1253996" y="8007202"/>
            <a:ext cx="14482849" cy="893064"/>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Key Improvement:</a:t>
            </a:r>
          </a:p>
          <a:p>
            <a:pPr algn="l">
              <a:lnSpc>
                <a:spcPts val="3588"/>
              </a:lnSpc>
            </a:pPr>
            <a:r>
              <a:rPr lang="en-US" sz="2600">
                <a:solidFill>
                  <a:srgbClr val="FFFFFF"/>
                </a:solidFill>
                <a:latin typeface="Arimo"/>
                <a:ea typeface="Arimo"/>
                <a:cs typeface="Arimo"/>
                <a:sym typeface="Arimo"/>
              </a:rPr>
              <a:t>Barett Reduction split into two pipelined stages reducing the per stage delay to less than 1.1ns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Freeform 4"/>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5" name="Freeform 5"/>
          <p:cNvSpPr/>
          <p:nvPr/>
        </p:nvSpPr>
        <p:spPr>
          <a:xfrm>
            <a:off x="931164" y="2298716"/>
            <a:ext cx="16374880" cy="5102540"/>
          </a:xfrm>
          <a:custGeom>
            <a:avLst/>
            <a:gdLst/>
            <a:ahLst/>
            <a:cxnLst/>
            <a:rect l="l" t="t" r="r" b="b"/>
            <a:pathLst>
              <a:path w="16374880" h="5102540">
                <a:moveTo>
                  <a:pt x="0" y="0"/>
                </a:moveTo>
                <a:lnTo>
                  <a:pt x="16374880" y="0"/>
                </a:lnTo>
                <a:lnTo>
                  <a:pt x="16374880" y="5102541"/>
                </a:lnTo>
                <a:lnTo>
                  <a:pt x="0" y="5102541"/>
                </a:lnTo>
                <a:lnTo>
                  <a:pt x="0" y="0"/>
                </a:lnTo>
                <a:close/>
              </a:path>
            </a:pathLst>
          </a:custGeom>
          <a:blipFill>
            <a:blip r:embed="rId6"/>
            <a:stretch>
              <a:fillRect t="-41168" b="-39346"/>
            </a:stretch>
          </a:blipFill>
        </p:spPr>
      </p:sp>
      <p:sp>
        <p:nvSpPr>
          <p:cNvPr id="6" name="TextBox 6"/>
          <p:cNvSpPr txBox="1"/>
          <p:nvPr/>
        </p:nvSpPr>
        <p:spPr>
          <a:xfrm>
            <a:off x="1253996" y="1173171"/>
            <a:ext cx="15225150" cy="819150"/>
          </a:xfrm>
          <a:prstGeom prst="rect">
            <a:avLst/>
          </a:prstGeom>
        </p:spPr>
        <p:txBody>
          <a:bodyPr lIns="0" tIns="0" rIns="0" bIns="0" rtlCol="0" anchor="t">
            <a:spAutoFit/>
          </a:bodyPr>
          <a:lstStyle/>
          <a:p>
            <a:pPr algn="l">
              <a:lnSpc>
                <a:spcPts val="6599"/>
              </a:lnSpc>
            </a:pPr>
            <a:r>
              <a:rPr lang="en-US" sz="5499" b="1">
                <a:solidFill>
                  <a:srgbClr val="FFFFFF"/>
                </a:solidFill>
                <a:latin typeface="Darker Grotesque Bold"/>
                <a:ea typeface="Darker Grotesque Bold"/>
                <a:cs typeface="Darker Grotesque Bold"/>
                <a:sym typeface="Darker Grotesque Bold"/>
              </a:rPr>
              <a:t>Pipelined Encryption Compression (mlkem_enc.v)</a:t>
            </a:r>
          </a:p>
        </p:txBody>
      </p:sp>
      <p:sp>
        <p:nvSpPr>
          <p:cNvPr id="7" name="TextBox 7"/>
          <p:cNvSpPr txBox="1"/>
          <p:nvPr/>
        </p:nvSpPr>
        <p:spPr>
          <a:xfrm>
            <a:off x="1253996" y="7680977"/>
            <a:ext cx="14482849" cy="1340739"/>
          </a:xfrm>
          <a:prstGeom prst="rect">
            <a:avLst/>
          </a:prstGeom>
        </p:spPr>
        <p:txBody>
          <a:bodyPr lIns="0" tIns="0" rIns="0" bIns="0" rtlCol="0" anchor="t">
            <a:spAutoFit/>
          </a:bodyPr>
          <a:lstStyle/>
          <a:p>
            <a:pPr algn="l">
              <a:lnSpc>
                <a:spcPts val="3588"/>
              </a:lnSpc>
            </a:pPr>
            <a:r>
              <a:rPr lang="en-US" sz="2600" b="1">
                <a:solidFill>
                  <a:srgbClr val="FFFFFF"/>
                </a:solidFill>
                <a:latin typeface="Arimo Bold"/>
                <a:ea typeface="Arimo Bold"/>
                <a:cs typeface="Arimo Bold"/>
                <a:sym typeface="Arimo Bold"/>
              </a:rPr>
              <a:t>Key Improvement:</a:t>
            </a:r>
          </a:p>
          <a:p>
            <a:pPr algn="l">
              <a:lnSpc>
                <a:spcPts val="3588"/>
              </a:lnSpc>
            </a:pPr>
            <a:r>
              <a:rPr lang="en-US" sz="2600">
                <a:solidFill>
                  <a:srgbClr val="FFFFFF"/>
                </a:solidFill>
                <a:latin typeface="Arimo"/>
                <a:ea typeface="Arimo"/>
                <a:cs typeface="Arimo"/>
                <a:sym typeface="Arimo"/>
              </a:rPr>
              <a:t>Added a dedicated a RUN_COMP state and holding registers to isolate the compression logic, removing ~5ns from the critical path.</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839872" y="2664302"/>
            <a:ext cx="6502069" cy="2958447"/>
            <a:chOff x="0" y="0"/>
            <a:chExt cx="1836170" cy="835459"/>
          </a:xfrm>
        </p:grpSpPr>
        <p:sp>
          <p:nvSpPr>
            <p:cNvPr id="5" name="Freeform 5"/>
            <p:cNvSpPr/>
            <p:nvPr/>
          </p:nvSpPr>
          <p:spPr>
            <a:xfrm>
              <a:off x="0" y="0"/>
              <a:ext cx="1836170" cy="835459"/>
            </a:xfrm>
            <a:custGeom>
              <a:avLst/>
              <a:gdLst/>
              <a:ahLst/>
              <a:cxnLst/>
              <a:rect l="l" t="t" r="r" b="b"/>
              <a:pathLst>
                <a:path w="1836170" h="835459">
                  <a:moveTo>
                    <a:pt x="40483" y="0"/>
                  </a:moveTo>
                  <a:lnTo>
                    <a:pt x="1795687" y="0"/>
                  </a:lnTo>
                  <a:cubicBezTo>
                    <a:pt x="1806424" y="0"/>
                    <a:pt x="1816721" y="4265"/>
                    <a:pt x="1824313" y="11857"/>
                  </a:cubicBezTo>
                  <a:cubicBezTo>
                    <a:pt x="1831905" y="19449"/>
                    <a:pt x="1836170" y="29746"/>
                    <a:pt x="1836170" y="40483"/>
                  </a:cubicBezTo>
                  <a:lnTo>
                    <a:pt x="1836170" y="794976"/>
                  </a:lnTo>
                  <a:cubicBezTo>
                    <a:pt x="1836170" y="805712"/>
                    <a:pt x="1831905" y="816010"/>
                    <a:pt x="1824313" y="823602"/>
                  </a:cubicBezTo>
                  <a:cubicBezTo>
                    <a:pt x="1816721" y="831194"/>
                    <a:pt x="1806424" y="835459"/>
                    <a:pt x="1795687" y="835459"/>
                  </a:cubicBezTo>
                  <a:lnTo>
                    <a:pt x="40483" y="835459"/>
                  </a:lnTo>
                  <a:cubicBezTo>
                    <a:pt x="29746" y="835459"/>
                    <a:pt x="19449" y="831194"/>
                    <a:pt x="11857" y="823602"/>
                  </a:cubicBezTo>
                  <a:cubicBezTo>
                    <a:pt x="4265" y="816010"/>
                    <a:pt x="0" y="805712"/>
                    <a:pt x="0" y="794976"/>
                  </a:cubicBezTo>
                  <a:lnTo>
                    <a:pt x="0" y="40483"/>
                  </a:lnTo>
                  <a:cubicBezTo>
                    <a:pt x="0" y="29746"/>
                    <a:pt x="4265" y="19449"/>
                    <a:pt x="11857" y="11857"/>
                  </a:cubicBezTo>
                  <a:cubicBezTo>
                    <a:pt x="19449" y="4265"/>
                    <a:pt x="29746" y="0"/>
                    <a:pt x="40483" y="0"/>
                  </a:cubicBezTo>
                  <a:close/>
                </a:path>
              </a:pathLst>
            </a:custGeom>
            <a:solidFill>
              <a:srgbClr val="CFD9E0">
                <a:alpha val="32941"/>
              </a:srgbClr>
            </a:solidFill>
          </p:spPr>
        </p:sp>
        <p:sp>
          <p:nvSpPr>
            <p:cNvPr id="6" name="TextBox 6"/>
            <p:cNvSpPr txBox="1"/>
            <p:nvPr/>
          </p:nvSpPr>
          <p:spPr>
            <a:xfrm>
              <a:off x="0" y="-38100"/>
              <a:ext cx="1836170" cy="873559"/>
            </a:xfrm>
            <a:prstGeom prst="rect">
              <a:avLst/>
            </a:prstGeom>
          </p:spPr>
          <p:txBody>
            <a:bodyPr lIns="50800" tIns="50800" rIns="50800" bIns="50800" rtlCol="0" anchor="ctr"/>
            <a:lstStyle/>
            <a:p>
              <a:pPr algn="ctr">
                <a:lnSpc>
                  <a:spcPts val="3359"/>
                </a:lnSpc>
                <a:spcBef>
                  <a:spcPct val="0"/>
                </a:spcBef>
              </a:pPr>
              <a:endParaRPr/>
            </a:p>
          </p:txBody>
        </p:sp>
      </p:grpSp>
      <p:sp>
        <p:nvSpPr>
          <p:cNvPr id="7" name="TextBox 7"/>
          <p:cNvSpPr txBox="1"/>
          <p:nvPr/>
        </p:nvSpPr>
        <p:spPr>
          <a:xfrm>
            <a:off x="1028700" y="2803041"/>
            <a:ext cx="6711401" cy="2673858"/>
          </a:xfrm>
          <a:prstGeom prst="rect">
            <a:avLst/>
          </a:prstGeom>
        </p:spPr>
        <p:txBody>
          <a:bodyPr lIns="0" tIns="0" rIns="0" bIns="0" rtlCol="0" anchor="t">
            <a:spAutoFit/>
          </a:bodyPr>
          <a:lstStyle/>
          <a:p>
            <a:pPr algn="l">
              <a:lnSpc>
                <a:spcPts val="3035"/>
              </a:lnSpc>
            </a:pPr>
            <a:r>
              <a:rPr lang="en-US" sz="2199">
                <a:solidFill>
                  <a:srgbClr val="FFFFFF"/>
                </a:solidFill>
                <a:latin typeface="Arimo"/>
                <a:ea typeface="Arimo"/>
                <a:cs typeface="Arimo"/>
                <a:sym typeface="Arimo"/>
              </a:rPr>
              <a:t>Clock targets investigated</a:t>
            </a:r>
          </a:p>
          <a:p>
            <a:pPr algn="l">
              <a:lnSpc>
                <a:spcPts val="3035"/>
              </a:lnSpc>
            </a:pPr>
            <a:r>
              <a:rPr lang="en-US" sz="2199">
                <a:solidFill>
                  <a:srgbClr val="FFFFFF"/>
                </a:solidFill>
                <a:latin typeface="Arimo"/>
                <a:ea typeface="Arimo"/>
                <a:cs typeface="Arimo"/>
                <a:sym typeface="Arimo"/>
              </a:rPr>
              <a:t>50 MHz → 100 MHz → 250 MHz</a:t>
            </a:r>
          </a:p>
          <a:p>
            <a:pPr algn="l">
              <a:lnSpc>
                <a:spcPts val="3035"/>
              </a:lnSpc>
            </a:pPr>
            <a:r>
              <a:rPr lang="en-US" sz="2199">
                <a:solidFill>
                  <a:srgbClr val="FFFFFF"/>
                </a:solidFill>
                <a:latin typeface="Arimo"/>
                <a:ea typeface="Arimo"/>
                <a:cs typeface="Arimo"/>
                <a:sym typeface="Arimo"/>
              </a:rPr>
              <a:t>Constraint parameters explored</a:t>
            </a:r>
          </a:p>
          <a:p>
            <a:pPr marL="474979" lvl="1" indent="-237490" algn="l">
              <a:lnSpc>
                <a:spcPts val="3035"/>
              </a:lnSpc>
              <a:buFont typeface="Arial"/>
              <a:buChar char="•"/>
            </a:pPr>
            <a:r>
              <a:rPr lang="en-US" sz="2199">
                <a:solidFill>
                  <a:srgbClr val="FFFFFF"/>
                </a:solidFill>
                <a:latin typeface="Arimo"/>
                <a:ea typeface="Arimo"/>
                <a:cs typeface="Arimo"/>
                <a:sym typeface="Arimo"/>
              </a:rPr>
              <a:t>Clock period</a:t>
            </a:r>
          </a:p>
          <a:p>
            <a:pPr marL="474979" lvl="1" indent="-237490" algn="l">
              <a:lnSpc>
                <a:spcPts val="3035"/>
              </a:lnSpc>
              <a:buFont typeface="Arial"/>
              <a:buChar char="•"/>
            </a:pPr>
            <a:r>
              <a:rPr lang="en-US" sz="2199">
                <a:solidFill>
                  <a:srgbClr val="FFFFFF"/>
                </a:solidFill>
                <a:latin typeface="Arimo"/>
                <a:ea typeface="Arimo"/>
                <a:cs typeface="Arimo"/>
                <a:sym typeface="Arimo"/>
              </a:rPr>
              <a:t>Clock uncertainty</a:t>
            </a:r>
          </a:p>
          <a:p>
            <a:pPr marL="474979" lvl="1" indent="-237490" algn="l">
              <a:lnSpc>
                <a:spcPts val="3035"/>
              </a:lnSpc>
              <a:buFont typeface="Arial"/>
              <a:buChar char="•"/>
            </a:pPr>
            <a:r>
              <a:rPr lang="en-US" sz="2199">
                <a:solidFill>
                  <a:srgbClr val="FFFFFF"/>
                </a:solidFill>
                <a:latin typeface="Arimo"/>
                <a:ea typeface="Arimo"/>
                <a:cs typeface="Arimo"/>
                <a:sym typeface="Arimo"/>
              </a:rPr>
              <a:t>Input/output timing assumptions</a:t>
            </a:r>
          </a:p>
          <a:p>
            <a:pPr marL="474979" lvl="1" indent="-237490" algn="l">
              <a:lnSpc>
                <a:spcPts val="3035"/>
              </a:lnSpc>
              <a:buFont typeface="Arial"/>
              <a:buChar char="•"/>
            </a:pPr>
            <a:r>
              <a:rPr lang="en-US" sz="2199">
                <a:solidFill>
                  <a:srgbClr val="FFFFFF"/>
                </a:solidFill>
                <a:latin typeface="Arimo"/>
                <a:ea typeface="Arimo"/>
                <a:cs typeface="Arimo"/>
                <a:sym typeface="Arimo"/>
              </a:rPr>
              <a:t>Timing constraints for the integrated design</a:t>
            </a:r>
          </a:p>
        </p:txBody>
      </p:sp>
      <p:sp>
        <p:nvSpPr>
          <p:cNvPr id="8" name="TextBox 8"/>
          <p:cNvSpPr txBox="1"/>
          <p:nvPr/>
        </p:nvSpPr>
        <p:spPr>
          <a:xfrm>
            <a:off x="1047458" y="1781652"/>
            <a:ext cx="6485057"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SDC/Synthesis Iterations</a:t>
            </a:r>
          </a:p>
        </p:txBody>
      </p:sp>
      <p:grpSp>
        <p:nvGrpSpPr>
          <p:cNvPr id="9" name="Group 9"/>
          <p:cNvGrpSpPr/>
          <p:nvPr/>
        </p:nvGrpSpPr>
        <p:grpSpPr>
          <a:xfrm>
            <a:off x="839872" y="5814241"/>
            <a:ext cx="6502069" cy="3265826"/>
            <a:chOff x="0" y="0"/>
            <a:chExt cx="1836170" cy="922262"/>
          </a:xfrm>
        </p:grpSpPr>
        <p:sp>
          <p:nvSpPr>
            <p:cNvPr id="10" name="Freeform 10"/>
            <p:cNvSpPr/>
            <p:nvPr/>
          </p:nvSpPr>
          <p:spPr>
            <a:xfrm>
              <a:off x="0" y="0"/>
              <a:ext cx="1836170" cy="922262"/>
            </a:xfrm>
            <a:custGeom>
              <a:avLst/>
              <a:gdLst/>
              <a:ahLst/>
              <a:cxnLst/>
              <a:rect l="l" t="t" r="r" b="b"/>
              <a:pathLst>
                <a:path w="1836170" h="922262">
                  <a:moveTo>
                    <a:pt x="40483" y="0"/>
                  </a:moveTo>
                  <a:lnTo>
                    <a:pt x="1795687" y="0"/>
                  </a:lnTo>
                  <a:cubicBezTo>
                    <a:pt x="1806424" y="0"/>
                    <a:pt x="1816721" y="4265"/>
                    <a:pt x="1824313" y="11857"/>
                  </a:cubicBezTo>
                  <a:cubicBezTo>
                    <a:pt x="1831905" y="19449"/>
                    <a:pt x="1836170" y="29746"/>
                    <a:pt x="1836170" y="40483"/>
                  </a:cubicBezTo>
                  <a:lnTo>
                    <a:pt x="1836170" y="881779"/>
                  </a:lnTo>
                  <a:cubicBezTo>
                    <a:pt x="1836170" y="892516"/>
                    <a:pt x="1831905" y="902813"/>
                    <a:pt x="1824313" y="910405"/>
                  </a:cubicBezTo>
                  <a:cubicBezTo>
                    <a:pt x="1816721" y="917997"/>
                    <a:pt x="1806424" y="922262"/>
                    <a:pt x="1795687" y="922262"/>
                  </a:cubicBezTo>
                  <a:lnTo>
                    <a:pt x="40483" y="922262"/>
                  </a:lnTo>
                  <a:cubicBezTo>
                    <a:pt x="29746" y="922262"/>
                    <a:pt x="19449" y="917997"/>
                    <a:pt x="11857" y="910405"/>
                  </a:cubicBezTo>
                  <a:cubicBezTo>
                    <a:pt x="4265" y="902813"/>
                    <a:pt x="0" y="892516"/>
                    <a:pt x="0" y="881779"/>
                  </a:cubicBezTo>
                  <a:lnTo>
                    <a:pt x="0" y="40483"/>
                  </a:lnTo>
                  <a:cubicBezTo>
                    <a:pt x="0" y="29746"/>
                    <a:pt x="4265" y="19449"/>
                    <a:pt x="11857" y="11857"/>
                  </a:cubicBezTo>
                  <a:cubicBezTo>
                    <a:pt x="19449" y="4265"/>
                    <a:pt x="29746" y="0"/>
                    <a:pt x="40483" y="0"/>
                  </a:cubicBezTo>
                  <a:close/>
                </a:path>
              </a:pathLst>
            </a:custGeom>
            <a:solidFill>
              <a:srgbClr val="40C5C5">
                <a:alpha val="32941"/>
              </a:srgbClr>
            </a:solidFill>
          </p:spPr>
        </p:sp>
        <p:sp>
          <p:nvSpPr>
            <p:cNvPr id="11" name="TextBox 11"/>
            <p:cNvSpPr txBox="1"/>
            <p:nvPr/>
          </p:nvSpPr>
          <p:spPr>
            <a:xfrm>
              <a:off x="0" y="-38100"/>
              <a:ext cx="1836170" cy="960362"/>
            </a:xfrm>
            <a:prstGeom prst="rect">
              <a:avLst/>
            </a:prstGeom>
          </p:spPr>
          <p:txBody>
            <a:bodyPr lIns="50800" tIns="50800" rIns="50800" bIns="50800" rtlCol="0" anchor="ctr"/>
            <a:lstStyle/>
            <a:p>
              <a:pPr algn="ctr">
                <a:lnSpc>
                  <a:spcPts val="3359"/>
                </a:lnSpc>
                <a:spcBef>
                  <a:spcPct val="0"/>
                </a:spcBef>
              </a:pPr>
              <a:endParaRPr/>
            </a:p>
          </p:txBody>
        </p:sp>
      </p:grpSp>
      <p:sp>
        <p:nvSpPr>
          <p:cNvPr id="12" name="Freeform 12"/>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13" name="Group 13"/>
          <p:cNvGrpSpPr/>
          <p:nvPr/>
        </p:nvGrpSpPr>
        <p:grpSpPr>
          <a:xfrm>
            <a:off x="7532515" y="1748339"/>
            <a:ext cx="9857451" cy="7331727"/>
            <a:chOff x="0" y="0"/>
            <a:chExt cx="2783722" cy="2070464"/>
          </a:xfrm>
        </p:grpSpPr>
        <p:sp>
          <p:nvSpPr>
            <p:cNvPr id="14" name="Freeform 14"/>
            <p:cNvSpPr/>
            <p:nvPr/>
          </p:nvSpPr>
          <p:spPr>
            <a:xfrm>
              <a:off x="0" y="0"/>
              <a:ext cx="2783722" cy="2070464"/>
            </a:xfrm>
            <a:custGeom>
              <a:avLst/>
              <a:gdLst/>
              <a:ahLst/>
              <a:cxnLst/>
              <a:rect l="l" t="t" r="r" b="b"/>
              <a:pathLst>
                <a:path w="2783722" h="2070464">
                  <a:moveTo>
                    <a:pt x="26703" y="0"/>
                  </a:moveTo>
                  <a:lnTo>
                    <a:pt x="2757019" y="0"/>
                  </a:lnTo>
                  <a:cubicBezTo>
                    <a:pt x="2771767" y="0"/>
                    <a:pt x="2783722" y="11955"/>
                    <a:pt x="2783722" y="26703"/>
                  </a:cubicBezTo>
                  <a:lnTo>
                    <a:pt x="2783722" y="2043760"/>
                  </a:lnTo>
                  <a:cubicBezTo>
                    <a:pt x="2783722" y="2050842"/>
                    <a:pt x="2780909" y="2057634"/>
                    <a:pt x="2775901" y="2062642"/>
                  </a:cubicBezTo>
                  <a:cubicBezTo>
                    <a:pt x="2770893" y="2067650"/>
                    <a:pt x="2764101" y="2070464"/>
                    <a:pt x="2757019" y="2070464"/>
                  </a:cubicBezTo>
                  <a:lnTo>
                    <a:pt x="26703" y="2070464"/>
                  </a:lnTo>
                  <a:cubicBezTo>
                    <a:pt x="11955" y="2070464"/>
                    <a:pt x="0" y="2058508"/>
                    <a:pt x="0" y="2043760"/>
                  </a:cubicBezTo>
                  <a:lnTo>
                    <a:pt x="0" y="26703"/>
                  </a:lnTo>
                  <a:cubicBezTo>
                    <a:pt x="0" y="11955"/>
                    <a:pt x="11955" y="0"/>
                    <a:pt x="26703" y="0"/>
                  </a:cubicBezTo>
                  <a:close/>
                </a:path>
              </a:pathLst>
            </a:custGeom>
            <a:solidFill>
              <a:srgbClr val="325D79">
                <a:alpha val="32941"/>
              </a:srgbClr>
            </a:solidFill>
          </p:spPr>
        </p:sp>
        <p:sp>
          <p:nvSpPr>
            <p:cNvPr id="15" name="TextBox 15"/>
            <p:cNvSpPr txBox="1"/>
            <p:nvPr/>
          </p:nvSpPr>
          <p:spPr>
            <a:xfrm>
              <a:off x="0" y="-38100"/>
              <a:ext cx="2783722" cy="2108564"/>
            </a:xfrm>
            <a:prstGeom prst="rect">
              <a:avLst/>
            </a:prstGeom>
          </p:spPr>
          <p:txBody>
            <a:bodyPr lIns="50800" tIns="50800" rIns="50800" bIns="50800" rtlCol="0" anchor="ctr"/>
            <a:lstStyle/>
            <a:p>
              <a:pPr algn="ctr">
                <a:lnSpc>
                  <a:spcPts val="3359"/>
                </a:lnSpc>
                <a:spcBef>
                  <a:spcPct val="0"/>
                </a:spcBef>
              </a:pPr>
              <a:endParaRPr/>
            </a:p>
          </p:txBody>
        </p:sp>
      </p:grpSp>
      <p:sp>
        <p:nvSpPr>
          <p:cNvPr id="16" name="TextBox 16"/>
          <p:cNvSpPr txBox="1"/>
          <p:nvPr/>
        </p:nvSpPr>
        <p:spPr>
          <a:xfrm>
            <a:off x="1028700" y="5877283"/>
            <a:ext cx="6165288" cy="3054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Current baseline:</a:t>
            </a:r>
          </a:p>
          <a:p>
            <a:pPr algn="l">
              <a:lnSpc>
                <a:spcPts val="3035"/>
              </a:lnSpc>
            </a:pPr>
            <a:r>
              <a:rPr lang="en-US" sz="2199">
                <a:solidFill>
                  <a:srgbClr val="FFFFFF"/>
                </a:solidFill>
                <a:latin typeface="Arimo"/>
                <a:ea typeface="Arimo"/>
                <a:cs typeface="Arimo"/>
                <a:sym typeface="Arimo"/>
              </a:rPr>
              <a:t>100 MHz</a:t>
            </a:r>
          </a:p>
          <a:p>
            <a:pPr algn="l">
              <a:lnSpc>
                <a:spcPts val="3035"/>
              </a:lnSpc>
            </a:pPr>
            <a:r>
              <a:rPr lang="en-US" sz="2199">
                <a:solidFill>
                  <a:srgbClr val="FFFFFF"/>
                </a:solidFill>
                <a:latin typeface="Arimo"/>
                <a:ea typeface="Arimo"/>
                <a:cs typeface="Arimo"/>
                <a:sym typeface="Arimo"/>
              </a:rPr>
              <a:t>10-ns clock period</a:t>
            </a:r>
          </a:p>
          <a:p>
            <a:pPr algn="l">
              <a:lnSpc>
                <a:spcPts val="3035"/>
              </a:lnSpc>
            </a:pPr>
            <a:r>
              <a:rPr lang="en-US" sz="2199">
                <a:solidFill>
                  <a:srgbClr val="FFFFFF"/>
                </a:solidFill>
                <a:latin typeface="Arimo"/>
                <a:ea typeface="Arimo"/>
                <a:cs typeface="Arimo"/>
                <a:sym typeface="Arimo"/>
              </a:rPr>
              <a:t>Final constrained report: 0 ps slack</a:t>
            </a:r>
          </a:p>
          <a:p>
            <a:pPr algn="l">
              <a:lnSpc>
                <a:spcPts val="3035"/>
              </a:lnSpc>
            </a:pPr>
            <a:endParaRPr lang="en-US" sz="2199">
              <a:solidFill>
                <a:srgbClr val="FFFFFF"/>
              </a:solidFill>
              <a:latin typeface="Arimo"/>
              <a:ea typeface="Arimo"/>
              <a:cs typeface="Arimo"/>
              <a:sym typeface="Arimo"/>
            </a:endParaRPr>
          </a:p>
          <a:p>
            <a:pPr algn="l">
              <a:lnSpc>
                <a:spcPts val="3035"/>
              </a:lnSpc>
            </a:pPr>
            <a:r>
              <a:rPr lang="en-US" sz="2199">
                <a:solidFill>
                  <a:srgbClr val="FFFFFF"/>
                </a:solidFill>
                <a:latin typeface="Arimo"/>
                <a:ea typeface="Arimo"/>
                <a:cs typeface="Arimo"/>
                <a:sym typeface="Arimo"/>
              </a:rPr>
              <a:t>SDC optimization was performed alongside RTL optimization rather than being used as a substitute for architectural timing improvement.</a:t>
            </a:r>
          </a:p>
        </p:txBody>
      </p:sp>
      <p:grpSp>
        <p:nvGrpSpPr>
          <p:cNvPr id="17" name="Group 17"/>
          <p:cNvGrpSpPr/>
          <p:nvPr/>
        </p:nvGrpSpPr>
        <p:grpSpPr>
          <a:xfrm>
            <a:off x="11417883" y="2208731"/>
            <a:ext cx="5659927" cy="853992"/>
            <a:chOff x="0" y="0"/>
            <a:chExt cx="1598351" cy="241165"/>
          </a:xfrm>
        </p:grpSpPr>
        <p:sp>
          <p:nvSpPr>
            <p:cNvPr id="18" name="Freeform 18"/>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19" name="TextBox 19"/>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RTL</a:t>
              </a:r>
            </a:p>
          </p:txBody>
        </p:sp>
      </p:grpSp>
      <p:sp>
        <p:nvSpPr>
          <p:cNvPr id="20" name="AutoShape 20"/>
          <p:cNvSpPr/>
          <p:nvPr/>
        </p:nvSpPr>
        <p:spPr>
          <a:xfrm>
            <a:off x="14247847" y="1877215"/>
            <a:ext cx="0" cy="331516"/>
          </a:xfrm>
          <a:prstGeom prst="line">
            <a:avLst/>
          </a:prstGeom>
          <a:ln w="38100" cap="flat">
            <a:solidFill>
              <a:srgbClr val="FFFFFF"/>
            </a:solidFill>
            <a:prstDash val="solid"/>
            <a:headEnd type="none" w="sm" len="sm"/>
            <a:tailEnd type="arrow" w="med" len="sm"/>
          </a:ln>
        </p:spPr>
      </p:sp>
      <p:sp>
        <p:nvSpPr>
          <p:cNvPr id="21" name="AutoShape 21"/>
          <p:cNvSpPr/>
          <p:nvPr/>
        </p:nvSpPr>
        <p:spPr>
          <a:xfrm flipV="1">
            <a:off x="10405281" y="1898429"/>
            <a:ext cx="3842566" cy="17151"/>
          </a:xfrm>
          <a:prstGeom prst="line">
            <a:avLst/>
          </a:prstGeom>
          <a:ln w="38100" cap="flat">
            <a:solidFill>
              <a:srgbClr val="FFFFFF"/>
            </a:solidFill>
            <a:prstDash val="solid"/>
            <a:headEnd type="none" w="sm" len="sm"/>
            <a:tailEnd type="none" w="sm" len="sm"/>
          </a:ln>
        </p:spPr>
      </p:sp>
      <p:grpSp>
        <p:nvGrpSpPr>
          <p:cNvPr id="22" name="Group 22"/>
          <p:cNvGrpSpPr/>
          <p:nvPr/>
        </p:nvGrpSpPr>
        <p:grpSpPr>
          <a:xfrm>
            <a:off x="11417883" y="3338948"/>
            <a:ext cx="5659927" cy="853992"/>
            <a:chOff x="0" y="0"/>
            <a:chExt cx="1598351" cy="241165"/>
          </a:xfrm>
        </p:grpSpPr>
        <p:sp>
          <p:nvSpPr>
            <p:cNvPr id="23" name="Freeform 23"/>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24" name="TextBox 24"/>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SDC Definition</a:t>
              </a:r>
            </a:p>
          </p:txBody>
        </p:sp>
      </p:grpSp>
      <p:sp>
        <p:nvSpPr>
          <p:cNvPr id="25" name="AutoShape 25"/>
          <p:cNvSpPr/>
          <p:nvPr/>
        </p:nvSpPr>
        <p:spPr>
          <a:xfrm>
            <a:off x="14247847" y="3062723"/>
            <a:ext cx="0" cy="276225"/>
          </a:xfrm>
          <a:prstGeom prst="line">
            <a:avLst/>
          </a:prstGeom>
          <a:ln w="38100" cap="flat">
            <a:solidFill>
              <a:srgbClr val="FFFFFF"/>
            </a:solidFill>
            <a:prstDash val="solid"/>
            <a:headEnd type="none" w="sm" len="sm"/>
            <a:tailEnd type="arrow" w="med" len="sm"/>
          </a:ln>
        </p:spPr>
      </p:sp>
      <p:grpSp>
        <p:nvGrpSpPr>
          <p:cNvPr id="26" name="Group 26"/>
          <p:cNvGrpSpPr/>
          <p:nvPr/>
        </p:nvGrpSpPr>
        <p:grpSpPr>
          <a:xfrm>
            <a:off x="11417883" y="4518472"/>
            <a:ext cx="5659927" cy="853992"/>
            <a:chOff x="0" y="0"/>
            <a:chExt cx="1598351" cy="241165"/>
          </a:xfrm>
        </p:grpSpPr>
        <p:sp>
          <p:nvSpPr>
            <p:cNvPr id="27" name="Freeform 27"/>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28" name="TextBox 28"/>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Genus Synthesis</a:t>
              </a:r>
            </a:p>
          </p:txBody>
        </p:sp>
      </p:grpSp>
      <p:sp>
        <p:nvSpPr>
          <p:cNvPr id="29" name="AutoShape 29"/>
          <p:cNvSpPr/>
          <p:nvPr/>
        </p:nvSpPr>
        <p:spPr>
          <a:xfrm>
            <a:off x="14247847" y="4192940"/>
            <a:ext cx="0" cy="325533"/>
          </a:xfrm>
          <a:prstGeom prst="line">
            <a:avLst/>
          </a:prstGeom>
          <a:ln w="38100" cap="flat">
            <a:solidFill>
              <a:srgbClr val="FFFFFF"/>
            </a:solidFill>
            <a:prstDash val="solid"/>
            <a:headEnd type="none" w="sm" len="sm"/>
            <a:tailEnd type="arrow" w="med" len="sm"/>
          </a:ln>
        </p:spPr>
      </p:sp>
      <p:grpSp>
        <p:nvGrpSpPr>
          <p:cNvPr id="30" name="Group 30"/>
          <p:cNvGrpSpPr/>
          <p:nvPr/>
        </p:nvGrpSpPr>
        <p:grpSpPr>
          <a:xfrm>
            <a:off x="11500001" y="5665615"/>
            <a:ext cx="5659927" cy="853992"/>
            <a:chOff x="0" y="0"/>
            <a:chExt cx="1598351" cy="241165"/>
          </a:xfrm>
        </p:grpSpPr>
        <p:sp>
          <p:nvSpPr>
            <p:cNvPr id="31" name="Freeform 31"/>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32" name="TextBox 32"/>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Timing Report &amp; Critical Path Analysis</a:t>
              </a:r>
            </a:p>
          </p:txBody>
        </p:sp>
      </p:grpSp>
      <p:sp>
        <p:nvSpPr>
          <p:cNvPr id="33" name="AutoShape 33"/>
          <p:cNvSpPr/>
          <p:nvPr/>
        </p:nvSpPr>
        <p:spPr>
          <a:xfrm flipH="1">
            <a:off x="14228797" y="7494201"/>
            <a:ext cx="0" cy="293151"/>
          </a:xfrm>
          <a:prstGeom prst="line">
            <a:avLst/>
          </a:prstGeom>
          <a:ln w="38100" cap="flat">
            <a:solidFill>
              <a:srgbClr val="FFFFFF"/>
            </a:solidFill>
            <a:prstDash val="solid"/>
            <a:headEnd type="none" w="sm" len="sm"/>
            <a:tailEnd type="arrow" w="med" len="sm"/>
          </a:ln>
        </p:spPr>
      </p:sp>
      <p:grpSp>
        <p:nvGrpSpPr>
          <p:cNvPr id="34" name="Group 34"/>
          <p:cNvGrpSpPr/>
          <p:nvPr/>
        </p:nvGrpSpPr>
        <p:grpSpPr>
          <a:xfrm>
            <a:off x="11500001" y="6726484"/>
            <a:ext cx="5659927" cy="853992"/>
            <a:chOff x="0" y="0"/>
            <a:chExt cx="1598351" cy="241165"/>
          </a:xfrm>
        </p:grpSpPr>
        <p:sp>
          <p:nvSpPr>
            <p:cNvPr id="35" name="Freeform 35"/>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36" name="TextBox 36"/>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RTL / SDC Modification</a:t>
              </a:r>
            </a:p>
          </p:txBody>
        </p:sp>
      </p:grpSp>
      <p:grpSp>
        <p:nvGrpSpPr>
          <p:cNvPr id="37" name="Group 37"/>
          <p:cNvGrpSpPr/>
          <p:nvPr/>
        </p:nvGrpSpPr>
        <p:grpSpPr>
          <a:xfrm>
            <a:off x="11500001" y="7787352"/>
            <a:ext cx="5659927" cy="853992"/>
            <a:chOff x="0" y="0"/>
            <a:chExt cx="1598351" cy="241165"/>
          </a:xfrm>
        </p:grpSpPr>
        <p:sp>
          <p:nvSpPr>
            <p:cNvPr id="38" name="Freeform 38"/>
            <p:cNvSpPr/>
            <p:nvPr/>
          </p:nvSpPr>
          <p:spPr>
            <a:xfrm>
              <a:off x="0" y="0"/>
              <a:ext cx="1598351" cy="241165"/>
            </a:xfrm>
            <a:custGeom>
              <a:avLst/>
              <a:gdLst/>
              <a:ahLst/>
              <a:cxnLst/>
              <a:rect l="l" t="t" r="r" b="b"/>
              <a:pathLst>
                <a:path w="1598351" h="241165">
                  <a:moveTo>
                    <a:pt x="69760" y="0"/>
                  </a:moveTo>
                  <a:lnTo>
                    <a:pt x="1528591" y="0"/>
                  </a:lnTo>
                  <a:cubicBezTo>
                    <a:pt x="1567118" y="0"/>
                    <a:pt x="1598351" y="31233"/>
                    <a:pt x="1598351" y="69760"/>
                  </a:cubicBezTo>
                  <a:lnTo>
                    <a:pt x="1598351" y="171405"/>
                  </a:lnTo>
                  <a:cubicBezTo>
                    <a:pt x="1598351" y="189907"/>
                    <a:pt x="1591001" y="207651"/>
                    <a:pt x="1577919" y="220733"/>
                  </a:cubicBezTo>
                  <a:cubicBezTo>
                    <a:pt x="1564836" y="233816"/>
                    <a:pt x="1547092" y="241165"/>
                    <a:pt x="1528591" y="241165"/>
                  </a:cubicBezTo>
                  <a:lnTo>
                    <a:pt x="69760" y="241165"/>
                  </a:lnTo>
                  <a:cubicBezTo>
                    <a:pt x="51259" y="241165"/>
                    <a:pt x="33515" y="233816"/>
                    <a:pt x="20432" y="220733"/>
                  </a:cubicBezTo>
                  <a:cubicBezTo>
                    <a:pt x="7350" y="207651"/>
                    <a:pt x="0" y="189907"/>
                    <a:pt x="0" y="171405"/>
                  </a:cubicBezTo>
                  <a:lnTo>
                    <a:pt x="0" y="69760"/>
                  </a:lnTo>
                  <a:cubicBezTo>
                    <a:pt x="0" y="51259"/>
                    <a:pt x="7350" y="33515"/>
                    <a:pt x="20432" y="20432"/>
                  </a:cubicBezTo>
                  <a:cubicBezTo>
                    <a:pt x="33515" y="7350"/>
                    <a:pt x="51259" y="0"/>
                    <a:pt x="69760" y="0"/>
                  </a:cubicBezTo>
                  <a:close/>
                </a:path>
              </a:pathLst>
            </a:custGeom>
            <a:solidFill>
              <a:srgbClr val="0C6161"/>
            </a:solidFill>
          </p:spPr>
        </p:sp>
        <p:sp>
          <p:nvSpPr>
            <p:cNvPr id="39" name="TextBox 39"/>
            <p:cNvSpPr txBox="1"/>
            <p:nvPr/>
          </p:nvSpPr>
          <p:spPr>
            <a:xfrm>
              <a:off x="0" y="-38100"/>
              <a:ext cx="1598351" cy="279265"/>
            </a:xfrm>
            <a:prstGeom prst="rect">
              <a:avLst/>
            </a:prstGeom>
          </p:spPr>
          <p:txBody>
            <a:bodyPr lIns="50800" tIns="50800" rIns="50800" bIns="50800" rtlCol="0" anchor="ctr"/>
            <a:lstStyle/>
            <a:p>
              <a:pPr algn="ctr">
                <a:lnSpc>
                  <a:spcPts val="3359"/>
                </a:lnSpc>
                <a:spcBef>
                  <a:spcPct val="0"/>
                </a:spcBef>
              </a:pPr>
              <a:r>
                <a:rPr lang="en-US" sz="2400">
                  <a:solidFill>
                    <a:srgbClr val="FFFFFF"/>
                  </a:solidFill>
                  <a:latin typeface="Canva Sans"/>
                  <a:ea typeface="Canva Sans"/>
                  <a:cs typeface="Canva Sans"/>
                  <a:sym typeface="Canva Sans"/>
                </a:rPr>
                <a:t>Re-synthesis ↺</a:t>
              </a:r>
            </a:p>
          </p:txBody>
        </p:sp>
      </p:grpSp>
      <p:sp>
        <p:nvSpPr>
          <p:cNvPr id="40" name="AutoShape 40"/>
          <p:cNvSpPr/>
          <p:nvPr/>
        </p:nvSpPr>
        <p:spPr>
          <a:xfrm flipV="1">
            <a:off x="10405196" y="1915580"/>
            <a:ext cx="0" cy="7016561"/>
          </a:xfrm>
          <a:prstGeom prst="line">
            <a:avLst/>
          </a:prstGeom>
          <a:ln w="38100" cap="flat">
            <a:solidFill>
              <a:srgbClr val="FFFFFF"/>
            </a:solidFill>
            <a:prstDash val="solid"/>
            <a:headEnd type="none" w="sm" len="sm"/>
            <a:tailEnd type="none" w="sm" len="sm"/>
          </a:ln>
        </p:spPr>
      </p:sp>
      <p:sp>
        <p:nvSpPr>
          <p:cNvPr id="41" name="AutoShape 41"/>
          <p:cNvSpPr/>
          <p:nvPr/>
        </p:nvSpPr>
        <p:spPr>
          <a:xfrm flipH="1">
            <a:off x="14247847" y="5372464"/>
            <a:ext cx="0" cy="293151"/>
          </a:xfrm>
          <a:prstGeom prst="line">
            <a:avLst/>
          </a:prstGeom>
          <a:ln w="38100" cap="flat">
            <a:solidFill>
              <a:srgbClr val="FFFFFF"/>
            </a:solidFill>
            <a:prstDash val="solid"/>
            <a:headEnd type="none" w="sm" len="sm"/>
            <a:tailEnd type="arrow" w="med" len="sm"/>
          </a:ln>
        </p:spPr>
      </p:sp>
      <p:sp>
        <p:nvSpPr>
          <p:cNvPr id="42" name="AutoShape 42"/>
          <p:cNvSpPr/>
          <p:nvPr/>
        </p:nvSpPr>
        <p:spPr>
          <a:xfrm>
            <a:off x="14264038" y="6535798"/>
            <a:ext cx="0" cy="293151"/>
          </a:xfrm>
          <a:prstGeom prst="line">
            <a:avLst/>
          </a:prstGeom>
          <a:ln w="38100" cap="flat">
            <a:solidFill>
              <a:srgbClr val="FFFFFF"/>
            </a:solidFill>
            <a:prstDash val="solid"/>
            <a:headEnd type="none" w="sm" len="sm"/>
            <a:tailEnd type="arrow" w="med" len="sm"/>
          </a:ln>
        </p:spPr>
      </p:sp>
      <p:sp>
        <p:nvSpPr>
          <p:cNvPr id="43" name="AutoShape 43"/>
          <p:cNvSpPr/>
          <p:nvPr/>
        </p:nvSpPr>
        <p:spPr>
          <a:xfrm>
            <a:off x="10405196" y="8932141"/>
            <a:ext cx="3924769" cy="0"/>
          </a:xfrm>
          <a:prstGeom prst="line">
            <a:avLst/>
          </a:prstGeom>
          <a:ln w="38100" cap="flat">
            <a:solidFill>
              <a:srgbClr val="FFFFFF"/>
            </a:solidFill>
            <a:prstDash val="solid"/>
            <a:headEnd type="none" w="sm" len="sm"/>
            <a:tailEnd type="none" w="sm" len="sm"/>
          </a:ln>
        </p:spPr>
      </p:sp>
      <p:sp>
        <p:nvSpPr>
          <p:cNvPr id="44" name="AutoShape 44"/>
          <p:cNvSpPr/>
          <p:nvPr/>
        </p:nvSpPr>
        <p:spPr>
          <a:xfrm flipH="1">
            <a:off x="14329964" y="8641344"/>
            <a:ext cx="0" cy="290797"/>
          </a:xfrm>
          <a:prstGeom prst="line">
            <a:avLst/>
          </a:prstGeom>
          <a:ln w="38100" cap="flat">
            <a:solidFill>
              <a:srgbClr val="FFFFFF"/>
            </a:solidFill>
            <a:prstDash val="solid"/>
            <a:headEnd type="none" w="sm" len="sm"/>
            <a:tailEnd type="arrow" w="med" len="sm"/>
          </a:ln>
        </p:spPr>
      </p:sp>
      <p:sp>
        <p:nvSpPr>
          <p:cNvPr id="45" name="TextBox 45"/>
          <p:cNvSpPr txBox="1"/>
          <p:nvPr/>
        </p:nvSpPr>
        <p:spPr>
          <a:xfrm>
            <a:off x="7813155" y="4126054"/>
            <a:ext cx="2497485" cy="2964815"/>
          </a:xfrm>
          <a:prstGeom prst="rect">
            <a:avLst/>
          </a:prstGeom>
        </p:spPr>
        <p:txBody>
          <a:bodyPr lIns="0" tIns="0" rIns="0" bIns="0" rtlCol="0" anchor="t">
            <a:spAutoFit/>
          </a:bodyPr>
          <a:lstStyle/>
          <a:p>
            <a:pPr algn="r">
              <a:lnSpc>
                <a:spcPts val="1960"/>
              </a:lnSpc>
            </a:pPr>
            <a:r>
              <a:rPr lang="en-US" sz="1400">
                <a:solidFill>
                  <a:srgbClr val="FFFFFF"/>
                </a:solidFill>
                <a:latin typeface="Canva Sans"/>
                <a:ea typeface="Canva Sans"/>
                <a:cs typeface="Canva Sans"/>
                <a:sym typeface="Canva Sans"/>
              </a:rPr>
              <a:t>7x:</a:t>
            </a:r>
          </a:p>
          <a:p>
            <a:pPr algn="r">
              <a:lnSpc>
                <a:spcPts val="1960"/>
              </a:lnSpc>
            </a:pPr>
            <a:r>
              <a:rPr lang="en-US" sz="1400">
                <a:solidFill>
                  <a:srgbClr val="FFFFFF"/>
                </a:solidFill>
                <a:latin typeface="Canva Sans"/>
                <a:ea typeface="Canva Sans"/>
                <a:cs typeface="Canva Sans"/>
                <a:sym typeface="Canva Sans"/>
              </a:rPr>
              <a:t>MLKEM (w/o pipeline):</a:t>
            </a:r>
          </a:p>
          <a:p>
            <a:pPr algn="r">
              <a:lnSpc>
                <a:spcPts val="1960"/>
              </a:lnSpc>
            </a:pPr>
            <a:r>
              <a:rPr lang="en-US" sz="1400">
                <a:solidFill>
                  <a:srgbClr val="FFFFFF"/>
                </a:solidFill>
                <a:latin typeface="Canva Sans"/>
                <a:ea typeface="Canva Sans"/>
                <a:cs typeface="Canva Sans"/>
                <a:sym typeface="Canva Sans"/>
              </a:rPr>
              <a:t>Synth run</a:t>
            </a:r>
          </a:p>
          <a:p>
            <a:pPr algn="r">
              <a:lnSpc>
                <a:spcPts val="1960"/>
              </a:lnSpc>
            </a:pPr>
            <a:r>
              <a:rPr lang="en-US" sz="1400">
                <a:solidFill>
                  <a:srgbClr val="FFFFFF"/>
                </a:solidFill>
                <a:latin typeface="Canva Sans"/>
                <a:ea typeface="Canva Sans"/>
                <a:cs typeface="Canva Sans"/>
                <a:sym typeface="Canva Sans"/>
              </a:rPr>
              <a:t>50MHz</a:t>
            </a:r>
          </a:p>
          <a:p>
            <a:pPr algn="r">
              <a:lnSpc>
                <a:spcPts val="1960"/>
              </a:lnSpc>
            </a:pPr>
            <a:r>
              <a:rPr lang="en-US" sz="1400">
                <a:solidFill>
                  <a:srgbClr val="FFFFFF"/>
                </a:solidFill>
                <a:latin typeface="Canva Sans"/>
                <a:ea typeface="Canva Sans"/>
                <a:cs typeface="Canva Sans"/>
                <a:sym typeface="Canva Sans"/>
              </a:rPr>
              <a:t>100MHz</a:t>
            </a:r>
          </a:p>
          <a:p>
            <a:pPr algn="r">
              <a:lnSpc>
                <a:spcPts val="1960"/>
              </a:lnSpc>
            </a:pPr>
            <a:r>
              <a:rPr lang="en-US" sz="1400">
                <a:solidFill>
                  <a:srgbClr val="FFFFFF"/>
                </a:solidFill>
                <a:latin typeface="Canva Sans"/>
                <a:ea typeface="Canva Sans"/>
                <a:cs typeface="Canva Sans"/>
                <a:sym typeface="Canva Sans"/>
              </a:rPr>
              <a:t>MLKEM (w pipeline):</a:t>
            </a:r>
          </a:p>
          <a:p>
            <a:pPr algn="r">
              <a:lnSpc>
                <a:spcPts val="1960"/>
              </a:lnSpc>
            </a:pPr>
            <a:r>
              <a:rPr lang="en-US" sz="1400">
                <a:solidFill>
                  <a:srgbClr val="FFFFFF"/>
                </a:solidFill>
                <a:latin typeface="Canva Sans"/>
                <a:ea typeface="Canva Sans"/>
                <a:cs typeface="Canva Sans"/>
                <a:sym typeface="Canva Sans"/>
              </a:rPr>
              <a:t>Pipeline type 1: (Not final)</a:t>
            </a:r>
          </a:p>
          <a:p>
            <a:pPr algn="r">
              <a:lnSpc>
                <a:spcPts val="1960"/>
              </a:lnSpc>
            </a:pPr>
            <a:r>
              <a:rPr lang="en-US" sz="1400">
                <a:solidFill>
                  <a:srgbClr val="FFFFFF"/>
                </a:solidFill>
                <a:latin typeface="Canva Sans"/>
                <a:ea typeface="Canva Sans"/>
                <a:cs typeface="Canva Sans"/>
                <a:sym typeface="Canva Sans"/>
              </a:rPr>
              <a:t>50MHz</a:t>
            </a:r>
          </a:p>
          <a:p>
            <a:pPr algn="r">
              <a:lnSpc>
                <a:spcPts val="1960"/>
              </a:lnSpc>
            </a:pPr>
            <a:r>
              <a:rPr lang="en-US" sz="1400">
                <a:solidFill>
                  <a:srgbClr val="FFFFFF"/>
                </a:solidFill>
                <a:latin typeface="Canva Sans"/>
                <a:ea typeface="Canva Sans"/>
                <a:cs typeface="Canva Sans"/>
                <a:sym typeface="Canva Sans"/>
              </a:rPr>
              <a:t>100MHz</a:t>
            </a:r>
          </a:p>
          <a:p>
            <a:pPr algn="r">
              <a:lnSpc>
                <a:spcPts val="1960"/>
              </a:lnSpc>
            </a:pPr>
            <a:r>
              <a:rPr lang="en-US" sz="1400">
                <a:solidFill>
                  <a:srgbClr val="FFFFFF"/>
                </a:solidFill>
                <a:latin typeface="Canva Sans"/>
                <a:ea typeface="Canva Sans"/>
                <a:cs typeface="Canva Sans"/>
                <a:sym typeface="Canva Sans"/>
              </a:rPr>
              <a:t>Pipeline Type 2: (Final 0slack)</a:t>
            </a:r>
          </a:p>
          <a:p>
            <a:pPr algn="r">
              <a:lnSpc>
                <a:spcPts val="1960"/>
              </a:lnSpc>
            </a:pPr>
            <a:r>
              <a:rPr lang="en-US" sz="1400">
                <a:solidFill>
                  <a:srgbClr val="FFFFFF"/>
                </a:solidFill>
                <a:latin typeface="Canva Sans"/>
                <a:ea typeface="Canva Sans"/>
                <a:cs typeface="Canva Sans"/>
                <a:sym typeface="Canva Sans"/>
              </a:rPr>
              <a:t>100MHz (0 slack)</a:t>
            </a:r>
          </a:p>
          <a:p>
            <a:pPr algn="r">
              <a:lnSpc>
                <a:spcPts val="1960"/>
              </a:lnSpc>
            </a:pPr>
            <a:r>
              <a:rPr lang="en-US" sz="1400">
                <a:solidFill>
                  <a:srgbClr val="FFFFFF"/>
                </a:solidFill>
                <a:latin typeface="Canva Sans"/>
                <a:ea typeface="Canva Sans"/>
                <a:cs typeface="Canva Sans"/>
                <a:sym typeface="Canva Sans"/>
              </a:rPr>
              <a:t>250MHz  (-3K slack)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9019082" y="1690543"/>
            <a:ext cx="7626612" cy="4031231"/>
            <a:chOff x="0" y="0"/>
            <a:chExt cx="1682151" cy="889142"/>
          </a:xfrm>
        </p:grpSpPr>
        <p:sp>
          <p:nvSpPr>
            <p:cNvPr id="5" name="Freeform 5"/>
            <p:cNvSpPr/>
            <p:nvPr/>
          </p:nvSpPr>
          <p:spPr>
            <a:xfrm>
              <a:off x="0" y="0"/>
              <a:ext cx="1682151" cy="889142"/>
            </a:xfrm>
            <a:custGeom>
              <a:avLst/>
              <a:gdLst/>
              <a:ahLst/>
              <a:cxnLst/>
              <a:rect l="l" t="t" r="r" b="b"/>
              <a:pathLst>
                <a:path w="1682151" h="889142">
                  <a:moveTo>
                    <a:pt x="34514" y="0"/>
                  </a:moveTo>
                  <a:lnTo>
                    <a:pt x="1647637" y="0"/>
                  </a:lnTo>
                  <a:cubicBezTo>
                    <a:pt x="1666699" y="0"/>
                    <a:pt x="1682151" y="15452"/>
                    <a:pt x="1682151" y="34514"/>
                  </a:cubicBezTo>
                  <a:lnTo>
                    <a:pt x="1682151" y="854628"/>
                  </a:lnTo>
                  <a:cubicBezTo>
                    <a:pt x="1682151" y="873690"/>
                    <a:pt x="1666699" y="889142"/>
                    <a:pt x="1647637" y="889142"/>
                  </a:cubicBezTo>
                  <a:lnTo>
                    <a:pt x="34514" y="889142"/>
                  </a:lnTo>
                  <a:cubicBezTo>
                    <a:pt x="25360" y="889142"/>
                    <a:pt x="16582" y="885506"/>
                    <a:pt x="10109" y="879033"/>
                  </a:cubicBezTo>
                  <a:cubicBezTo>
                    <a:pt x="3636" y="872560"/>
                    <a:pt x="0" y="863782"/>
                    <a:pt x="0" y="854628"/>
                  </a:cubicBezTo>
                  <a:lnTo>
                    <a:pt x="0" y="34514"/>
                  </a:lnTo>
                  <a:cubicBezTo>
                    <a:pt x="0" y="15452"/>
                    <a:pt x="15452" y="0"/>
                    <a:pt x="34514" y="0"/>
                  </a:cubicBezTo>
                  <a:close/>
                </a:path>
              </a:pathLst>
            </a:custGeom>
            <a:solidFill>
              <a:srgbClr val="40C5C5">
                <a:alpha val="32941"/>
              </a:srgbClr>
            </a:solidFill>
          </p:spPr>
        </p:sp>
        <p:sp>
          <p:nvSpPr>
            <p:cNvPr id="6" name="TextBox 6"/>
            <p:cNvSpPr txBox="1"/>
            <p:nvPr/>
          </p:nvSpPr>
          <p:spPr>
            <a:xfrm>
              <a:off x="0" y="-38100"/>
              <a:ext cx="1682151" cy="92724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grpSp>
        <p:nvGrpSpPr>
          <p:cNvPr id="8" name="Group 8"/>
          <p:cNvGrpSpPr/>
          <p:nvPr/>
        </p:nvGrpSpPr>
        <p:grpSpPr>
          <a:xfrm>
            <a:off x="1732924" y="4038050"/>
            <a:ext cx="6918913" cy="1582486"/>
            <a:chOff x="0" y="0"/>
            <a:chExt cx="1953886" cy="446891"/>
          </a:xfrm>
        </p:grpSpPr>
        <p:sp>
          <p:nvSpPr>
            <p:cNvPr id="9" name="Freeform 9"/>
            <p:cNvSpPr/>
            <p:nvPr/>
          </p:nvSpPr>
          <p:spPr>
            <a:xfrm>
              <a:off x="0" y="0"/>
              <a:ext cx="1953886" cy="446891"/>
            </a:xfrm>
            <a:custGeom>
              <a:avLst/>
              <a:gdLst/>
              <a:ahLst/>
              <a:cxnLst/>
              <a:rect l="l" t="t" r="r" b="b"/>
              <a:pathLst>
                <a:path w="1953886" h="446891">
                  <a:moveTo>
                    <a:pt x="38044" y="0"/>
                  </a:moveTo>
                  <a:lnTo>
                    <a:pt x="1915841" y="0"/>
                  </a:lnTo>
                  <a:cubicBezTo>
                    <a:pt x="1936853" y="0"/>
                    <a:pt x="1953886" y="17033"/>
                    <a:pt x="1953886" y="38044"/>
                  </a:cubicBezTo>
                  <a:lnTo>
                    <a:pt x="1953886" y="408846"/>
                  </a:lnTo>
                  <a:cubicBezTo>
                    <a:pt x="1953886" y="418936"/>
                    <a:pt x="1949877" y="428613"/>
                    <a:pt x="1942743" y="435748"/>
                  </a:cubicBezTo>
                  <a:cubicBezTo>
                    <a:pt x="1935608" y="442882"/>
                    <a:pt x="1925931" y="446891"/>
                    <a:pt x="1915841" y="446891"/>
                  </a:cubicBezTo>
                  <a:lnTo>
                    <a:pt x="38044" y="446891"/>
                  </a:lnTo>
                  <a:cubicBezTo>
                    <a:pt x="17033" y="446891"/>
                    <a:pt x="0" y="429858"/>
                    <a:pt x="0" y="408846"/>
                  </a:cubicBezTo>
                  <a:lnTo>
                    <a:pt x="0" y="38044"/>
                  </a:lnTo>
                  <a:cubicBezTo>
                    <a:pt x="0" y="17033"/>
                    <a:pt x="17033" y="0"/>
                    <a:pt x="38044" y="0"/>
                  </a:cubicBezTo>
                  <a:close/>
                </a:path>
              </a:pathLst>
            </a:custGeom>
            <a:solidFill>
              <a:srgbClr val="CFD9E0">
                <a:alpha val="32941"/>
              </a:srgbClr>
            </a:solidFill>
          </p:spPr>
        </p:sp>
        <p:sp>
          <p:nvSpPr>
            <p:cNvPr id="10" name="TextBox 10"/>
            <p:cNvSpPr txBox="1"/>
            <p:nvPr/>
          </p:nvSpPr>
          <p:spPr>
            <a:xfrm>
              <a:off x="0" y="-38100"/>
              <a:ext cx="1953886" cy="484991"/>
            </a:xfrm>
            <a:prstGeom prst="rect">
              <a:avLst/>
            </a:prstGeom>
          </p:spPr>
          <p:txBody>
            <a:bodyPr lIns="50800" tIns="50800" rIns="50800" bIns="50800" rtlCol="0" anchor="ctr"/>
            <a:lstStyle/>
            <a:p>
              <a:pPr algn="ctr">
                <a:lnSpc>
                  <a:spcPts val="3359"/>
                </a:lnSpc>
                <a:spcBef>
                  <a:spcPct val="0"/>
                </a:spcBef>
              </a:pPr>
              <a:endParaRPr/>
            </a:p>
          </p:txBody>
        </p:sp>
      </p:grpSp>
      <p:sp>
        <p:nvSpPr>
          <p:cNvPr id="11" name="TextBox 11"/>
          <p:cNvSpPr txBox="1"/>
          <p:nvPr/>
        </p:nvSpPr>
        <p:spPr>
          <a:xfrm>
            <a:off x="5592143" y="2355149"/>
            <a:ext cx="3059694" cy="1349375"/>
          </a:xfrm>
          <a:prstGeom prst="rect">
            <a:avLst/>
          </a:prstGeom>
        </p:spPr>
        <p:txBody>
          <a:bodyPr lIns="0" tIns="0" rIns="0" bIns="0" rtlCol="0" anchor="t">
            <a:spAutoFit/>
          </a:bodyPr>
          <a:lstStyle/>
          <a:p>
            <a:pPr algn="r">
              <a:lnSpc>
                <a:spcPts val="5200"/>
              </a:lnSpc>
            </a:pPr>
            <a:r>
              <a:rPr lang="en-US" sz="5000" b="1">
                <a:solidFill>
                  <a:srgbClr val="FFFFFF"/>
                </a:solidFill>
                <a:latin typeface="Darker Grotesque Bold"/>
                <a:ea typeface="Darker Grotesque Bold"/>
                <a:cs typeface="Darker Grotesque Bold"/>
                <a:sym typeface="Darker Grotesque Bold"/>
              </a:rPr>
              <a:t>Challenges Faced</a:t>
            </a:r>
          </a:p>
        </p:txBody>
      </p:sp>
      <p:sp>
        <p:nvSpPr>
          <p:cNvPr id="12" name="TextBox 12"/>
          <p:cNvSpPr txBox="1"/>
          <p:nvPr/>
        </p:nvSpPr>
        <p:spPr>
          <a:xfrm>
            <a:off x="9422556" y="1921063"/>
            <a:ext cx="7223138" cy="3509772"/>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Key Challenge → Solution</a:t>
            </a:r>
          </a:p>
          <a:p>
            <a:pPr algn="l">
              <a:lnSpc>
                <a:spcPts val="3311"/>
              </a:lnSpc>
            </a:pPr>
            <a:endParaRPr lang="en-US" sz="2400" b="1">
              <a:solidFill>
                <a:srgbClr val="FFFFFF"/>
              </a:solidFill>
              <a:latin typeface="Arimo Bold"/>
              <a:ea typeface="Arimo Bold"/>
              <a:cs typeface="Arimo Bold"/>
              <a:sym typeface="Arimo Bold"/>
            </a:endParaRPr>
          </a:p>
          <a:p>
            <a:pPr algn="l">
              <a:lnSpc>
                <a:spcPts val="3035"/>
              </a:lnSpc>
            </a:pPr>
            <a:r>
              <a:rPr lang="en-US" sz="2199">
                <a:solidFill>
                  <a:srgbClr val="FFFFFF"/>
                </a:solidFill>
                <a:latin typeface="Arimo"/>
                <a:ea typeface="Arimo"/>
                <a:cs typeface="Arimo"/>
                <a:sym typeface="Arimo"/>
              </a:rPr>
              <a:t>RTL/Datapath Errors → Debugged RTL</a:t>
            </a:r>
          </a:p>
          <a:p>
            <a:pPr algn="ctr">
              <a:lnSpc>
                <a:spcPts val="3035"/>
              </a:lnSpc>
            </a:pPr>
            <a:r>
              <a:rPr lang="en-US" sz="2199">
                <a:solidFill>
                  <a:srgbClr val="FFFFFF"/>
                </a:solidFill>
                <a:latin typeface="Arimo"/>
                <a:ea typeface="Arimo"/>
                <a:cs typeface="Arimo"/>
                <a:sym typeface="Arimo"/>
              </a:rPr>
              <a:t> ↓</a:t>
            </a:r>
          </a:p>
          <a:p>
            <a:pPr algn="l">
              <a:lnSpc>
                <a:spcPts val="3035"/>
              </a:lnSpc>
            </a:pPr>
            <a:r>
              <a:rPr lang="en-US" sz="2199">
                <a:solidFill>
                  <a:srgbClr val="FFFFFF"/>
                </a:solidFill>
                <a:latin typeface="Arimo"/>
                <a:ea typeface="Arimo"/>
                <a:cs typeface="Arimo"/>
                <a:sym typeface="Arimo"/>
              </a:rPr>
              <a:t>−8.8 ns Initial WNS → Critical-path analysis</a:t>
            </a:r>
          </a:p>
          <a:p>
            <a:pPr algn="ctr">
              <a:lnSpc>
                <a:spcPts val="3035"/>
              </a:lnSpc>
            </a:pPr>
            <a:r>
              <a:rPr lang="en-US" sz="2199">
                <a:solidFill>
                  <a:srgbClr val="FFFFFF"/>
                </a:solidFill>
                <a:latin typeface="Arimo"/>
                <a:ea typeface="Arimo"/>
                <a:cs typeface="Arimo"/>
                <a:sym typeface="Arimo"/>
              </a:rPr>
              <a:t> ↓</a:t>
            </a:r>
          </a:p>
          <a:p>
            <a:pPr algn="l">
              <a:lnSpc>
                <a:spcPts val="3035"/>
              </a:lnSpc>
            </a:pPr>
            <a:r>
              <a:rPr lang="en-US" sz="2199">
                <a:solidFill>
                  <a:srgbClr val="FFFFFF"/>
                </a:solidFill>
                <a:latin typeface="Arimo"/>
                <a:ea typeface="Arimo"/>
                <a:cs typeface="Arimo"/>
                <a:sym typeface="Arimo"/>
              </a:rPr>
              <a:t>Multiple timing iterations → Pipelining + SDC refinement</a:t>
            </a:r>
          </a:p>
          <a:p>
            <a:pPr algn="ctr">
              <a:lnSpc>
                <a:spcPts val="3035"/>
              </a:lnSpc>
            </a:pPr>
            <a:r>
              <a:rPr lang="en-US" sz="2199">
                <a:solidFill>
                  <a:srgbClr val="FFFFFF"/>
                </a:solidFill>
                <a:latin typeface="Arimo"/>
                <a:ea typeface="Arimo"/>
                <a:cs typeface="Arimo"/>
                <a:sym typeface="Arimo"/>
              </a:rPr>
              <a:t> ↓</a:t>
            </a:r>
          </a:p>
          <a:p>
            <a:pPr algn="l">
              <a:lnSpc>
                <a:spcPts val="3035"/>
              </a:lnSpc>
            </a:pPr>
            <a:r>
              <a:rPr lang="en-US" sz="2199">
                <a:solidFill>
                  <a:srgbClr val="FFFFFF"/>
                </a:solidFill>
                <a:latin typeface="Arimo"/>
                <a:ea typeface="Arimo"/>
                <a:cs typeface="Arimo"/>
                <a:sym typeface="Arimo"/>
              </a:rPr>
              <a:t>100 MHz → 0 Slack → Timing closure achieved</a:t>
            </a:r>
          </a:p>
        </p:txBody>
      </p:sp>
      <p:sp>
        <p:nvSpPr>
          <p:cNvPr id="13" name="TextBox 13"/>
          <p:cNvSpPr txBox="1"/>
          <p:nvPr/>
        </p:nvSpPr>
        <p:spPr>
          <a:xfrm>
            <a:off x="1921752" y="4196016"/>
            <a:ext cx="6165288" cy="1149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RTL &amp; Datapath Errors</a:t>
            </a:r>
          </a:p>
          <a:p>
            <a:pPr algn="l">
              <a:lnSpc>
                <a:spcPts val="3035"/>
              </a:lnSpc>
            </a:pPr>
            <a:r>
              <a:rPr lang="en-US" sz="2199">
                <a:solidFill>
                  <a:srgbClr val="FFFFFF"/>
                </a:solidFill>
                <a:latin typeface="Arimo"/>
                <a:ea typeface="Arimo"/>
                <a:cs typeface="Arimo"/>
                <a:sym typeface="Arimo"/>
              </a:rPr>
              <a:t>Initial synthesis failures due to RTL/datapath issues.</a:t>
            </a:r>
          </a:p>
        </p:txBody>
      </p:sp>
      <p:grpSp>
        <p:nvGrpSpPr>
          <p:cNvPr id="14" name="Group 14"/>
          <p:cNvGrpSpPr/>
          <p:nvPr/>
        </p:nvGrpSpPr>
        <p:grpSpPr>
          <a:xfrm>
            <a:off x="1732924" y="5908823"/>
            <a:ext cx="6918913" cy="1269071"/>
            <a:chOff x="0" y="0"/>
            <a:chExt cx="1953886" cy="358383"/>
          </a:xfrm>
        </p:grpSpPr>
        <p:sp>
          <p:nvSpPr>
            <p:cNvPr id="15" name="Freeform 15"/>
            <p:cNvSpPr/>
            <p:nvPr/>
          </p:nvSpPr>
          <p:spPr>
            <a:xfrm>
              <a:off x="0" y="0"/>
              <a:ext cx="1953886" cy="358383"/>
            </a:xfrm>
            <a:custGeom>
              <a:avLst/>
              <a:gdLst/>
              <a:ahLst/>
              <a:cxnLst/>
              <a:rect l="l" t="t" r="r" b="b"/>
              <a:pathLst>
                <a:path w="1953886" h="358383">
                  <a:moveTo>
                    <a:pt x="38044" y="0"/>
                  </a:moveTo>
                  <a:lnTo>
                    <a:pt x="1915841" y="0"/>
                  </a:lnTo>
                  <a:cubicBezTo>
                    <a:pt x="1936853" y="0"/>
                    <a:pt x="1953886" y="17033"/>
                    <a:pt x="1953886" y="38044"/>
                  </a:cubicBezTo>
                  <a:lnTo>
                    <a:pt x="1953886" y="320339"/>
                  </a:lnTo>
                  <a:cubicBezTo>
                    <a:pt x="1953886" y="341350"/>
                    <a:pt x="1936853" y="358383"/>
                    <a:pt x="1915841" y="358383"/>
                  </a:cubicBezTo>
                  <a:lnTo>
                    <a:pt x="38044" y="358383"/>
                  </a:lnTo>
                  <a:cubicBezTo>
                    <a:pt x="27954" y="358383"/>
                    <a:pt x="18278" y="354375"/>
                    <a:pt x="11143" y="347240"/>
                  </a:cubicBezTo>
                  <a:cubicBezTo>
                    <a:pt x="4008" y="340105"/>
                    <a:pt x="0" y="330429"/>
                    <a:pt x="0" y="320339"/>
                  </a:cubicBezTo>
                  <a:lnTo>
                    <a:pt x="0" y="38044"/>
                  </a:lnTo>
                  <a:cubicBezTo>
                    <a:pt x="0" y="17033"/>
                    <a:pt x="17033" y="0"/>
                    <a:pt x="38044" y="0"/>
                  </a:cubicBezTo>
                  <a:close/>
                </a:path>
              </a:pathLst>
            </a:custGeom>
            <a:solidFill>
              <a:srgbClr val="CFD9E0">
                <a:alpha val="32941"/>
              </a:srgbClr>
            </a:solidFill>
          </p:spPr>
        </p:sp>
        <p:sp>
          <p:nvSpPr>
            <p:cNvPr id="16" name="TextBox 16"/>
            <p:cNvSpPr txBox="1"/>
            <p:nvPr/>
          </p:nvSpPr>
          <p:spPr>
            <a:xfrm>
              <a:off x="0" y="-38100"/>
              <a:ext cx="1953886" cy="396483"/>
            </a:xfrm>
            <a:prstGeom prst="rect">
              <a:avLst/>
            </a:prstGeom>
          </p:spPr>
          <p:txBody>
            <a:bodyPr lIns="50800" tIns="50800" rIns="50800" bIns="50800" rtlCol="0" anchor="ctr"/>
            <a:lstStyle/>
            <a:p>
              <a:pPr algn="ctr">
                <a:lnSpc>
                  <a:spcPts val="3359"/>
                </a:lnSpc>
                <a:spcBef>
                  <a:spcPct val="0"/>
                </a:spcBef>
              </a:pPr>
              <a:endParaRPr/>
            </a:p>
          </p:txBody>
        </p:sp>
      </p:grpSp>
      <p:sp>
        <p:nvSpPr>
          <p:cNvPr id="17" name="TextBox 17"/>
          <p:cNvSpPr txBox="1"/>
          <p:nvPr/>
        </p:nvSpPr>
        <p:spPr>
          <a:xfrm>
            <a:off x="1921752" y="6066790"/>
            <a:ext cx="6165288" cy="768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Severe Timing Violations</a:t>
            </a:r>
          </a:p>
          <a:p>
            <a:pPr algn="l">
              <a:lnSpc>
                <a:spcPts val="3035"/>
              </a:lnSpc>
            </a:pPr>
            <a:r>
              <a:rPr lang="en-US" sz="2199">
                <a:solidFill>
                  <a:srgbClr val="FFFFFF"/>
                </a:solidFill>
                <a:latin typeface="Arimo"/>
                <a:ea typeface="Arimo"/>
                <a:cs typeface="Arimo"/>
                <a:sym typeface="Arimo"/>
              </a:rPr>
              <a:t>Initial WNS of ~−8.8 ns at 100 MHz.</a:t>
            </a:r>
          </a:p>
        </p:txBody>
      </p:sp>
      <p:grpSp>
        <p:nvGrpSpPr>
          <p:cNvPr id="18" name="Group 18"/>
          <p:cNvGrpSpPr/>
          <p:nvPr/>
        </p:nvGrpSpPr>
        <p:grpSpPr>
          <a:xfrm>
            <a:off x="1732924" y="7463644"/>
            <a:ext cx="6918913" cy="1468431"/>
            <a:chOff x="0" y="0"/>
            <a:chExt cx="1953886" cy="414682"/>
          </a:xfrm>
        </p:grpSpPr>
        <p:sp>
          <p:nvSpPr>
            <p:cNvPr id="19" name="Freeform 19"/>
            <p:cNvSpPr/>
            <p:nvPr/>
          </p:nvSpPr>
          <p:spPr>
            <a:xfrm>
              <a:off x="0" y="0"/>
              <a:ext cx="1953886" cy="414682"/>
            </a:xfrm>
            <a:custGeom>
              <a:avLst/>
              <a:gdLst/>
              <a:ahLst/>
              <a:cxnLst/>
              <a:rect l="l" t="t" r="r" b="b"/>
              <a:pathLst>
                <a:path w="1953886" h="414682">
                  <a:moveTo>
                    <a:pt x="38044" y="0"/>
                  </a:moveTo>
                  <a:lnTo>
                    <a:pt x="1915841" y="0"/>
                  </a:lnTo>
                  <a:cubicBezTo>
                    <a:pt x="1936853" y="0"/>
                    <a:pt x="1953886" y="17033"/>
                    <a:pt x="1953886" y="38044"/>
                  </a:cubicBezTo>
                  <a:lnTo>
                    <a:pt x="1953886" y="376637"/>
                  </a:lnTo>
                  <a:cubicBezTo>
                    <a:pt x="1953886" y="386727"/>
                    <a:pt x="1949877" y="396404"/>
                    <a:pt x="1942743" y="403539"/>
                  </a:cubicBezTo>
                  <a:cubicBezTo>
                    <a:pt x="1935608" y="410673"/>
                    <a:pt x="1925931" y="414682"/>
                    <a:pt x="1915841" y="414682"/>
                  </a:cubicBezTo>
                  <a:lnTo>
                    <a:pt x="38044" y="414682"/>
                  </a:lnTo>
                  <a:cubicBezTo>
                    <a:pt x="17033" y="414682"/>
                    <a:pt x="0" y="397649"/>
                    <a:pt x="0" y="376637"/>
                  </a:cubicBezTo>
                  <a:lnTo>
                    <a:pt x="0" y="38044"/>
                  </a:lnTo>
                  <a:cubicBezTo>
                    <a:pt x="0" y="17033"/>
                    <a:pt x="17033" y="0"/>
                    <a:pt x="38044" y="0"/>
                  </a:cubicBezTo>
                  <a:close/>
                </a:path>
              </a:pathLst>
            </a:custGeom>
            <a:solidFill>
              <a:srgbClr val="CFD9E0">
                <a:alpha val="32941"/>
              </a:srgbClr>
            </a:solidFill>
          </p:spPr>
        </p:sp>
        <p:sp>
          <p:nvSpPr>
            <p:cNvPr id="20" name="TextBox 20"/>
            <p:cNvSpPr txBox="1"/>
            <p:nvPr/>
          </p:nvSpPr>
          <p:spPr>
            <a:xfrm>
              <a:off x="0" y="-38100"/>
              <a:ext cx="1953886" cy="452782"/>
            </a:xfrm>
            <a:prstGeom prst="rect">
              <a:avLst/>
            </a:prstGeom>
          </p:spPr>
          <p:txBody>
            <a:bodyPr lIns="50800" tIns="50800" rIns="50800" bIns="50800" rtlCol="0" anchor="ctr"/>
            <a:lstStyle/>
            <a:p>
              <a:pPr algn="ctr">
                <a:lnSpc>
                  <a:spcPts val="3359"/>
                </a:lnSpc>
                <a:spcBef>
                  <a:spcPct val="0"/>
                </a:spcBef>
              </a:pPr>
              <a:endParaRPr/>
            </a:p>
          </p:txBody>
        </p:sp>
      </p:grpSp>
      <p:sp>
        <p:nvSpPr>
          <p:cNvPr id="21" name="TextBox 21"/>
          <p:cNvSpPr txBox="1"/>
          <p:nvPr/>
        </p:nvSpPr>
        <p:spPr>
          <a:xfrm>
            <a:off x="1921752" y="7621611"/>
            <a:ext cx="6165288" cy="1149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Pipelining &amp; SDC Optimization</a:t>
            </a:r>
          </a:p>
          <a:p>
            <a:pPr algn="l">
              <a:lnSpc>
                <a:spcPts val="3035"/>
              </a:lnSpc>
            </a:pPr>
            <a:r>
              <a:rPr lang="en-US" sz="2199">
                <a:solidFill>
                  <a:srgbClr val="FFFFFF"/>
                </a:solidFill>
                <a:latin typeface="Arimo"/>
                <a:ea typeface="Arimo"/>
                <a:cs typeface="Arimo"/>
                <a:sym typeface="Arimo"/>
              </a:rPr>
              <a:t>Multiple iterations to break critical paths and refine constraints.</a:t>
            </a:r>
          </a:p>
        </p:txBody>
      </p:sp>
      <p:grpSp>
        <p:nvGrpSpPr>
          <p:cNvPr id="22" name="Group 22"/>
          <p:cNvGrpSpPr/>
          <p:nvPr/>
        </p:nvGrpSpPr>
        <p:grpSpPr>
          <a:xfrm>
            <a:off x="9019082" y="6017565"/>
            <a:ext cx="7626612" cy="1178453"/>
            <a:chOff x="0" y="0"/>
            <a:chExt cx="2153738" cy="332792"/>
          </a:xfrm>
        </p:grpSpPr>
        <p:sp>
          <p:nvSpPr>
            <p:cNvPr id="23" name="Freeform 23"/>
            <p:cNvSpPr/>
            <p:nvPr/>
          </p:nvSpPr>
          <p:spPr>
            <a:xfrm>
              <a:off x="0" y="0"/>
              <a:ext cx="2153738" cy="332793"/>
            </a:xfrm>
            <a:custGeom>
              <a:avLst/>
              <a:gdLst/>
              <a:ahLst/>
              <a:cxnLst/>
              <a:rect l="l" t="t" r="r" b="b"/>
              <a:pathLst>
                <a:path w="2153738" h="332793">
                  <a:moveTo>
                    <a:pt x="34514" y="0"/>
                  </a:moveTo>
                  <a:lnTo>
                    <a:pt x="2119224" y="0"/>
                  </a:lnTo>
                  <a:cubicBezTo>
                    <a:pt x="2128378" y="0"/>
                    <a:pt x="2137157" y="3636"/>
                    <a:pt x="2143629" y="10109"/>
                  </a:cubicBezTo>
                  <a:cubicBezTo>
                    <a:pt x="2150102" y="16582"/>
                    <a:pt x="2153738" y="25360"/>
                    <a:pt x="2153738" y="34514"/>
                  </a:cubicBezTo>
                  <a:lnTo>
                    <a:pt x="2153738" y="298278"/>
                  </a:lnTo>
                  <a:cubicBezTo>
                    <a:pt x="2153738" y="307432"/>
                    <a:pt x="2150102" y="316211"/>
                    <a:pt x="2143629" y="322684"/>
                  </a:cubicBezTo>
                  <a:cubicBezTo>
                    <a:pt x="2137157" y="329156"/>
                    <a:pt x="2128378" y="332793"/>
                    <a:pt x="2119224" y="332793"/>
                  </a:cubicBezTo>
                  <a:lnTo>
                    <a:pt x="34514" y="332793"/>
                  </a:lnTo>
                  <a:cubicBezTo>
                    <a:pt x="15452" y="332793"/>
                    <a:pt x="0" y="317340"/>
                    <a:pt x="0" y="298278"/>
                  </a:cubicBezTo>
                  <a:lnTo>
                    <a:pt x="0" y="34514"/>
                  </a:lnTo>
                  <a:cubicBezTo>
                    <a:pt x="0" y="15452"/>
                    <a:pt x="15452" y="0"/>
                    <a:pt x="34514" y="0"/>
                  </a:cubicBezTo>
                  <a:close/>
                </a:path>
              </a:pathLst>
            </a:custGeom>
            <a:solidFill>
              <a:srgbClr val="CFD9E0">
                <a:alpha val="32941"/>
              </a:srgbClr>
            </a:solidFill>
          </p:spPr>
        </p:sp>
        <p:sp>
          <p:nvSpPr>
            <p:cNvPr id="24" name="TextBox 24"/>
            <p:cNvSpPr txBox="1"/>
            <p:nvPr/>
          </p:nvSpPr>
          <p:spPr>
            <a:xfrm>
              <a:off x="0" y="-38100"/>
              <a:ext cx="2153738" cy="370892"/>
            </a:xfrm>
            <a:prstGeom prst="rect">
              <a:avLst/>
            </a:prstGeom>
          </p:spPr>
          <p:txBody>
            <a:bodyPr lIns="50800" tIns="50800" rIns="50800" bIns="50800" rtlCol="0" anchor="ctr"/>
            <a:lstStyle/>
            <a:p>
              <a:pPr algn="ctr">
                <a:lnSpc>
                  <a:spcPts val="3359"/>
                </a:lnSpc>
                <a:spcBef>
                  <a:spcPct val="0"/>
                </a:spcBef>
              </a:pPr>
              <a:endParaRPr/>
            </a:p>
          </p:txBody>
        </p:sp>
      </p:grpSp>
      <p:sp>
        <p:nvSpPr>
          <p:cNvPr id="25" name="TextBox 25"/>
          <p:cNvSpPr txBox="1"/>
          <p:nvPr/>
        </p:nvSpPr>
        <p:spPr>
          <a:xfrm>
            <a:off x="9227225" y="6175532"/>
            <a:ext cx="6795903" cy="768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Long Synthesis Runtime</a:t>
            </a:r>
          </a:p>
          <a:p>
            <a:pPr algn="l">
              <a:lnSpc>
                <a:spcPts val="3035"/>
              </a:lnSpc>
            </a:pPr>
            <a:r>
              <a:rPr lang="en-US" sz="2199" b="1">
                <a:solidFill>
                  <a:srgbClr val="FFFFFF"/>
                </a:solidFill>
                <a:latin typeface="Arimo Bold"/>
                <a:ea typeface="Arimo Bold"/>
                <a:cs typeface="Arimo Bold"/>
                <a:sym typeface="Arimo Bold"/>
              </a:rPr>
              <a:t> </a:t>
            </a:r>
            <a:r>
              <a:rPr lang="en-US" sz="2199">
                <a:solidFill>
                  <a:srgbClr val="FFFFFF"/>
                </a:solidFill>
                <a:latin typeface="Arimo"/>
                <a:ea typeface="Arimo"/>
                <a:cs typeface="Arimo"/>
                <a:sym typeface="Arimo"/>
              </a:rPr>
              <a:t>~4 hours per synthesis iteration.</a:t>
            </a:r>
          </a:p>
        </p:txBody>
      </p:sp>
      <p:grpSp>
        <p:nvGrpSpPr>
          <p:cNvPr id="26" name="Group 26"/>
          <p:cNvGrpSpPr/>
          <p:nvPr/>
        </p:nvGrpSpPr>
        <p:grpSpPr>
          <a:xfrm>
            <a:off x="9019082" y="7481768"/>
            <a:ext cx="7626612" cy="1450307"/>
            <a:chOff x="0" y="0"/>
            <a:chExt cx="2153738" cy="409564"/>
          </a:xfrm>
        </p:grpSpPr>
        <p:sp>
          <p:nvSpPr>
            <p:cNvPr id="27" name="Freeform 27"/>
            <p:cNvSpPr/>
            <p:nvPr/>
          </p:nvSpPr>
          <p:spPr>
            <a:xfrm>
              <a:off x="0" y="0"/>
              <a:ext cx="2153738" cy="409564"/>
            </a:xfrm>
            <a:custGeom>
              <a:avLst/>
              <a:gdLst/>
              <a:ahLst/>
              <a:cxnLst/>
              <a:rect l="l" t="t" r="r" b="b"/>
              <a:pathLst>
                <a:path w="2153738" h="409564">
                  <a:moveTo>
                    <a:pt x="34514" y="0"/>
                  </a:moveTo>
                  <a:lnTo>
                    <a:pt x="2119224" y="0"/>
                  </a:lnTo>
                  <a:cubicBezTo>
                    <a:pt x="2128378" y="0"/>
                    <a:pt x="2137157" y="3636"/>
                    <a:pt x="2143629" y="10109"/>
                  </a:cubicBezTo>
                  <a:cubicBezTo>
                    <a:pt x="2150102" y="16582"/>
                    <a:pt x="2153738" y="25360"/>
                    <a:pt x="2153738" y="34514"/>
                  </a:cubicBezTo>
                  <a:lnTo>
                    <a:pt x="2153738" y="375049"/>
                  </a:lnTo>
                  <a:cubicBezTo>
                    <a:pt x="2153738" y="384203"/>
                    <a:pt x="2150102" y="392982"/>
                    <a:pt x="2143629" y="399455"/>
                  </a:cubicBezTo>
                  <a:cubicBezTo>
                    <a:pt x="2137157" y="405927"/>
                    <a:pt x="2128378" y="409564"/>
                    <a:pt x="2119224" y="409564"/>
                  </a:cubicBezTo>
                  <a:lnTo>
                    <a:pt x="34514" y="409564"/>
                  </a:lnTo>
                  <a:cubicBezTo>
                    <a:pt x="15452" y="409564"/>
                    <a:pt x="0" y="394111"/>
                    <a:pt x="0" y="375049"/>
                  </a:cubicBezTo>
                  <a:lnTo>
                    <a:pt x="0" y="34514"/>
                  </a:lnTo>
                  <a:cubicBezTo>
                    <a:pt x="0" y="15452"/>
                    <a:pt x="15452" y="0"/>
                    <a:pt x="34514" y="0"/>
                  </a:cubicBezTo>
                  <a:close/>
                </a:path>
              </a:pathLst>
            </a:custGeom>
            <a:solidFill>
              <a:srgbClr val="CFD9E0">
                <a:alpha val="32941"/>
              </a:srgbClr>
            </a:solidFill>
          </p:spPr>
        </p:sp>
        <p:sp>
          <p:nvSpPr>
            <p:cNvPr id="28" name="TextBox 28"/>
            <p:cNvSpPr txBox="1"/>
            <p:nvPr/>
          </p:nvSpPr>
          <p:spPr>
            <a:xfrm>
              <a:off x="0" y="-38100"/>
              <a:ext cx="2153738" cy="447664"/>
            </a:xfrm>
            <a:prstGeom prst="rect">
              <a:avLst/>
            </a:prstGeom>
          </p:spPr>
          <p:txBody>
            <a:bodyPr lIns="50800" tIns="50800" rIns="50800" bIns="50800" rtlCol="0" anchor="ctr"/>
            <a:lstStyle/>
            <a:p>
              <a:pPr algn="ctr">
                <a:lnSpc>
                  <a:spcPts val="3359"/>
                </a:lnSpc>
                <a:spcBef>
                  <a:spcPct val="0"/>
                </a:spcBef>
              </a:pPr>
              <a:endParaRPr/>
            </a:p>
          </p:txBody>
        </p:sp>
      </p:grpSp>
      <p:sp>
        <p:nvSpPr>
          <p:cNvPr id="29" name="TextBox 29"/>
          <p:cNvSpPr txBox="1"/>
          <p:nvPr/>
        </p:nvSpPr>
        <p:spPr>
          <a:xfrm>
            <a:off x="9227225" y="7639735"/>
            <a:ext cx="6795903" cy="1149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Server &amp; Lab Limitations</a:t>
            </a:r>
          </a:p>
          <a:p>
            <a:pPr algn="l">
              <a:lnSpc>
                <a:spcPts val="3035"/>
              </a:lnSpc>
            </a:pPr>
            <a:r>
              <a:rPr lang="en-US" sz="2199">
                <a:solidFill>
                  <a:srgbClr val="FFFFFF"/>
                </a:solidFill>
                <a:latin typeface="Arimo"/>
                <a:ea typeface="Arimo"/>
                <a:cs typeface="Arimo"/>
                <a:sym typeface="Arimo"/>
              </a:rPr>
              <a:t> Intermittent server errors and incomplete runs due to lab closure.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839872" y="3778509"/>
            <a:ext cx="8586285" cy="5655911"/>
            <a:chOff x="0" y="0"/>
            <a:chExt cx="2424748" cy="1597217"/>
          </a:xfrm>
        </p:grpSpPr>
        <p:sp>
          <p:nvSpPr>
            <p:cNvPr id="5" name="Freeform 5"/>
            <p:cNvSpPr/>
            <p:nvPr/>
          </p:nvSpPr>
          <p:spPr>
            <a:xfrm>
              <a:off x="0" y="0"/>
              <a:ext cx="2424748" cy="1597217"/>
            </a:xfrm>
            <a:custGeom>
              <a:avLst/>
              <a:gdLst/>
              <a:ahLst/>
              <a:cxnLst/>
              <a:rect l="l" t="t" r="r" b="b"/>
              <a:pathLst>
                <a:path w="2424748" h="1597217">
                  <a:moveTo>
                    <a:pt x="30656" y="0"/>
                  </a:moveTo>
                  <a:lnTo>
                    <a:pt x="2394091" y="0"/>
                  </a:lnTo>
                  <a:cubicBezTo>
                    <a:pt x="2402222" y="0"/>
                    <a:pt x="2410020" y="3230"/>
                    <a:pt x="2415769" y="8979"/>
                  </a:cubicBezTo>
                  <a:cubicBezTo>
                    <a:pt x="2421518" y="14728"/>
                    <a:pt x="2424748" y="22526"/>
                    <a:pt x="2424748" y="30656"/>
                  </a:cubicBezTo>
                  <a:lnTo>
                    <a:pt x="2424748" y="1566560"/>
                  </a:lnTo>
                  <a:cubicBezTo>
                    <a:pt x="2424748" y="1583491"/>
                    <a:pt x="2411023" y="1597217"/>
                    <a:pt x="2394091" y="1597217"/>
                  </a:cubicBezTo>
                  <a:lnTo>
                    <a:pt x="30656" y="1597217"/>
                  </a:lnTo>
                  <a:cubicBezTo>
                    <a:pt x="22526" y="1597217"/>
                    <a:pt x="14728" y="1593987"/>
                    <a:pt x="8979" y="1588238"/>
                  </a:cubicBezTo>
                  <a:cubicBezTo>
                    <a:pt x="3230" y="1582488"/>
                    <a:pt x="0" y="1574691"/>
                    <a:pt x="0" y="1566560"/>
                  </a:cubicBezTo>
                  <a:lnTo>
                    <a:pt x="0" y="30656"/>
                  </a:lnTo>
                  <a:cubicBezTo>
                    <a:pt x="0" y="22526"/>
                    <a:pt x="3230" y="14728"/>
                    <a:pt x="8979" y="8979"/>
                  </a:cubicBezTo>
                  <a:cubicBezTo>
                    <a:pt x="14728" y="3230"/>
                    <a:pt x="22526" y="0"/>
                    <a:pt x="30656" y="0"/>
                  </a:cubicBezTo>
                  <a:close/>
                </a:path>
              </a:pathLst>
            </a:custGeom>
            <a:solidFill>
              <a:srgbClr val="CFD9E0">
                <a:alpha val="32941"/>
              </a:srgbClr>
            </a:solidFill>
          </p:spPr>
        </p:sp>
        <p:sp>
          <p:nvSpPr>
            <p:cNvPr id="6" name="TextBox 6"/>
            <p:cNvSpPr txBox="1"/>
            <p:nvPr/>
          </p:nvSpPr>
          <p:spPr>
            <a:xfrm>
              <a:off x="0" y="-38100"/>
              <a:ext cx="2424748" cy="1635317"/>
            </a:xfrm>
            <a:prstGeom prst="rect">
              <a:avLst/>
            </a:prstGeom>
          </p:spPr>
          <p:txBody>
            <a:bodyPr lIns="50800" tIns="50800" rIns="50800" bIns="50800" rtlCol="0" anchor="ctr"/>
            <a:lstStyle/>
            <a:p>
              <a:pPr algn="ctr">
                <a:lnSpc>
                  <a:spcPts val="3359"/>
                </a:lnSpc>
                <a:spcBef>
                  <a:spcPct val="0"/>
                </a:spcBef>
              </a:pPr>
              <a:endParaRPr/>
            </a:p>
          </p:txBody>
        </p:sp>
      </p:grpSp>
      <p:grpSp>
        <p:nvGrpSpPr>
          <p:cNvPr id="7" name="Group 7"/>
          <p:cNvGrpSpPr/>
          <p:nvPr/>
        </p:nvGrpSpPr>
        <p:grpSpPr>
          <a:xfrm>
            <a:off x="9678109" y="3778509"/>
            <a:ext cx="7809228" cy="5655911"/>
            <a:chOff x="0" y="0"/>
            <a:chExt cx="2205309" cy="1597217"/>
          </a:xfrm>
        </p:grpSpPr>
        <p:sp>
          <p:nvSpPr>
            <p:cNvPr id="8" name="Freeform 8"/>
            <p:cNvSpPr/>
            <p:nvPr/>
          </p:nvSpPr>
          <p:spPr>
            <a:xfrm>
              <a:off x="0" y="0"/>
              <a:ext cx="2205309" cy="1597217"/>
            </a:xfrm>
            <a:custGeom>
              <a:avLst/>
              <a:gdLst/>
              <a:ahLst/>
              <a:cxnLst/>
              <a:rect l="l" t="t" r="r" b="b"/>
              <a:pathLst>
                <a:path w="2205309" h="1597217">
                  <a:moveTo>
                    <a:pt x="33707" y="0"/>
                  </a:moveTo>
                  <a:lnTo>
                    <a:pt x="2171602" y="0"/>
                  </a:lnTo>
                  <a:cubicBezTo>
                    <a:pt x="2180541" y="0"/>
                    <a:pt x="2189115" y="3551"/>
                    <a:pt x="2195436" y="9873"/>
                  </a:cubicBezTo>
                  <a:cubicBezTo>
                    <a:pt x="2201757" y="16194"/>
                    <a:pt x="2205309" y="24767"/>
                    <a:pt x="2205309" y="33707"/>
                  </a:cubicBezTo>
                  <a:lnTo>
                    <a:pt x="2205309" y="1563510"/>
                  </a:lnTo>
                  <a:cubicBezTo>
                    <a:pt x="2205309" y="1582126"/>
                    <a:pt x="2190217" y="1597217"/>
                    <a:pt x="2171602" y="1597217"/>
                  </a:cubicBezTo>
                  <a:lnTo>
                    <a:pt x="33707" y="1597217"/>
                  </a:lnTo>
                  <a:cubicBezTo>
                    <a:pt x="15091" y="1597217"/>
                    <a:pt x="0" y="1582126"/>
                    <a:pt x="0" y="1563510"/>
                  </a:cubicBezTo>
                  <a:lnTo>
                    <a:pt x="0" y="33707"/>
                  </a:lnTo>
                  <a:cubicBezTo>
                    <a:pt x="0" y="15091"/>
                    <a:pt x="15091" y="0"/>
                    <a:pt x="33707" y="0"/>
                  </a:cubicBezTo>
                  <a:close/>
                </a:path>
              </a:pathLst>
            </a:custGeom>
            <a:solidFill>
              <a:srgbClr val="40C5C5">
                <a:alpha val="32941"/>
              </a:srgbClr>
            </a:solidFill>
          </p:spPr>
        </p:sp>
        <p:sp>
          <p:nvSpPr>
            <p:cNvPr id="9" name="TextBox 9"/>
            <p:cNvSpPr txBox="1"/>
            <p:nvPr/>
          </p:nvSpPr>
          <p:spPr>
            <a:xfrm>
              <a:off x="0" y="-38100"/>
              <a:ext cx="2205309" cy="1635317"/>
            </a:xfrm>
            <a:prstGeom prst="rect">
              <a:avLst/>
            </a:prstGeom>
          </p:spPr>
          <p:txBody>
            <a:bodyPr lIns="50800" tIns="50800" rIns="50800" bIns="50800" rtlCol="0" anchor="ctr"/>
            <a:lstStyle/>
            <a:p>
              <a:pPr algn="ctr">
                <a:lnSpc>
                  <a:spcPts val="3359"/>
                </a:lnSpc>
                <a:spcBef>
                  <a:spcPct val="0"/>
                </a:spcBef>
              </a:pPr>
              <a:endParaRPr/>
            </a:p>
          </p:txBody>
        </p:sp>
      </p:grpSp>
      <p:sp>
        <p:nvSpPr>
          <p:cNvPr id="10" name="Freeform 10"/>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11" name="Freeform 11"/>
          <p:cNvSpPr/>
          <p:nvPr/>
        </p:nvSpPr>
        <p:spPr>
          <a:xfrm>
            <a:off x="9949691" y="4481960"/>
            <a:ext cx="7266063" cy="2250380"/>
          </a:xfrm>
          <a:custGeom>
            <a:avLst/>
            <a:gdLst/>
            <a:ahLst/>
            <a:cxnLst/>
            <a:rect l="l" t="t" r="r" b="b"/>
            <a:pathLst>
              <a:path w="7266063" h="2250380">
                <a:moveTo>
                  <a:pt x="0" y="0"/>
                </a:moveTo>
                <a:lnTo>
                  <a:pt x="7266063" y="0"/>
                </a:lnTo>
                <a:lnTo>
                  <a:pt x="7266063" y="2250381"/>
                </a:lnTo>
                <a:lnTo>
                  <a:pt x="0" y="2250381"/>
                </a:lnTo>
                <a:lnTo>
                  <a:pt x="0" y="0"/>
                </a:lnTo>
                <a:close/>
              </a:path>
            </a:pathLst>
          </a:custGeom>
          <a:blipFill>
            <a:blip r:embed="rId6"/>
            <a:stretch>
              <a:fillRect r="-67096" b="-351970"/>
            </a:stretch>
          </a:blipFill>
        </p:spPr>
      </p:sp>
      <p:sp>
        <p:nvSpPr>
          <p:cNvPr id="12" name="Freeform 12"/>
          <p:cNvSpPr/>
          <p:nvPr/>
        </p:nvSpPr>
        <p:spPr>
          <a:xfrm>
            <a:off x="9949691" y="6880402"/>
            <a:ext cx="7266063" cy="2377898"/>
          </a:xfrm>
          <a:custGeom>
            <a:avLst/>
            <a:gdLst/>
            <a:ahLst/>
            <a:cxnLst/>
            <a:rect l="l" t="t" r="r" b="b"/>
            <a:pathLst>
              <a:path w="7266063" h="2377898">
                <a:moveTo>
                  <a:pt x="0" y="0"/>
                </a:moveTo>
                <a:lnTo>
                  <a:pt x="7266063" y="0"/>
                </a:lnTo>
                <a:lnTo>
                  <a:pt x="7266063" y="2377898"/>
                </a:lnTo>
                <a:lnTo>
                  <a:pt x="0" y="2377898"/>
                </a:lnTo>
                <a:lnTo>
                  <a:pt x="0" y="0"/>
                </a:lnTo>
                <a:close/>
              </a:path>
            </a:pathLst>
          </a:custGeom>
          <a:blipFill>
            <a:blip r:embed="rId6"/>
            <a:stretch>
              <a:fillRect t="-327732" r="-67096"/>
            </a:stretch>
          </a:blipFill>
        </p:spPr>
      </p:sp>
      <p:sp>
        <p:nvSpPr>
          <p:cNvPr id="13" name="Freeform 13"/>
          <p:cNvSpPr/>
          <p:nvPr/>
        </p:nvSpPr>
        <p:spPr>
          <a:xfrm>
            <a:off x="1028700" y="4535915"/>
            <a:ext cx="8136537" cy="4576802"/>
          </a:xfrm>
          <a:custGeom>
            <a:avLst/>
            <a:gdLst/>
            <a:ahLst/>
            <a:cxnLst/>
            <a:rect l="l" t="t" r="r" b="b"/>
            <a:pathLst>
              <a:path w="8136537" h="4576802">
                <a:moveTo>
                  <a:pt x="0" y="0"/>
                </a:moveTo>
                <a:lnTo>
                  <a:pt x="8136537" y="0"/>
                </a:lnTo>
                <a:lnTo>
                  <a:pt x="8136537" y="4576803"/>
                </a:lnTo>
                <a:lnTo>
                  <a:pt x="0" y="4576803"/>
                </a:lnTo>
                <a:lnTo>
                  <a:pt x="0" y="0"/>
                </a:lnTo>
                <a:close/>
              </a:path>
            </a:pathLst>
          </a:custGeom>
          <a:blipFill>
            <a:blip r:embed="rId7"/>
            <a:stretch>
              <a:fillRect/>
            </a:stretch>
          </a:blipFill>
        </p:spPr>
      </p:sp>
      <p:grpSp>
        <p:nvGrpSpPr>
          <p:cNvPr id="14" name="Group 14"/>
          <p:cNvGrpSpPr/>
          <p:nvPr/>
        </p:nvGrpSpPr>
        <p:grpSpPr>
          <a:xfrm>
            <a:off x="839872" y="1028700"/>
            <a:ext cx="8586285" cy="2597409"/>
            <a:chOff x="0" y="0"/>
            <a:chExt cx="2424748" cy="733503"/>
          </a:xfrm>
        </p:grpSpPr>
        <p:sp>
          <p:nvSpPr>
            <p:cNvPr id="15" name="Freeform 15"/>
            <p:cNvSpPr/>
            <p:nvPr/>
          </p:nvSpPr>
          <p:spPr>
            <a:xfrm>
              <a:off x="0" y="0"/>
              <a:ext cx="2424748" cy="733503"/>
            </a:xfrm>
            <a:custGeom>
              <a:avLst/>
              <a:gdLst/>
              <a:ahLst/>
              <a:cxnLst/>
              <a:rect l="l" t="t" r="r" b="b"/>
              <a:pathLst>
                <a:path w="2424748" h="733503">
                  <a:moveTo>
                    <a:pt x="30656" y="0"/>
                  </a:moveTo>
                  <a:lnTo>
                    <a:pt x="2394091" y="0"/>
                  </a:lnTo>
                  <a:cubicBezTo>
                    <a:pt x="2402222" y="0"/>
                    <a:pt x="2410020" y="3230"/>
                    <a:pt x="2415769" y="8979"/>
                  </a:cubicBezTo>
                  <a:cubicBezTo>
                    <a:pt x="2421518" y="14728"/>
                    <a:pt x="2424748" y="22526"/>
                    <a:pt x="2424748" y="30656"/>
                  </a:cubicBezTo>
                  <a:lnTo>
                    <a:pt x="2424748" y="702846"/>
                  </a:lnTo>
                  <a:cubicBezTo>
                    <a:pt x="2424748" y="710977"/>
                    <a:pt x="2421518" y="718774"/>
                    <a:pt x="2415769" y="724523"/>
                  </a:cubicBezTo>
                  <a:cubicBezTo>
                    <a:pt x="2410020" y="730273"/>
                    <a:pt x="2402222" y="733503"/>
                    <a:pt x="2394091" y="733503"/>
                  </a:cubicBezTo>
                  <a:lnTo>
                    <a:pt x="30656" y="733503"/>
                  </a:lnTo>
                  <a:cubicBezTo>
                    <a:pt x="22526" y="733503"/>
                    <a:pt x="14728" y="730273"/>
                    <a:pt x="8979" y="724523"/>
                  </a:cubicBezTo>
                  <a:cubicBezTo>
                    <a:pt x="3230" y="718774"/>
                    <a:pt x="0" y="710977"/>
                    <a:pt x="0" y="702846"/>
                  </a:cubicBezTo>
                  <a:lnTo>
                    <a:pt x="0" y="30656"/>
                  </a:lnTo>
                  <a:cubicBezTo>
                    <a:pt x="0" y="22526"/>
                    <a:pt x="3230" y="14728"/>
                    <a:pt x="8979" y="8979"/>
                  </a:cubicBezTo>
                  <a:cubicBezTo>
                    <a:pt x="14728" y="3230"/>
                    <a:pt x="22526" y="0"/>
                    <a:pt x="30656" y="0"/>
                  </a:cubicBezTo>
                  <a:close/>
                </a:path>
              </a:pathLst>
            </a:custGeom>
            <a:solidFill>
              <a:srgbClr val="CFD9E0">
                <a:alpha val="32941"/>
              </a:srgbClr>
            </a:solidFill>
          </p:spPr>
        </p:sp>
        <p:sp>
          <p:nvSpPr>
            <p:cNvPr id="16" name="TextBox 16"/>
            <p:cNvSpPr txBox="1"/>
            <p:nvPr/>
          </p:nvSpPr>
          <p:spPr>
            <a:xfrm>
              <a:off x="0" y="-38100"/>
              <a:ext cx="2424748" cy="771603"/>
            </a:xfrm>
            <a:prstGeom prst="rect">
              <a:avLst/>
            </a:prstGeom>
          </p:spPr>
          <p:txBody>
            <a:bodyPr lIns="50800" tIns="50800" rIns="50800" bIns="50800" rtlCol="0" anchor="ctr"/>
            <a:lstStyle/>
            <a:p>
              <a:pPr algn="ctr">
                <a:lnSpc>
                  <a:spcPts val="3359"/>
                </a:lnSpc>
                <a:spcBef>
                  <a:spcPct val="0"/>
                </a:spcBef>
              </a:pPr>
              <a:endParaRPr/>
            </a:p>
          </p:txBody>
        </p:sp>
      </p:grpSp>
      <p:sp>
        <p:nvSpPr>
          <p:cNvPr id="17" name="Freeform 17"/>
          <p:cNvSpPr/>
          <p:nvPr/>
        </p:nvSpPr>
        <p:spPr>
          <a:xfrm>
            <a:off x="1028700" y="1757009"/>
            <a:ext cx="7829633" cy="1596593"/>
          </a:xfrm>
          <a:custGeom>
            <a:avLst/>
            <a:gdLst/>
            <a:ahLst/>
            <a:cxnLst/>
            <a:rect l="l" t="t" r="r" b="b"/>
            <a:pathLst>
              <a:path w="7829633" h="1596593">
                <a:moveTo>
                  <a:pt x="0" y="0"/>
                </a:moveTo>
                <a:lnTo>
                  <a:pt x="7829633" y="0"/>
                </a:lnTo>
                <a:lnTo>
                  <a:pt x="7829633" y="1596592"/>
                </a:lnTo>
                <a:lnTo>
                  <a:pt x="0" y="1596592"/>
                </a:lnTo>
                <a:lnTo>
                  <a:pt x="0" y="0"/>
                </a:lnTo>
                <a:close/>
              </a:path>
            </a:pathLst>
          </a:custGeom>
          <a:blipFill>
            <a:blip r:embed="rId8"/>
            <a:stretch>
              <a:fillRect l="-4891" t="-241490" r="-25634" b="-18561"/>
            </a:stretch>
          </a:blipFill>
        </p:spPr>
      </p:sp>
      <p:sp>
        <p:nvSpPr>
          <p:cNvPr id="18" name="TextBox 18"/>
          <p:cNvSpPr txBox="1"/>
          <p:nvPr/>
        </p:nvSpPr>
        <p:spPr>
          <a:xfrm>
            <a:off x="9678109" y="2139403"/>
            <a:ext cx="2914705" cy="1349375"/>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Relevant Images</a:t>
            </a:r>
          </a:p>
        </p:txBody>
      </p:sp>
      <p:sp>
        <p:nvSpPr>
          <p:cNvPr id="19" name="TextBox 19"/>
          <p:cNvSpPr txBox="1"/>
          <p:nvPr/>
        </p:nvSpPr>
        <p:spPr>
          <a:xfrm>
            <a:off x="1028700" y="3946041"/>
            <a:ext cx="6165288" cy="387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Simultaneous Runs</a:t>
            </a:r>
          </a:p>
        </p:txBody>
      </p:sp>
      <p:sp>
        <p:nvSpPr>
          <p:cNvPr id="20" name="TextBox 20"/>
          <p:cNvSpPr txBox="1"/>
          <p:nvPr/>
        </p:nvSpPr>
        <p:spPr>
          <a:xfrm>
            <a:off x="9993237" y="3946041"/>
            <a:ext cx="6165288" cy="387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Log Timeline</a:t>
            </a:r>
          </a:p>
        </p:txBody>
      </p:sp>
      <p:sp>
        <p:nvSpPr>
          <p:cNvPr id="21" name="TextBox 21"/>
          <p:cNvSpPr txBox="1"/>
          <p:nvPr/>
        </p:nvSpPr>
        <p:spPr>
          <a:xfrm>
            <a:off x="1028700" y="1186667"/>
            <a:ext cx="6165288" cy="387858"/>
          </a:xfrm>
          <a:prstGeom prst="rect">
            <a:avLst/>
          </a:prstGeom>
        </p:spPr>
        <p:txBody>
          <a:bodyPr lIns="0" tIns="0" rIns="0" bIns="0" rtlCol="0" anchor="t">
            <a:spAutoFit/>
          </a:bodyPr>
          <a:lstStyle/>
          <a:p>
            <a:pPr algn="l">
              <a:lnSpc>
                <a:spcPts val="3035"/>
              </a:lnSpc>
            </a:pPr>
            <a:r>
              <a:rPr lang="en-US" sz="2199" b="1">
                <a:solidFill>
                  <a:srgbClr val="FFFFFF"/>
                </a:solidFill>
                <a:latin typeface="Arimo Bold"/>
                <a:ea typeface="Arimo Bold"/>
                <a:cs typeface="Arimo Bold"/>
                <a:sym typeface="Arimo Bold"/>
              </a:rPr>
              <a:t>Terrible Initial Timing Results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1769587" y="-2175995"/>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769587" y="1923950"/>
            <a:ext cx="15390341" cy="7439025"/>
          </a:xfrm>
          <a:prstGeom prst="rect">
            <a:avLst/>
          </a:prstGeom>
        </p:spPr>
        <p:txBody>
          <a:bodyPr lIns="0" tIns="0" rIns="0" bIns="0" rtlCol="0" anchor="t">
            <a:spAutoFit/>
          </a:bodyPr>
          <a:lstStyle/>
          <a:p>
            <a:pPr algn="l">
              <a:lnSpc>
                <a:spcPts val="3120"/>
              </a:lnSpc>
            </a:pPr>
            <a:r>
              <a:rPr lang="en-US" sz="2600">
                <a:solidFill>
                  <a:srgbClr val="FFFFFF"/>
                </a:solidFill>
                <a:latin typeface="Arimo"/>
                <a:ea typeface="Arimo"/>
                <a:cs typeface="Arimo"/>
                <a:sym typeface="Arimo"/>
              </a:rPr>
              <a:t>Tests the NTT butterfly. It applies random/boundary values of a, b, and zeta.</a:t>
            </a:r>
          </a:p>
          <a:p>
            <a:pPr algn="l">
              <a:lnSpc>
                <a:spcPts val="3120"/>
              </a:lnSpc>
            </a:pPr>
            <a:r>
              <a:rPr lang="en-US" sz="2600">
                <a:solidFill>
                  <a:srgbClr val="FFFFFF"/>
                </a:solidFill>
                <a:latin typeface="Arimo"/>
                <a:ea typeface="Arimo"/>
                <a:cs typeface="Arimo"/>
                <a:sym typeface="Arimo"/>
              </a:rPr>
              <a:t>It independently calculates:</a:t>
            </a: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r>
              <a:rPr lang="en-US" sz="2600">
                <a:solidFill>
                  <a:srgbClr val="FFFFFF"/>
                </a:solidFill>
                <a:latin typeface="Arimo"/>
                <a:ea typeface="Arimo"/>
                <a:cs typeface="Arimo"/>
                <a:sym typeface="Arimo"/>
              </a:rPr>
              <a:t>It then compares these expected values against ntt_butterfly's a_out and b_out.</a:t>
            </a:r>
          </a:p>
          <a:p>
            <a:pPr algn="l">
              <a:lnSpc>
                <a:spcPts val="3120"/>
              </a:lnSpc>
            </a:pPr>
            <a:r>
              <a:rPr lang="en-US" sz="2600">
                <a:solidFill>
                  <a:srgbClr val="FFFFFF"/>
                </a:solidFill>
                <a:latin typeface="Arimo"/>
                <a:ea typeface="Arimo"/>
                <a:cs typeface="Arimo"/>
                <a:sym typeface="Arimo"/>
              </a:rPr>
              <a:t>Tests the INTT butterflySimilarly verifies the inverse butterfly using:</a:t>
            </a: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endParaRPr lang="en-US" sz="2600">
              <a:solidFill>
                <a:srgbClr val="FFFFFF"/>
              </a:solidFill>
              <a:latin typeface="Arimo"/>
              <a:ea typeface="Arimo"/>
              <a:cs typeface="Arimo"/>
              <a:sym typeface="Arimo"/>
            </a:endParaRPr>
          </a:p>
          <a:p>
            <a:pPr algn="l">
              <a:lnSpc>
                <a:spcPts val="3120"/>
              </a:lnSpc>
            </a:pPr>
            <a:r>
              <a:rPr lang="en-US" sz="2600">
                <a:solidFill>
                  <a:srgbClr val="FFFFFF"/>
                </a:solidFill>
                <a:latin typeface="Arimo"/>
                <a:ea typeface="Arimo"/>
                <a:cs typeface="Arimo"/>
                <a:sym typeface="Arimo"/>
              </a:rPr>
              <a:t>This ensures the individual INTT butterfly operation follows the required modular arithmetic.</a:t>
            </a:r>
          </a:p>
          <a:p>
            <a:pPr algn="l">
              <a:lnSpc>
                <a:spcPts val="3120"/>
              </a:lnSpc>
            </a:pPr>
            <a:endParaRPr lang="en-US" sz="2600">
              <a:solidFill>
                <a:srgbClr val="FFFFFF"/>
              </a:solidFill>
              <a:latin typeface="Arimo"/>
              <a:ea typeface="Arimo"/>
              <a:cs typeface="Arimo"/>
              <a:sym typeface="Arimo"/>
            </a:endParaRPr>
          </a:p>
          <a:p>
            <a:pPr algn="l">
              <a:lnSpc>
                <a:spcPts val="3120"/>
              </a:lnSpc>
            </a:pPr>
            <a:r>
              <a:rPr lang="en-US" sz="2600" b="1">
                <a:solidFill>
                  <a:srgbClr val="FFFFFF"/>
                </a:solidFill>
                <a:latin typeface="Arimo Bold"/>
                <a:ea typeface="Arimo Bold"/>
                <a:cs typeface="Arimo Bold"/>
                <a:sym typeface="Arimo Bold"/>
              </a:rPr>
              <a:t>TB Uses 20,000 test vectors</a:t>
            </a:r>
          </a:p>
          <a:p>
            <a:pPr algn="l">
              <a:lnSpc>
                <a:spcPts val="3120"/>
              </a:lnSpc>
            </a:pPr>
            <a:r>
              <a:rPr lang="en-US" sz="2600">
                <a:solidFill>
                  <a:srgbClr val="FFFFFF"/>
                </a:solidFill>
                <a:latin typeface="Arimo"/>
                <a:ea typeface="Arimo"/>
                <a:cs typeface="Arimo"/>
                <a:sym typeface="Arimo"/>
              </a:rPr>
              <a:t>It deliberately includes boundary cases such as 0, Q-1, and the previousl problematic:</a:t>
            </a:r>
          </a:p>
          <a:p>
            <a:pPr algn="l">
              <a:lnSpc>
                <a:spcPts val="3120"/>
              </a:lnSpc>
            </a:pPr>
            <a:r>
              <a:rPr lang="en-US" sz="2600">
                <a:solidFill>
                  <a:srgbClr val="FFFFFF"/>
                </a:solidFill>
                <a:latin typeface="Arimo"/>
                <a:ea typeface="Arimo"/>
                <a:cs typeface="Arimo"/>
                <a:sym typeface="Arimo"/>
              </a:rPr>
              <a:t>a=100, b=50, zeta=2.</a:t>
            </a:r>
          </a:p>
          <a:p>
            <a:pPr algn="l">
              <a:lnSpc>
                <a:spcPts val="3120"/>
              </a:lnSpc>
              <a:spcBef>
                <a:spcPct val="0"/>
              </a:spcBef>
            </a:pPr>
            <a:endParaRPr lang="en-US" sz="2600">
              <a:solidFill>
                <a:srgbClr val="FFFFFF"/>
              </a:solidFill>
              <a:latin typeface="Arimo"/>
              <a:ea typeface="Arimo"/>
              <a:cs typeface="Arimo"/>
              <a:sym typeface="Arimo"/>
            </a:endParaRPr>
          </a:p>
        </p:txBody>
      </p:sp>
      <p:sp>
        <p:nvSpPr>
          <p:cNvPr id="4" name="Freeform 4"/>
          <p:cNvSpPr/>
          <p:nvPr/>
        </p:nvSpPr>
        <p:spPr>
          <a:xfrm>
            <a:off x="7204777" y="2733381"/>
            <a:ext cx="3878446" cy="1699390"/>
          </a:xfrm>
          <a:custGeom>
            <a:avLst/>
            <a:gdLst/>
            <a:ahLst/>
            <a:cxnLst/>
            <a:rect l="l" t="t" r="r" b="b"/>
            <a:pathLst>
              <a:path w="3878446" h="1699390">
                <a:moveTo>
                  <a:pt x="0" y="0"/>
                </a:moveTo>
                <a:lnTo>
                  <a:pt x="3878446" y="0"/>
                </a:lnTo>
                <a:lnTo>
                  <a:pt x="3878446" y="1699390"/>
                </a:lnTo>
                <a:lnTo>
                  <a:pt x="0" y="1699390"/>
                </a:lnTo>
                <a:lnTo>
                  <a:pt x="0" y="0"/>
                </a:lnTo>
                <a:close/>
              </a:path>
            </a:pathLst>
          </a:custGeom>
          <a:blipFill>
            <a:blip r:embed="rId3"/>
            <a:stretch>
              <a:fillRect/>
            </a:stretch>
          </a:blipFill>
        </p:spPr>
      </p:sp>
      <p:sp>
        <p:nvSpPr>
          <p:cNvPr id="5" name="Freeform 5"/>
          <p:cNvSpPr/>
          <p:nvPr/>
        </p:nvSpPr>
        <p:spPr>
          <a:xfrm>
            <a:off x="6842212" y="5652987"/>
            <a:ext cx="4603577" cy="1259469"/>
          </a:xfrm>
          <a:custGeom>
            <a:avLst/>
            <a:gdLst/>
            <a:ahLst/>
            <a:cxnLst/>
            <a:rect l="l" t="t" r="r" b="b"/>
            <a:pathLst>
              <a:path w="4603577" h="1259469">
                <a:moveTo>
                  <a:pt x="0" y="0"/>
                </a:moveTo>
                <a:lnTo>
                  <a:pt x="4603576" y="0"/>
                </a:lnTo>
                <a:lnTo>
                  <a:pt x="4603576" y="1259469"/>
                </a:lnTo>
                <a:lnTo>
                  <a:pt x="0" y="1259469"/>
                </a:lnTo>
                <a:lnTo>
                  <a:pt x="0" y="0"/>
                </a:lnTo>
                <a:close/>
              </a:path>
            </a:pathLst>
          </a:custGeom>
          <a:blipFill>
            <a:blip r:embed="rId4"/>
            <a:stretch>
              <a:fillRect/>
            </a:stretch>
          </a:blipFill>
        </p:spPr>
      </p:sp>
      <p:sp>
        <p:nvSpPr>
          <p:cNvPr id="6" name="TextBox 6"/>
          <p:cNvSpPr txBox="1"/>
          <p:nvPr/>
        </p:nvSpPr>
        <p:spPr>
          <a:xfrm>
            <a:off x="1509276" y="449580"/>
            <a:ext cx="13245539" cy="1034415"/>
          </a:xfrm>
          <a:prstGeom prst="rect">
            <a:avLst/>
          </a:prstGeom>
        </p:spPr>
        <p:txBody>
          <a:bodyPr lIns="0" tIns="0" rIns="0" bIns="0" rtlCol="0" anchor="t">
            <a:spAutoFit/>
          </a:bodyPr>
          <a:lstStyle/>
          <a:p>
            <a:pPr algn="l">
              <a:lnSpc>
                <a:spcPts val="8280"/>
              </a:lnSpc>
            </a:pPr>
            <a:r>
              <a:rPr lang="en-US" sz="6000" b="1">
                <a:solidFill>
                  <a:srgbClr val="FFFFFF"/>
                </a:solidFill>
                <a:latin typeface="Arimo Bold"/>
                <a:ea typeface="Arimo Bold"/>
                <a:cs typeface="Arimo Bold"/>
                <a:sym typeface="Arimo Bold"/>
              </a:rPr>
              <a:t>Arithmetic + NTT / INTT TB</a:t>
            </a:r>
          </a:p>
        </p:txBody>
      </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443607" y="487436"/>
            <a:ext cx="2838022" cy="816906"/>
            <a:chOff x="0" y="0"/>
            <a:chExt cx="801451" cy="230692"/>
          </a:xfrm>
        </p:grpSpPr>
        <p:sp>
          <p:nvSpPr>
            <p:cNvPr id="5" name="Freeform 5"/>
            <p:cNvSpPr/>
            <p:nvPr/>
          </p:nvSpPr>
          <p:spPr>
            <a:xfrm>
              <a:off x="0" y="0"/>
              <a:ext cx="801451" cy="230692"/>
            </a:xfrm>
            <a:custGeom>
              <a:avLst/>
              <a:gdLst/>
              <a:ahLst/>
              <a:cxnLst/>
              <a:rect l="l" t="t" r="r" b="b"/>
              <a:pathLst>
                <a:path w="801451" h="230692">
                  <a:moveTo>
                    <a:pt x="92750" y="0"/>
                  </a:moveTo>
                  <a:lnTo>
                    <a:pt x="708702" y="0"/>
                  </a:lnTo>
                  <a:cubicBezTo>
                    <a:pt x="759926" y="0"/>
                    <a:pt x="801451" y="41525"/>
                    <a:pt x="801451" y="92750"/>
                  </a:cubicBezTo>
                  <a:lnTo>
                    <a:pt x="801451" y="137943"/>
                  </a:lnTo>
                  <a:cubicBezTo>
                    <a:pt x="801451" y="162542"/>
                    <a:pt x="791679" y="186133"/>
                    <a:pt x="774285" y="203527"/>
                  </a:cubicBezTo>
                  <a:cubicBezTo>
                    <a:pt x="756891" y="220921"/>
                    <a:pt x="733300" y="230692"/>
                    <a:pt x="708702" y="230692"/>
                  </a:cubicBezTo>
                  <a:lnTo>
                    <a:pt x="92750" y="230692"/>
                  </a:lnTo>
                  <a:cubicBezTo>
                    <a:pt x="68151" y="230692"/>
                    <a:pt x="44560" y="220921"/>
                    <a:pt x="27166" y="203527"/>
                  </a:cubicBezTo>
                  <a:cubicBezTo>
                    <a:pt x="9772" y="186133"/>
                    <a:pt x="0" y="162542"/>
                    <a:pt x="0" y="137943"/>
                  </a:cubicBezTo>
                  <a:lnTo>
                    <a:pt x="0" y="92750"/>
                  </a:lnTo>
                  <a:cubicBezTo>
                    <a:pt x="0" y="68151"/>
                    <a:pt x="9772" y="44560"/>
                    <a:pt x="27166" y="27166"/>
                  </a:cubicBezTo>
                  <a:cubicBezTo>
                    <a:pt x="44560" y="9772"/>
                    <a:pt x="68151" y="0"/>
                    <a:pt x="92750" y="0"/>
                  </a:cubicBezTo>
                  <a:close/>
                </a:path>
              </a:pathLst>
            </a:custGeom>
            <a:solidFill>
              <a:srgbClr val="40C5C5">
                <a:alpha val="32941"/>
              </a:srgbClr>
            </a:solidFill>
          </p:spPr>
        </p:sp>
        <p:sp>
          <p:nvSpPr>
            <p:cNvPr id="6" name="TextBox 6"/>
            <p:cNvSpPr txBox="1"/>
            <p:nvPr/>
          </p:nvSpPr>
          <p:spPr>
            <a:xfrm>
              <a:off x="0" y="-38100"/>
              <a:ext cx="801451" cy="26879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8" name="Freeform 8"/>
          <p:cNvSpPr/>
          <p:nvPr/>
        </p:nvSpPr>
        <p:spPr>
          <a:xfrm>
            <a:off x="5430007" y="619063"/>
            <a:ext cx="478225" cy="495570"/>
          </a:xfrm>
          <a:custGeom>
            <a:avLst/>
            <a:gdLst/>
            <a:ahLst/>
            <a:cxnLst/>
            <a:rect l="l" t="t" r="r" b="b"/>
            <a:pathLst>
              <a:path w="478225" h="495570">
                <a:moveTo>
                  <a:pt x="0" y="0"/>
                </a:moveTo>
                <a:lnTo>
                  <a:pt x="478225" y="0"/>
                </a:lnTo>
                <a:lnTo>
                  <a:pt x="478225" y="495570"/>
                </a:lnTo>
                <a:lnTo>
                  <a:pt x="0" y="4955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784901" y="554111"/>
            <a:ext cx="2914705"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Results 1:</a:t>
            </a:r>
          </a:p>
        </p:txBody>
      </p:sp>
      <p:sp>
        <p:nvSpPr>
          <p:cNvPr id="10" name="TextBox 10"/>
          <p:cNvSpPr txBox="1"/>
          <p:nvPr/>
        </p:nvSpPr>
        <p:spPr>
          <a:xfrm>
            <a:off x="3670610" y="656621"/>
            <a:ext cx="1797497" cy="421386"/>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Data Table</a:t>
            </a:r>
          </a:p>
        </p:txBody>
      </p:sp>
      <p:graphicFrame>
        <p:nvGraphicFramePr>
          <p:cNvPr id="11" name="Table 11"/>
          <p:cNvGraphicFramePr>
            <a:graphicFrameLocks noGrp="1"/>
          </p:cNvGraphicFramePr>
          <p:nvPr/>
        </p:nvGraphicFramePr>
        <p:xfrm>
          <a:off x="784901" y="1629117"/>
          <a:ext cx="16741281" cy="8172450"/>
        </p:xfrm>
        <a:graphic>
          <a:graphicData uri="http://schemas.openxmlformats.org/drawingml/2006/table">
            <a:tbl>
              <a:tblPr/>
              <a:tblGrid>
                <a:gridCol w="2911599">
                  <a:extLst>
                    <a:ext uri="{9D8B030D-6E8A-4147-A177-3AD203B41FA5}">
                      <a16:colId xmlns:a16="http://schemas.microsoft.com/office/drawing/2014/main" val="20000"/>
                    </a:ext>
                  </a:extLst>
                </a:gridCol>
                <a:gridCol w="2339555">
                  <a:extLst>
                    <a:ext uri="{9D8B030D-6E8A-4147-A177-3AD203B41FA5}">
                      <a16:colId xmlns:a16="http://schemas.microsoft.com/office/drawing/2014/main" val="20001"/>
                    </a:ext>
                  </a:extLst>
                </a:gridCol>
                <a:gridCol w="2472103">
                  <a:extLst>
                    <a:ext uri="{9D8B030D-6E8A-4147-A177-3AD203B41FA5}">
                      <a16:colId xmlns:a16="http://schemas.microsoft.com/office/drawing/2014/main" val="20002"/>
                    </a:ext>
                  </a:extLst>
                </a:gridCol>
                <a:gridCol w="3268308">
                  <a:extLst>
                    <a:ext uri="{9D8B030D-6E8A-4147-A177-3AD203B41FA5}">
                      <a16:colId xmlns:a16="http://schemas.microsoft.com/office/drawing/2014/main" val="20003"/>
                    </a:ext>
                  </a:extLst>
                </a:gridCol>
                <a:gridCol w="2798614">
                  <a:extLst>
                    <a:ext uri="{9D8B030D-6E8A-4147-A177-3AD203B41FA5}">
                      <a16:colId xmlns:a16="http://schemas.microsoft.com/office/drawing/2014/main" val="20004"/>
                    </a:ext>
                  </a:extLst>
                </a:gridCol>
                <a:gridCol w="2951101">
                  <a:extLst>
                    <a:ext uri="{9D8B030D-6E8A-4147-A177-3AD203B41FA5}">
                      <a16:colId xmlns:a16="http://schemas.microsoft.com/office/drawing/2014/main" val="20005"/>
                    </a:ext>
                  </a:extLst>
                </a:gridCol>
              </a:tblGrid>
              <a:tr h="1706964">
                <a:tc>
                  <a:txBody>
                    <a:bodyPr/>
                    <a:lstStyle/>
                    <a:p>
                      <a:pPr algn="ctr">
                        <a:lnSpc>
                          <a:spcPts val="2520"/>
                        </a:lnSpc>
                        <a:defRPr/>
                      </a:pPr>
                      <a:r>
                        <a:rPr lang="en-US" sz="1800" b="1">
                          <a:solidFill>
                            <a:srgbClr val="FFFFFF"/>
                          </a:solidFill>
                          <a:latin typeface="Arimo Bold"/>
                          <a:ea typeface="Arimo Bold"/>
                          <a:cs typeface="Arimo Bold"/>
                          <a:sym typeface="Arimo Bold"/>
                        </a:rPr>
                        <a:t>Parameter</a:t>
                      </a:r>
                      <a:endParaRPr lang="en-US" sz="1100"/>
                    </a:p>
                    <a:p>
                      <a:pPr algn="ctr">
                        <a:lnSpc>
                          <a:spcPts val="2520"/>
                        </a:lnSpc>
                      </a:pPr>
                      <a:r>
                        <a:rPr lang="en-US" sz="1800" b="1">
                          <a:solidFill>
                            <a:srgbClr val="FFFFFF"/>
                          </a:solidFill>
                          <a:latin typeface="Arimo Bold"/>
                          <a:ea typeface="Arimo Bold"/>
                          <a:cs typeface="Arimo Bold"/>
                          <a:sym typeface="Arimo Bold"/>
                        </a:rPr>
                        <a:t>  / Metric</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2520"/>
                        </a:lnSpc>
                        <a:defRPr/>
                      </a:pPr>
                      <a:r>
                        <a:rPr lang="en-US" sz="1800" b="1">
                          <a:solidFill>
                            <a:srgbClr val="FFFFFF"/>
                          </a:solidFill>
                          <a:latin typeface="Arimo Bold"/>
                          <a:ea typeface="Arimo Bold"/>
                          <a:cs typeface="Arimo Bold"/>
                          <a:sym typeface="Arimo Bold"/>
                        </a:rPr>
                        <a:t>Case 1:</a:t>
                      </a:r>
                      <a:endParaRPr lang="en-US" sz="1100"/>
                    </a:p>
                    <a:p>
                      <a:pPr algn="ctr">
                        <a:lnSpc>
                          <a:spcPts val="2520"/>
                        </a:lnSpc>
                      </a:pPr>
                      <a:r>
                        <a:rPr lang="en-US" sz="1800" b="1">
                          <a:solidFill>
                            <a:srgbClr val="FFFFFF"/>
                          </a:solidFill>
                          <a:latin typeface="Arimo Bold"/>
                          <a:ea typeface="Arimo Bold"/>
                          <a:cs typeface="Arimo Bold"/>
                          <a:sym typeface="Arimo Bold"/>
                        </a:rPr>
                        <a:t>  8840_slack (Original Baseline)</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2520"/>
                        </a:lnSpc>
                        <a:defRPr/>
                      </a:pPr>
                      <a:r>
                        <a:rPr lang="en-US" sz="1800" b="1">
                          <a:solidFill>
                            <a:srgbClr val="FFFFFF"/>
                          </a:solidFill>
                          <a:latin typeface="Arimo Bold"/>
                          <a:ea typeface="Arimo Bold"/>
                          <a:cs typeface="Arimo Bold"/>
                          <a:sym typeface="Arimo Bold"/>
                        </a:rPr>
                        <a:t>Case 2: Run2</a:t>
                      </a:r>
                      <a:endParaRPr lang="en-US" sz="1100"/>
                    </a:p>
                    <a:p>
                      <a:pPr algn="ctr">
                        <a:lnSpc>
                          <a:spcPts val="2520"/>
                        </a:lnSpc>
                      </a:pPr>
                      <a:r>
                        <a:rPr lang="en-US" sz="1800" b="1">
                          <a:solidFill>
                            <a:srgbClr val="FFFFFF"/>
                          </a:solidFill>
                          <a:latin typeface="Arimo Bold"/>
                          <a:ea typeface="Arimo Bold"/>
                          <a:cs typeface="Arimo Bold"/>
                          <a:sym typeface="Arimo Bold"/>
                        </a:rPr>
                        <a:t>  (Teammate Iteration)</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2520"/>
                        </a:lnSpc>
                        <a:defRPr/>
                      </a:pPr>
                      <a:r>
                        <a:rPr lang="en-US" sz="1800" b="1">
                          <a:solidFill>
                            <a:srgbClr val="FFFFFF"/>
                          </a:solidFill>
                          <a:latin typeface="Arimo Bold"/>
                          <a:ea typeface="Arimo Bold"/>
                          <a:cs typeface="Arimo Bold"/>
                          <a:sym typeface="Arimo Bold"/>
                        </a:rPr>
                        <a:t>Case 5: Run3 (Pipelined SoC @ 250MHz)</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2520"/>
                        </a:lnSpc>
                        <a:defRPr/>
                      </a:pPr>
                      <a:r>
                        <a:rPr lang="en-US" sz="1800" b="1">
                          <a:solidFill>
                            <a:srgbClr val="FFFFFF"/>
                          </a:solidFill>
                          <a:latin typeface="Arimo Bold"/>
                          <a:ea typeface="Arimo Bold"/>
                          <a:cs typeface="Arimo Bold"/>
                          <a:sym typeface="Arimo Bold"/>
                        </a:rPr>
                        <a:t>Case 3:</a:t>
                      </a:r>
                      <a:endParaRPr lang="en-US" sz="1100"/>
                    </a:p>
                    <a:p>
                      <a:pPr algn="ctr">
                        <a:lnSpc>
                          <a:spcPts val="2520"/>
                        </a:lnSpc>
                      </a:pPr>
                      <a:r>
                        <a:rPr lang="en-US" sz="1800" b="1">
                          <a:solidFill>
                            <a:srgbClr val="FFFFFF"/>
                          </a:solidFill>
                          <a:latin typeface="Arimo Bold"/>
                          <a:ea typeface="Arimo Bold"/>
                          <a:cs typeface="Arimo Bold"/>
                          <a:sym typeface="Arimo Bold"/>
                        </a:rPr>
                        <a:t>  test_syn_all (Standalone ML-KEM)</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tc>
                  <a:txBody>
                    <a:bodyPr/>
                    <a:lstStyle/>
                    <a:p>
                      <a:pPr algn="ctr">
                        <a:lnSpc>
                          <a:spcPts val="2520"/>
                        </a:lnSpc>
                        <a:defRPr/>
                      </a:pPr>
                      <a:r>
                        <a:rPr lang="en-US" sz="1800" b="1">
                          <a:solidFill>
                            <a:srgbClr val="FFFFFF"/>
                          </a:solidFill>
                          <a:latin typeface="Arimo Bold"/>
                          <a:ea typeface="Arimo Bold"/>
                          <a:cs typeface="Arimo Bold"/>
                          <a:sym typeface="Arimo Bold"/>
                        </a:rPr>
                        <a:t>Case 4:</a:t>
                      </a:r>
                      <a:endParaRPr lang="en-US" sz="1100"/>
                    </a:p>
                    <a:p>
                      <a:pPr algn="ctr">
                        <a:lnSpc>
                          <a:spcPts val="2520"/>
                        </a:lnSpc>
                      </a:pPr>
                      <a:r>
                        <a:rPr lang="en-US" sz="1800" b="1">
                          <a:solidFill>
                            <a:srgbClr val="FFFFFF"/>
                          </a:solidFill>
                          <a:latin typeface="Arimo Bold"/>
                          <a:ea typeface="Arimo Bold"/>
                          <a:cs typeface="Arimo Bold"/>
                          <a:sym typeface="Arimo Bold"/>
                        </a:rPr>
                        <a:t>  test_1_pico_100mhz (Pipelined SoC @ 100MHz)</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C6161"/>
                    </a:solidFill>
                  </a:tcPr>
                </a:tc>
                <a:extLst>
                  <a:ext uri="{0D108BD9-81ED-4DB2-BD59-A6C34878D82A}">
                    <a16:rowId xmlns:a16="http://schemas.microsoft.com/office/drawing/2014/main" val="10000"/>
                  </a:ext>
                </a:extLst>
              </a:tr>
              <a:tr h="1077581">
                <a:tc>
                  <a:txBody>
                    <a:bodyPr/>
                    <a:lstStyle/>
                    <a:p>
                      <a:pPr algn="ctr">
                        <a:lnSpc>
                          <a:spcPts val="2520"/>
                        </a:lnSpc>
                        <a:defRPr/>
                      </a:pPr>
                      <a:r>
                        <a:rPr lang="en-US" sz="1800">
                          <a:solidFill>
                            <a:srgbClr val="FFFFFF"/>
                          </a:solidFill>
                          <a:latin typeface="Arimo"/>
                          <a:ea typeface="Arimo"/>
                          <a:cs typeface="Arimo"/>
                          <a:sym typeface="Arimo"/>
                        </a:rPr>
                        <a:t>PicoRV32 CPU</a:t>
                      </a:r>
                      <a:endParaRPr lang="en-US" sz="1100"/>
                    </a:p>
                    <a:p>
                      <a:pPr algn="ctr">
                        <a:lnSpc>
                          <a:spcPts val="2520"/>
                        </a:lnSpc>
                      </a:pPr>
                      <a:r>
                        <a:rPr lang="en-US" sz="1800">
                          <a:solidFill>
                            <a:srgbClr val="FFFFFF"/>
                          </a:solidFill>
                          <a:latin typeface="Arimo"/>
                          <a:ea typeface="Arimo"/>
                          <a:cs typeface="Arimo"/>
                          <a:sym typeface="Arimo"/>
                        </a:rPr>
                        <a:t>  Included?</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Yes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No</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Yes</a:t>
                      </a:r>
                      <a:endParaRPr lang="en-US" sz="1100"/>
                    </a:p>
                    <a:p>
                      <a:pPr algn="ctr">
                        <a:lnSpc>
                          <a:spcPts val="2520"/>
                        </a:lnSpc>
                      </a:pPr>
                      <a:r>
                        <a:rPr lang="en-US" sz="1800">
                          <a:solidFill>
                            <a:srgbClr val="FFFFFF"/>
                          </a:solidFill>
                          <a:latin typeface="Arimo"/>
                          <a:ea typeface="Arimo"/>
                          <a:cs typeface="Arimo"/>
                          <a:sym typeface="Arimo"/>
                        </a:rPr>
                        <a:t>  (Preserved)</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No</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Yes (Preserved)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1077581">
                <a:tc>
                  <a:txBody>
                    <a:bodyPr/>
                    <a:lstStyle/>
                    <a:p>
                      <a:pPr algn="ctr">
                        <a:lnSpc>
                          <a:spcPts val="2520"/>
                        </a:lnSpc>
                        <a:defRPr/>
                      </a:pPr>
                      <a:r>
                        <a:rPr lang="en-US" sz="1800">
                          <a:solidFill>
                            <a:srgbClr val="FFFFFF"/>
                          </a:solidFill>
                          <a:latin typeface="Arimo"/>
                          <a:ea typeface="Arimo"/>
                          <a:cs typeface="Arimo"/>
                          <a:sym typeface="Arimo"/>
                        </a:rPr>
                        <a:t>Technology PDK</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TSMC 180nm (slow.lib)</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TSMC 180nm (slow.lib)</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GPDK 90nm</a:t>
                      </a:r>
                      <a:endParaRPr lang="en-US" sz="1100"/>
                    </a:p>
                    <a:p>
                      <a:pPr algn="ctr">
                        <a:lnSpc>
                          <a:spcPts val="2520"/>
                        </a:lnSpc>
                      </a:pPr>
                      <a:r>
                        <a:rPr lang="en-US" sz="1800">
                          <a:solidFill>
                            <a:srgbClr val="FFFFFF"/>
                          </a:solidFill>
                          <a:latin typeface="Arimo"/>
                          <a:ea typeface="Arimo"/>
                          <a:cs typeface="Arimo"/>
                          <a:sym typeface="Arimo"/>
                        </a:rPr>
                        <a:t>  (slow.lib)</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GPDK 45nm (slow.lib)</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GPDK 90nm (slow.lib)</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1077581">
                <a:tc>
                  <a:txBody>
                    <a:bodyPr/>
                    <a:lstStyle/>
                    <a:p>
                      <a:pPr algn="ctr">
                        <a:lnSpc>
                          <a:spcPts val="2520"/>
                        </a:lnSpc>
                        <a:defRPr/>
                      </a:pPr>
                      <a:r>
                        <a:rPr lang="en-US" sz="1800">
                          <a:solidFill>
                            <a:srgbClr val="FFFFFF"/>
                          </a:solidFill>
                          <a:latin typeface="Arimo"/>
                          <a:ea typeface="Arimo"/>
                          <a:cs typeface="Arimo"/>
                          <a:sym typeface="Arimo"/>
                        </a:rPr>
                        <a:t>Worst Negative</a:t>
                      </a:r>
                      <a:endParaRPr lang="en-US" sz="1100"/>
                    </a:p>
                    <a:p>
                      <a:pPr algn="ctr">
                        <a:lnSpc>
                          <a:spcPts val="2520"/>
                        </a:lnSpc>
                      </a:pPr>
                      <a:r>
                        <a:rPr lang="en-US" sz="1800">
                          <a:solidFill>
                            <a:srgbClr val="FFFFFF"/>
                          </a:solidFill>
                          <a:latin typeface="Arimo"/>
                          <a:ea typeface="Arimo"/>
                          <a:cs typeface="Arimo"/>
                          <a:sym typeface="Arimo"/>
                        </a:rPr>
                        <a:t>  Slack (WNS)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-8840 ps (-8.84 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-3974 ps (-3.97 ns)</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0 ps (0.00 ns</a:t>
                      </a:r>
                      <a:endParaRPr lang="en-US" sz="1100"/>
                    </a:p>
                    <a:p>
                      <a:pPr algn="ctr">
                        <a:lnSpc>
                          <a:spcPts val="2520"/>
                        </a:lnSpc>
                      </a:pPr>
                      <a:r>
                        <a:rPr lang="en-US" sz="1800">
                          <a:solidFill>
                            <a:srgbClr val="FFFFFF"/>
                          </a:solidFill>
                          <a:latin typeface="Arimo"/>
                          <a:ea typeface="Arimo"/>
                          <a:cs typeface="Arimo"/>
                          <a:sym typeface="Arimo"/>
                        </a:rPr>
                        <a:t>  MET)</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0 ps (0.00 ns MET)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0 ps (0.00 ns MET)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1077581">
                <a:tc>
                  <a:txBody>
                    <a:bodyPr/>
                    <a:lstStyle/>
                    <a:p>
                      <a:pPr algn="ctr">
                        <a:lnSpc>
                          <a:spcPts val="2520"/>
                        </a:lnSpc>
                        <a:defRPr/>
                      </a:pPr>
                      <a:r>
                        <a:rPr lang="en-US" sz="1800">
                          <a:solidFill>
                            <a:srgbClr val="FFFFFF"/>
                          </a:solidFill>
                          <a:latin typeface="Arimo"/>
                          <a:ea typeface="Arimo"/>
                          <a:cs typeface="Arimo"/>
                          <a:sym typeface="Arimo"/>
                        </a:rPr>
                        <a:t>Timing</a:t>
                      </a:r>
                      <a:endParaRPr lang="en-US" sz="1100"/>
                    </a:p>
                    <a:p>
                      <a:pPr algn="ctr">
                        <a:lnSpc>
                          <a:spcPts val="2520"/>
                        </a:lnSpc>
                      </a:pPr>
                      <a:r>
                        <a:rPr lang="en-US" sz="1800">
                          <a:solidFill>
                            <a:srgbClr val="FFFFFF"/>
                          </a:solidFill>
                          <a:latin typeface="Arimo"/>
                          <a:ea typeface="Arimo"/>
                          <a:cs typeface="Arimo"/>
                          <a:sym typeface="Arimo"/>
                        </a:rPr>
                        <a:t>  Constraint Status</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VIOLATED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VIOLATED</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PASSED (MET)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PASSED (MET)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PASSED (MET)</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1077581">
                <a:tc>
                  <a:txBody>
                    <a:bodyPr/>
                    <a:lstStyle/>
                    <a:p>
                      <a:pPr algn="ctr">
                        <a:lnSpc>
                          <a:spcPts val="2520"/>
                        </a:lnSpc>
                        <a:defRPr/>
                      </a:pPr>
                      <a:r>
                        <a:rPr lang="en-US" sz="1800">
                          <a:solidFill>
                            <a:srgbClr val="FFFFFF"/>
                          </a:solidFill>
                          <a:latin typeface="Arimo"/>
                          <a:ea typeface="Arimo"/>
                          <a:cs typeface="Arimo"/>
                          <a:sym typeface="Arimo"/>
                        </a:rPr>
                        <a:t>Cell Area</a:t>
                      </a:r>
                      <a:endParaRPr lang="en-US" sz="1100"/>
                    </a:p>
                    <a:p>
                      <a:pPr algn="ctr">
                        <a:lnSpc>
                          <a:spcPts val="2520"/>
                        </a:lnSpc>
                      </a:pPr>
                      <a:r>
                        <a:rPr lang="en-US" sz="1800">
                          <a:solidFill>
                            <a:srgbClr val="FFFFFF"/>
                          </a:solidFill>
                          <a:latin typeface="Arimo"/>
                          <a:ea typeface="Arimo"/>
                          <a:cs typeface="Arimo"/>
                          <a:sym typeface="Arimo"/>
                        </a:rPr>
                        <a:t>  (um^2)</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42,122,106.67</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27,249,898.92</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10,953,193.70</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Mapped 45nm</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10,953,193.70</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r h="1077581">
                <a:tc>
                  <a:txBody>
                    <a:bodyPr/>
                    <a:lstStyle/>
                    <a:p>
                      <a:pPr algn="ctr">
                        <a:lnSpc>
                          <a:spcPts val="2520"/>
                        </a:lnSpc>
                        <a:defRPr/>
                      </a:pPr>
                      <a:r>
                        <a:rPr lang="en-US" sz="1800">
                          <a:solidFill>
                            <a:srgbClr val="FFFFFF"/>
                          </a:solidFill>
                          <a:latin typeface="Arimo"/>
                          <a:ea typeface="Arimo"/>
                          <a:cs typeface="Arimo"/>
                          <a:sym typeface="Arimo"/>
                        </a:rPr>
                        <a:t>Total Power</a:t>
                      </a:r>
                      <a:endParaRPr lang="en-US" sz="1100"/>
                    </a:p>
                    <a:p>
                      <a:pPr algn="ctr">
                        <a:lnSpc>
                          <a:spcPts val="2520"/>
                        </a:lnSpc>
                      </a:pPr>
                      <a:r>
                        <a:rPr lang="en-US" sz="1800">
                          <a:solidFill>
                            <a:srgbClr val="FFFFFF"/>
                          </a:solidFill>
                          <a:latin typeface="Arimo"/>
                          <a:ea typeface="Arimo"/>
                          <a:cs typeface="Arimo"/>
                          <a:sym typeface="Arimo"/>
                        </a:rPr>
                        <a:t>  (mW)</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3713.190 mW (3.71 W)</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1307.470 mW (1.30 W)</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850.090</a:t>
                      </a:r>
                      <a:endParaRPr lang="en-US" sz="1100"/>
                    </a:p>
                    <a:p>
                      <a:pPr algn="ctr">
                        <a:lnSpc>
                          <a:spcPts val="2520"/>
                        </a:lnSpc>
                      </a:pPr>
                      <a:r>
                        <a:rPr lang="en-US" sz="1800">
                          <a:solidFill>
                            <a:srgbClr val="FFFFFF"/>
                          </a:solidFill>
                          <a:latin typeface="Arimo"/>
                          <a:ea typeface="Arimo"/>
                          <a:cs typeface="Arimo"/>
                          <a:sym typeface="Arimo"/>
                        </a:rPr>
                        <a:t>  mW (0.85 W)</a:t>
                      </a:r>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818.122 mW (0.81 W)</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tc>
                  <a:txBody>
                    <a:bodyPr/>
                    <a:lstStyle/>
                    <a:p>
                      <a:pPr algn="ctr">
                        <a:lnSpc>
                          <a:spcPts val="2520"/>
                        </a:lnSpc>
                        <a:defRPr/>
                      </a:pPr>
                      <a:r>
                        <a:rPr lang="en-US" sz="1800">
                          <a:solidFill>
                            <a:srgbClr val="FFFFFF"/>
                          </a:solidFill>
                          <a:latin typeface="Arimo"/>
                          <a:ea typeface="Arimo"/>
                          <a:cs typeface="Arimo"/>
                          <a:sym typeface="Arimo"/>
                        </a:rPr>
                        <a:t>850.090 mW (0.85 W)</a:t>
                      </a:r>
                      <a:endParaRPr lang="en-US" sz="1100"/>
                    </a:p>
                  </a:txBody>
                  <a:tcPr marL="190500" marR="190500" marT="190500" marB="190500"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87406" y="1028700"/>
            <a:ext cx="4451024" cy="816906"/>
            <a:chOff x="0" y="0"/>
            <a:chExt cx="1256959" cy="230692"/>
          </a:xfrm>
        </p:grpSpPr>
        <p:sp>
          <p:nvSpPr>
            <p:cNvPr id="5" name="Freeform 5"/>
            <p:cNvSpPr/>
            <p:nvPr/>
          </p:nvSpPr>
          <p:spPr>
            <a:xfrm>
              <a:off x="0" y="0"/>
              <a:ext cx="1256959" cy="230692"/>
            </a:xfrm>
            <a:custGeom>
              <a:avLst/>
              <a:gdLst/>
              <a:ahLst/>
              <a:cxnLst/>
              <a:rect l="l" t="t" r="r" b="b"/>
              <a:pathLst>
                <a:path w="1256959" h="230692">
                  <a:moveTo>
                    <a:pt x="59138" y="0"/>
                  </a:moveTo>
                  <a:lnTo>
                    <a:pt x="1197821" y="0"/>
                  </a:lnTo>
                  <a:cubicBezTo>
                    <a:pt x="1213505" y="0"/>
                    <a:pt x="1228547" y="6231"/>
                    <a:pt x="1239638" y="17321"/>
                  </a:cubicBezTo>
                  <a:cubicBezTo>
                    <a:pt x="1250729" y="28412"/>
                    <a:pt x="1256959" y="43454"/>
                    <a:pt x="1256959" y="59138"/>
                  </a:cubicBezTo>
                  <a:lnTo>
                    <a:pt x="1256959" y="171554"/>
                  </a:lnTo>
                  <a:cubicBezTo>
                    <a:pt x="1256959" y="204215"/>
                    <a:pt x="1230482" y="230692"/>
                    <a:pt x="1197821" y="230692"/>
                  </a:cubicBezTo>
                  <a:lnTo>
                    <a:pt x="59138" y="230692"/>
                  </a:lnTo>
                  <a:cubicBezTo>
                    <a:pt x="43454" y="230692"/>
                    <a:pt x="28412" y="224462"/>
                    <a:pt x="17321" y="213371"/>
                  </a:cubicBezTo>
                  <a:cubicBezTo>
                    <a:pt x="6231" y="202281"/>
                    <a:pt x="0" y="187239"/>
                    <a:pt x="0" y="171554"/>
                  </a:cubicBezTo>
                  <a:lnTo>
                    <a:pt x="0" y="59138"/>
                  </a:lnTo>
                  <a:cubicBezTo>
                    <a:pt x="0" y="43454"/>
                    <a:pt x="6231" y="28412"/>
                    <a:pt x="17321" y="17321"/>
                  </a:cubicBezTo>
                  <a:cubicBezTo>
                    <a:pt x="28412" y="6231"/>
                    <a:pt x="43454" y="0"/>
                    <a:pt x="59138" y="0"/>
                  </a:cubicBezTo>
                  <a:close/>
                </a:path>
              </a:pathLst>
            </a:custGeom>
            <a:solidFill>
              <a:srgbClr val="40C5C5">
                <a:alpha val="32941"/>
              </a:srgbClr>
            </a:solidFill>
          </p:spPr>
        </p:sp>
        <p:sp>
          <p:nvSpPr>
            <p:cNvPr id="6" name="TextBox 6"/>
            <p:cNvSpPr txBox="1"/>
            <p:nvPr/>
          </p:nvSpPr>
          <p:spPr>
            <a:xfrm>
              <a:off x="0" y="-38100"/>
              <a:ext cx="1256959" cy="26879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8" name="Freeform 8"/>
          <p:cNvSpPr/>
          <p:nvPr/>
        </p:nvSpPr>
        <p:spPr>
          <a:xfrm>
            <a:off x="1028700" y="2165304"/>
            <a:ext cx="8897675" cy="5207066"/>
          </a:xfrm>
          <a:custGeom>
            <a:avLst/>
            <a:gdLst/>
            <a:ahLst/>
            <a:cxnLst/>
            <a:rect l="l" t="t" r="r" b="b"/>
            <a:pathLst>
              <a:path w="8897675" h="5207066">
                <a:moveTo>
                  <a:pt x="0" y="0"/>
                </a:moveTo>
                <a:lnTo>
                  <a:pt x="8897675" y="0"/>
                </a:lnTo>
                <a:lnTo>
                  <a:pt x="8897675" y="5207066"/>
                </a:lnTo>
                <a:lnTo>
                  <a:pt x="0" y="5207066"/>
                </a:lnTo>
                <a:lnTo>
                  <a:pt x="0" y="0"/>
                </a:lnTo>
                <a:close/>
              </a:path>
            </a:pathLst>
          </a:custGeom>
          <a:blipFill>
            <a:blip r:embed="rId6"/>
            <a:stretch>
              <a:fillRect l="-45219" t="-26862" r="-1833" b="-14482"/>
            </a:stretch>
          </a:blipFill>
        </p:spPr>
      </p:sp>
      <p:sp>
        <p:nvSpPr>
          <p:cNvPr id="9" name="Freeform 9"/>
          <p:cNvSpPr/>
          <p:nvPr/>
        </p:nvSpPr>
        <p:spPr>
          <a:xfrm>
            <a:off x="9678109" y="1189368"/>
            <a:ext cx="7012300" cy="5558344"/>
          </a:xfrm>
          <a:custGeom>
            <a:avLst/>
            <a:gdLst/>
            <a:ahLst/>
            <a:cxnLst/>
            <a:rect l="l" t="t" r="r" b="b"/>
            <a:pathLst>
              <a:path w="7012300" h="5558344">
                <a:moveTo>
                  <a:pt x="0" y="0"/>
                </a:moveTo>
                <a:lnTo>
                  <a:pt x="7012300" y="0"/>
                </a:lnTo>
                <a:lnTo>
                  <a:pt x="7012300" y="5558345"/>
                </a:lnTo>
                <a:lnTo>
                  <a:pt x="0" y="5558345"/>
                </a:lnTo>
                <a:lnTo>
                  <a:pt x="0" y="0"/>
                </a:lnTo>
                <a:close/>
              </a:path>
            </a:pathLst>
          </a:custGeom>
          <a:blipFill>
            <a:blip r:embed="rId7"/>
            <a:stretch>
              <a:fillRect l="-69915" t="-20847" r="-16674" b="-11563"/>
            </a:stretch>
          </a:blipFill>
        </p:spPr>
      </p:sp>
      <p:sp>
        <p:nvSpPr>
          <p:cNvPr id="10" name="Freeform 10"/>
          <p:cNvSpPr/>
          <p:nvPr/>
        </p:nvSpPr>
        <p:spPr>
          <a:xfrm rot="-5400000">
            <a:off x="11162618" y="3190836"/>
            <a:ext cx="1837097" cy="9823669"/>
          </a:xfrm>
          <a:custGeom>
            <a:avLst/>
            <a:gdLst/>
            <a:ahLst/>
            <a:cxnLst/>
            <a:rect l="l" t="t" r="r" b="b"/>
            <a:pathLst>
              <a:path w="1837097" h="9823669">
                <a:moveTo>
                  <a:pt x="0" y="0"/>
                </a:moveTo>
                <a:lnTo>
                  <a:pt x="1837097" y="0"/>
                </a:lnTo>
                <a:lnTo>
                  <a:pt x="1837097" y="9823670"/>
                </a:lnTo>
                <a:lnTo>
                  <a:pt x="0" y="9823670"/>
                </a:lnTo>
                <a:lnTo>
                  <a:pt x="0" y="0"/>
                </a:lnTo>
                <a:close/>
              </a:path>
            </a:pathLst>
          </a:custGeom>
          <a:blipFill>
            <a:blip r:embed="rId8"/>
            <a:stretch>
              <a:fillRect l="-737903" t="-19039" r="-385057" b="-9605"/>
            </a:stretch>
          </a:blipFill>
        </p:spPr>
      </p:sp>
      <p:sp>
        <p:nvSpPr>
          <p:cNvPr id="11" name="Freeform 11"/>
          <p:cNvSpPr/>
          <p:nvPr/>
        </p:nvSpPr>
        <p:spPr>
          <a:xfrm>
            <a:off x="7196518" y="1189368"/>
            <a:ext cx="478225" cy="495570"/>
          </a:xfrm>
          <a:custGeom>
            <a:avLst/>
            <a:gdLst/>
            <a:ahLst/>
            <a:cxnLst/>
            <a:rect l="l" t="t" r="r" b="b"/>
            <a:pathLst>
              <a:path w="478225" h="495570">
                <a:moveTo>
                  <a:pt x="0" y="0"/>
                </a:moveTo>
                <a:lnTo>
                  <a:pt x="478225" y="0"/>
                </a:lnTo>
                <a:lnTo>
                  <a:pt x="478225" y="495570"/>
                </a:lnTo>
                <a:lnTo>
                  <a:pt x="0" y="495570"/>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TextBox 12"/>
          <p:cNvSpPr txBox="1"/>
          <p:nvPr/>
        </p:nvSpPr>
        <p:spPr>
          <a:xfrm>
            <a:off x="1028700" y="1095375"/>
            <a:ext cx="2914705"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Results 1:</a:t>
            </a:r>
          </a:p>
        </p:txBody>
      </p:sp>
      <p:sp>
        <p:nvSpPr>
          <p:cNvPr id="13" name="TextBox 13"/>
          <p:cNvSpPr txBox="1"/>
          <p:nvPr/>
        </p:nvSpPr>
        <p:spPr>
          <a:xfrm>
            <a:off x="3827950" y="1197885"/>
            <a:ext cx="6165288" cy="421386"/>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Synthesis Completed</a:t>
            </a:r>
          </a:p>
        </p:txBody>
      </p:sp>
      <p:grpSp>
        <p:nvGrpSpPr>
          <p:cNvPr id="14" name="Group 14"/>
          <p:cNvGrpSpPr/>
          <p:nvPr/>
        </p:nvGrpSpPr>
        <p:grpSpPr>
          <a:xfrm>
            <a:off x="1368912" y="7694218"/>
            <a:ext cx="5507107" cy="816906"/>
            <a:chOff x="0" y="0"/>
            <a:chExt cx="1555195" cy="230692"/>
          </a:xfrm>
        </p:grpSpPr>
        <p:sp>
          <p:nvSpPr>
            <p:cNvPr id="15" name="Freeform 15"/>
            <p:cNvSpPr/>
            <p:nvPr/>
          </p:nvSpPr>
          <p:spPr>
            <a:xfrm>
              <a:off x="0" y="0"/>
              <a:ext cx="1555195" cy="230692"/>
            </a:xfrm>
            <a:custGeom>
              <a:avLst/>
              <a:gdLst/>
              <a:ahLst/>
              <a:cxnLst/>
              <a:rect l="l" t="t" r="r" b="b"/>
              <a:pathLst>
                <a:path w="1555195" h="230692">
                  <a:moveTo>
                    <a:pt x="47797" y="0"/>
                  </a:moveTo>
                  <a:lnTo>
                    <a:pt x="1507398" y="0"/>
                  </a:lnTo>
                  <a:cubicBezTo>
                    <a:pt x="1520074" y="0"/>
                    <a:pt x="1532232" y="5036"/>
                    <a:pt x="1541195" y="14000"/>
                  </a:cubicBezTo>
                  <a:cubicBezTo>
                    <a:pt x="1550159" y="22963"/>
                    <a:pt x="1555195" y="35121"/>
                    <a:pt x="1555195" y="47797"/>
                  </a:cubicBezTo>
                  <a:lnTo>
                    <a:pt x="1555195" y="182895"/>
                  </a:lnTo>
                  <a:cubicBezTo>
                    <a:pt x="1555195" y="195572"/>
                    <a:pt x="1550159" y="207729"/>
                    <a:pt x="1541195" y="216693"/>
                  </a:cubicBezTo>
                  <a:cubicBezTo>
                    <a:pt x="1532232" y="225657"/>
                    <a:pt x="1520074" y="230692"/>
                    <a:pt x="1507398" y="230692"/>
                  </a:cubicBezTo>
                  <a:lnTo>
                    <a:pt x="47797" y="230692"/>
                  </a:lnTo>
                  <a:cubicBezTo>
                    <a:pt x="35121" y="230692"/>
                    <a:pt x="22963" y="225657"/>
                    <a:pt x="14000" y="216693"/>
                  </a:cubicBezTo>
                  <a:cubicBezTo>
                    <a:pt x="5036" y="207729"/>
                    <a:pt x="0" y="195572"/>
                    <a:pt x="0" y="182895"/>
                  </a:cubicBezTo>
                  <a:lnTo>
                    <a:pt x="0" y="47797"/>
                  </a:lnTo>
                  <a:cubicBezTo>
                    <a:pt x="0" y="35121"/>
                    <a:pt x="5036" y="22963"/>
                    <a:pt x="14000" y="14000"/>
                  </a:cubicBezTo>
                  <a:cubicBezTo>
                    <a:pt x="22963" y="5036"/>
                    <a:pt x="35121" y="0"/>
                    <a:pt x="47797" y="0"/>
                  </a:cubicBezTo>
                  <a:close/>
                </a:path>
              </a:pathLst>
            </a:custGeom>
            <a:solidFill>
              <a:srgbClr val="CFD9E0">
                <a:alpha val="32941"/>
              </a:srgbClr>
            </a:solidFill>
          </p:spPr>
        </p:sp>
        <p:sp>
          <p:nvSpPr>
            <p:cNvPr id="16" name="TextBox 16"/>
            <p:cNvSpPr txBox="1"/>
            <p:nvPr/>
          </p:nvSpPr>
          <p:spPr>
            <a:xfrm>
              <a:off x="0" y="-38100"/>
              <a:ext cx="1555195" cy="268792"/>
            </a:xfrm>
            <a:prstGeom prst="rect">
              <a:avLst/>
            </a:prstGeom>
          </p:spPr>
          <p:txBody>
            <a:bodyPr lIns="50800" tIns="50800" rIns="50800" bIns="50800" rtlCol="0" anchor="ctr"/>
            <a:lstStyle/>
            <a:p>
              <a:pPr algn="ctr">
                <a:lnSpc>
                  <a:spcPts val="3359"/>
                </a:lnSpc>
                <a:spcBef>
                  <a:spcPct val="0"/>
                </a:spcBef>
              </a:pPr>
              <a:endParaRPr/>
            </a:p>
          </p:txBody>
        </p:sp>
      </p:grpSp>
      <p:sp>
        <p:nvSpPr>
          <p:cNvPr id="17" name="TextBox 17"/>
          <p:cNvSpPr txBox="1"/>
          <p:nvPr/>
        </p:nvSpPr>
        <p:spPr>
          <a:xfrm>
            <a:off x="1614230" y="7863403"/>
            <a:ext cx="2609086" cy="421386"/>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Our ML-KEM SoC </a:t>
            </a:r>
          </a:p>
        </p:txBody>
      </p:sp>
      <p:sp>
        <p:nvSpPr>
          <p:cNvPr id="18" name="AutoShape 18"/>
          <p:cNvSpPr/>
          <p:nvPr/>
        </p:nvSpPr>
        <p:spPr>
          <a:xfrm>
            <a:off x="4771440" y="8102671"/>
            <a:ext cx="1629420" cy="0"/>
          </a:xfrm>
          <a:prstGeom prst="line">
            <a:avLst/>
          </a:prstGeom>
          <a:ln w="38100" cap="flat">
            <a:solidFill>
              <a:srgbClr val="FFFFFF"/>
            </a:solidFill>
            <a:prstDash val="solid"/>
            <a:headEnd type="none" w="sm" len="sm"/>
            <a:tailEnd type="arrow" w="med" len="sm"/>
          </a:ln>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87406" y="685800"/>
            <a:ext cx="5990703" cy="816906"/>
            <a:chOff x="0" y="0"/>
            <a:chExt cx="1691761" cy="230692"/>
          </a:xfrm>
        </p:grpSpPr>
        <p:sp>
          <p:nvSpPr>
            <p:cNvPr id="5" name="Freeform 5"/>
            <p:cNvSpPr/>
            <p:nvPr/>
          </p:nvSpPr>
          <p:spPr>
            <a:xfrm>
              <a:off x="0" y="0"/>
              <a:ext cx="1691761" cy="230692"/>
            </a:xfrm>
            <a:custGeom>
              <a:avLst/>
              <a:gdLst/>
              <a:ahLst/>
              <a:cxnLst/>
              <a:rect l="l" t="t" r="r" b="b"/>
              <a:pathLst>
                <a:path w="1691761" h="230692">
                  <a:moveTo>
                    <a:pt x="43939" y="0"/>
                  </a:moveTo>
                  <a:lnTo>
                    <a:pt x="1647822" y="0"/>
                  </a:lnTo>
                  <a:cubicBezTo>
                    <a:pt x="1672089" y="0"/>
                    <a:pt x="1691761" y="19672"/>
                    <a:pt x="1691761" y="43939"/>
                  </a:cubicBezTo>
                  <a:lnTo>
                    <a:pt x="1691761" y="186753"/>
                  </a:lnTo>
                  <a:cubicBezTo>
                    <a:pt x="1691761" y="211020"/>
                    <a:pt x="1672089" y="230692"/>
                    <a:pt x="1647822" y="230692"/>
                  </a:cubicBezTo>
                  <a:lnTo>
                    <a:pt x="43939" y="230692"/>
                  </a:lnTo>
                  <a:cubicBezTo>
                    <a:pt x="32286" y="230692"/>
                    <a:pt x="21110" y="226063"/>
                    <a:pt x="12869" y="217823"/>
                  </a:cubicBezTo>
                  <a:cubicBezTo>
                    <a:pt x="4629" y="209583"/>
                    <a:pt x="0" y="198407"/>
                    <a:pt x="0" y="186753"/>
                  </a:cubicBezTo>
                  <a:lnTo>
                    <a:pt x="0" y="43939"/>
                  </a:lnTo>
                  <a:cubicBezTo>
                    <a:pt x="0" y="19672"/>
                    <a:pt x="19672" y="0"/>
                    <a:pt x="43939" y="0"/>
                  </a:cubicBezTo>
                  <a:close/>
                </a:path>
              </a:pathLst>
            </a:custGeom>
            <a:solidFill>
              <a:srgbClr val="40C5C5">
                <a:alpha val="32941"/>
              </a:srgbClr>
            </a:solidFill>
          </p:spPr>
        </p:sp>
        <p:sp>
          <p:nvSpPr>
            <p:cNvPr id="6" name="TextBox 6"/>
            <p:cNvSpPr txBox="1"/>
            <p:nvPr/>
          </p:nvSpPr>
          <p:spPr>
            <a:xfrm>
              <a:off x="0" y="-38100"/>
              <a:ext cx="1691761" cy="26879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8" name="Freeform 8"/>
          <p:cNvSpPr/>
          <p:nvPr/>
        </p:nvSpPr>
        <p:spPr>
          <a:xfrm>
            <a:off x="8717735" y="817428"/>
            <a:ext cx="478225" cy="495570"/>
          </a:xfrm>
          <a:custGeom>
            <a:avLst/>
            <a:gdLst/>
            <a:ahLst/>
            <a:cxnLst/>
            <a:rect l="l" t="t" r="r" b="b"/>
            <a:pathLst>
              <a:path w="478225" h="495570">
                <a:moveTo>
                  <a:pt x="0" y="0"/>
                </a:moveTo>
                <a:lnTo>
                  <a:pt x="478224" y="0"/>
                </a:lnTo>
                <a:lnTo>
                  <a:pt x="478224" y="495569"/>
                </a:lnTo>
                <a:lnTo>
                  <a:pt x="0" y="49556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028700" y="752475"/>
            <a:ext cx="2914705"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Results 2:</a:t>
            </a:r>
          </a:p>
        </p:txBody>
      </p:sp>
      <p:sp>
        <p:nvSpPr>
          <p:cNvPr id="10" name="TextBox 10"/>
          <p:cNvSpPr txBox="1"/>
          <p:nvPr/>
        </p:nvSpPr>
        <p:spPr>
          <a:xfrm>
            <a:off x="3913675" y="854985"/>
            <a:ext cx="6792349" cy="421423"/>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Pre-Placement Timing Analysis</a:t>
            </a:r>
          </a:p>
        </p:txBody>
      </p:sp>
      <p:pic>
        <p:nvPicPr>
          <p:cNvPr id="11" name="Picture 11"/>
          <p:cNvPicPr>
            <a:picLocks noChangeAspect="1"/>
          </p:cNvPicPr>
          <p:nvPr/>
        </p:nvPicPr>
        <p:blipFill>
          <a:blip r:embed="rId7"/>
          <a:stretch>
            <a:fillRect/>
          </a:stretch>
        </p:blipFill>
        <p:spPr>
          <a:xfrm>
            <a:off x="-1089423" y="502697"/>
            <a:ext cx="20416052" cy="9281608"/>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3687406" y="685800"/>
            <a:ext cx="5990703" cy="816906"/>
            <a:chOff x="0" y="0"/>
            <a:chExt cx="1691761" cy="230692"/>
          </a:xfrm>
        </p:grpSpPr>
        <p:sp>
          <p:nvSpPr>
            <p:cNvPr id="5" name="Freeform 5"/>
            <p:cNvSpPr/>
            <p:nvPr/>
          </p:nvSpPr>
          <p:spPr>
            <a:xfrm>
              <a:off x="0" y="0"/>
              <a:ext cx="1691761" cy="230692"/>
            </a:xfrm>
            <a:custGeom>
              <a:avLst/>
              <a:gdLst/>
              <a:ahLst/>
              <a:cxnLst/>
              <a:rect l="l" t="t" r="r" b="b"/>
              <a:pathLst>
                <a:path w="1691761" h="230692">
                  <a:moveTo>
                    <a:pt x="43939" y="0"/>
                  </a:moveTo>
                  <a:lnTo>
                    <a:pt x="1647822" y="0"/>
                  </a:lnTo>
                  <a:cubicBezTo>
                    <a:pt x="1672089" y="0"/>
                    <a:pt x="1691761" y="19672"/>
                    <a:pt x="1691761" y="43939"/>
                  </a:cubicBezTo>
                  <a:lnTo>
                    <a:pt x="1691761" y="186753"/>
                  </a:lnTo>
                  <a:cubicBezTo>
                    <a:pt x="1691761" y="211020"/>
                    <a:pt x="1672089" y="230692"/>
                    <a:pt x="1647822" y="230692"/>
                  </a:cubicBezTo>
                  <a:lnTo>
                    <a:pt x="43939" y="230692"/>
                  </a:lnTo>
                  <a:cubicBezTo>
                    <a:pt x="32286" y="230692"/>
                    <a:pt x="21110" y="226063"/>
                    <a:pt x="12869" y="217823"/>
                  </a:cubicBezTo>
                  <a:cubicBezTo>
                    <a:pt x="4629" y="209583"/>
                    <a:pt x="0" y="198407"/>
                    <a:pt x="0" y="186753"/>
                  </a:cubicBezTo>
                  <a:lnTo>
                    <a:pt x="0" y="43939"/>
                  </a:lnTo>
                  <a:cubicBezTo>
                    <a:pt x="0" y="19672"/>
                    <a:pt x="19672" y="0"/>
                    <a:pt x="43939" y="0"/>
                  </a:cubicBezTo>
                  <a:close/>
                </a:path>
              </a:pathLst>
            </a:custGeom>
            <a:solidFill>
              <a:srgbClr val="40C5C5">
                <a:alpha val="32941"/>
              </a:srgbClr>
            </a:solidFill>
          </p:spPr>
        </p:sp>
        <p:sp>
          <p:nvSpPr>
            <p:cNvPr id="6" name="TextBox 6"/>
            <p:cNvSpPr txBox="1"/>
            <p:nvPr/>
          </p:nvSpPr>
          <p:spPr>
            <a:xfrm>
              <a:off x="0" y="-38100"/>
              <a:ext cx="1691761" cy="26879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8" name="Freeform 8"/>
          <p:cNvSpPr/>
          <p:nvPr/>
        </p:nvSpPr>
        <p:spPr>
          <a:xfrm>
            <a:off x="8665775" y="817428"/>
            <a:ext cx="478225" cy="495570"/>
          </a:xfrm>
          <a:custGeom>
            <a:avLst/>
            <a:gdLst/>
            <a:ahLst/>
            <a:cxnLst/>
            <a:rect l="l" t="t" r="r" b="b"/>
            <a:pathLst>
              <a:path w="478225" h="495570">
                <a:moveTo>
                  <a:pt x="0" y="0"/>
                </a:moveTo>
                <a:lnTo>
                  <a:pt x="478225" y="0"/>
                </a:lnTo>
                <a:lnTo>
                  <a:pt x="478225" y="495569"/>
                </a:lnTo>
                <a:lnTo>
                  <a:pt x="0" y="49556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028700" y="752475"/>
            <a:ext cx="2914705"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Results 2:</a:t>
            </a:r>
          </a:p>
        </p:txBody>
      </p:sp>
      <p:sp>
        <p:nvSpPr>
          <p:cNvPr id="10" name="TextBox 10"/>
          <p:cNvSpPr txBox="1"/>
          <p:nvPr/>
        </p:nvSpPr>
        <p:spPr>
          <a:xfrm>
            <a:off x="3913675" y="854985"/>
            <a:ext cx="6792349" cy="421423"/>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Pre-Placement Power Analysis</a:t>
            </a:r>
          </a:p>
        </p:txBody>
      </p:sp>
      <p:pic>
        <p:nvPicPr>
          <p:cNvPr id="11" name="Picture 11"/>
          <p:cNvPicPr>
            <a:picLocks noChangeAspect="1"/>
          </p:cNvPicPr>
          <p:nvPr/>
        </p:nvPicPr>
        <p:blipFill>
          <a:blip r:embed="rId7"/>
          <a:stretch>
            <a:fillRect/>
          </a:stretch>
        </p:blipFill>
        <p:spPr>
          <a:xfrm>
            <a:off x="-1175470" y="1068120"/>
            <a:ext cx="20638939" cy="928370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196290" y="-2093476"/>
            <a:ext cx="14963638" cy="13724626"/>
          </a:xfrm>
          <a:custGeom>
            <a:avLst/>
            <a:gdLst/>
            <a:ahLst/>
            <a:cxnLst/>
            <a:rect l="l" t="t" r="r" b="b"/>
            <a:pathLst>
              <a:path w="14963638" h="13724626">
                <a:moveTo>
                  <a:pt x="0" y="0"/>
                </a:moveTo>
                <a:lnTo>
                  <a:pt x="14963638" y="0"/>
                </a:lnTo>
                <a:lnTo>
                  <a:pt x="14963638" y="13724626"/>
                </a:lnTo>
                <a:lnTo>
                  <a:pt x="0" y="13724626"/>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4" name="Group 4"/>
          <p:cNvGrpSpPr/>
          <p:nvPr/>
        </p:nvGrpSpPr>
        <p:grpSpPr>
          <a:xfrm>
            <a:off x="4293646" y="1211384"/>
            <a:ext cx="5730311" cy="816906"/>
            <a:chOff x="0" y="0"/>
            <a:chExt cx="1618227" cy="230692"/>
          </a:xfrm>
        </p:grpSpPr>
        <p:sp>
          <p:nvSpPr>
            <p:cNvPr id="5" name="Freeform 5"/>
            <p:cNvSpPr/>
            <p:nvPr/>
          </p:nvSpPr>
          <p:spPr>
            <a:xfrm>
              <a:off x="0" y="0"/>
              <a:ext cx="1618227" cy="230692"/>
            </a:xfrm>
            <a:custGeom>
              <a:avLst/>
              <a:gdLst/>
              <a:ahLst/>
              <a:cxnLst/>
              <a:rect l="l" t="t" r="r" b="b"/>
              <a:pathLst>
                <a:path w="1618227" h="230692">
                  <a:moveTo>
                    <a:pt x="45936" y="0"/>
                  </a:moveTo>
                  <a:lnTo>
                    <a:pt x="1572292" y="0"/>
                  </a:lnTo>
                  <a:cubicBezTo>
                    <a:pt x="1597661" y="0"/>
                    <a:pt x="1618227" y="20566"/>
                    <a:pt x="1618227" y="45936"/>
                  </a:cubicBezTo>
                  <a:lnTo>
                    <a:pt x="1618227" y="184757"/>
                  </a:lnTo>
                  <a:cubicBezTo>
                    <a:pt x="1618227" y="210126"/>
                    <a:pt x="1597661" y="230692"/>
                    <a:pt x="1572292" y="230692"/>
                  </a:cubicBezTo>
                  <a:lnTo>
                    <a:pt x="45936" y="230692"/>
                  </a:lnTo>
                  <a:cubicBezTo>
                    <a:pt x="33753" y="230692"/>
                    <a:pt x="22069" y="225853"/>
                    <a:pt x="13454" y="217238"/>
                  </a:cubicBezTo>
                  <a:cubicBezTo>
                    <a:pt x="4840" y="208624"/>
                    <a:pt x="0" y="196940"/>
                    <a:pt x="0" y="184757"/>
                  </a:cubicBezTo>
                  <a:lnTo>
                    <a:pt x="0" y="45936"/>
                  </a:lnTo>
                  <a:cubicBezTo>
                    <a:pt x="0" y="33753"/>
                    <a:pt x="4840" y="22069"/>
                    <a:pt x="13454" y="13454"/>
                  </a:cubicBezTo>
                  <a:cubicBezTo>
                    <a:pt x="22069" y="4840"/>
                    <a:pt x="33753" y="0"/>
                    <a:pt x="45936" y="0"/>
                  </a:cubicBezTo>
                  <a:close/>
                </a:path>
              </a:pathLst>
            </a:custGeom>
            <a:solidFill>
              <a:srgbClr val="40C5C5">
                <a:alpha val="32941"/>
              </a:srgbClr>
            </a:solidFill>
          </p:spPr>
        </p:sp>
        <p:sp>
          <p:nvSpPr>
            <p:cNvPr id="6" name="TextBox 6"/>
            <p:cNvSpPr txBox="1"/>
            <p:nvPr/>
          </p:nvSpPr>
          <p:spPr>
            <a:xfrm>
              <a:off x="0" y="-38100"/>
              <a:ext cx="1618227" cy="268792"/>
            </a:xfrm>
            <a:prstGeom prst="rect">
              <a:avLst/>
            </a:prstGeom>
          </p:spPr>
          <p:txBody>
            <a:bodyPr lIns="50800" tIns="50800" rIns="50800" bIns="50800" rtlCol="0" anchor="ctr"/>
            <a:lstStyle/>
            <a:p>
              <a:pPr algn="ctr">
                <a:lnSpc>
                  <a:spcPts val="3359"/>
                </a:lnSpc>
                <a:spcBef>
                  <a:spcPct val="0"/>
                </a:spcBef>
              </a:pPr>
              <a:endParaRPr/>
            </a:p>
          </p:txBody>
        </p:sp>
      </p:grpSp>
      <p:sp>
        <p:nvSpPr>
          <p:cNvPr id="7" name="Freeform 7"/>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5"/>
            <a:stretch>
              <a:fillRect/>
            </a:stretch>
          </a:blipFill>
        </p:spPr>
      </p:sp>
      <p:sp>
        <p:nvSpPr>
          <p:cNvPr id="8" name="Freeform 8"/>
          <p:cNvSpPr/>
          <p:nvPr/>
        </p:nvSpPr>
        <p:spPr>
          <a:xfrm>
            <a:off x="9004304" y="1343011"/>
            <a:ext cx="478225" cy="495570"/>
          </a:xfrm>
          <a:custGeom>
            <a:avLst/>
            <a:gdLst/>
            <a:ahLst/>
            <a:cxnLst/>
            <a:rect l="l" t="t" r="r" b="b"/>
            <a:pathLst>
              <a:path w="478225" h="495570">
                <a:moveTo>
                  <a:pt x="0" y="0"/>
                </a:moveTo>
                <a:lnTo>
                  <a:pt x="478225" y="0"/>
                </a:lnTo>
                <a:lnTo>
                  <a:pt x="478225" y="495570"/>
                </a:lnTo>
                <a:lnTo>
                  <a:pt x="0" y="495570"/>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9" name="TextBox 9"/>
          <p:cNvSpPr txBox="1"/>
          <p:nvPr/>
        </p:nvSpPr>
        <p:spPr>
          <a:xfrm>
            <a:off x="1634940" y="1278059"/>
            <a:ext cx="2914705" cy="692150"/>
          </a:xfrm>
          <a:prstGeom prst="rect">
            <a:avLst/>
          </a:prstGeom>
        </p:spPr>
        <p:txBody>
          <a:bodyPr lIns="0" tIns="0" rIns="0" bIns="0" rtlCol="0" anchor="t">
            <a:spAutoFit/>
          </a:bodyPr>
          <a:lstStyle/>
          <a:p>
            <a:pPr algn="l">
              <a:lnSpc>
                <a:spcPts val="5200"/>
              </a:lnSpc>
            </a:pPr>
            <a:r>
              <a:rPr lang="en-US" sz="5000" b="1">
                <a:solidFill>
                  <a:srgbClr val="FFFFFF"/>
                </a:solidFill>
                <a:latin typeface="Darker Grotesque Bold"/>
                <a:ea typeface="Darker Grotesque Bold"/>
                <a:cs typeface="Darker Grotesque Bold"/>
                <a:sym typeface="Darker Grotesque Bold"/>
              </a:rPr>
              <a:t>Results 2:</a:t>
            </a:r>
          </a:p>
        </p:txBody>
      </p:sp>
      <p:sp>
        <p:nvSpPr>
          <p:cNvPr id="10" name="TextBox 10"/>
          <p:cNvSpPr txBox="1"/>
          <p:nvPr/>
        </p:nvSpPr>
        <p:spPr>
          <a:xfrm>
            <a:off x="4491340" y="1380569"/>
            <a:ext cx="6792349" cy="421423"/>
          </a:xfrm>
          <a:prstGeom prst="rect">
            <a:avLst/>
          </a:prstGeom>
        </p:spPr>
        <p:txBody>
          <a:bodyPr lIns="0" tIns="0" rIns="0" bIns="0" rtlCol="0" anchor="t">
            <a:spAutoFit/>
          </a:bodyPr>
          <a:lstStyle/>
          <a:p>
            <a:pPr algn="l">
              <a:lnSpc>
                <a:spcPts val="3311"/>
              </a:lnSpc>
            </a:pPr>
            <a:r>
              <a:rPr lang="en-US" sz="2400" b="1">
                <a:solidFill>
                  <a:srgbClr val="FFFFFF"/>
                </a:solidFill>
                <a:latin typeface="Arimo Bold"/>
                <a:ea typeface="Arimo Bold"/>
                <a:cs typeface="Arimo Bold"/>
                <a:sym typeface="Arimo Bold"/>
              </a:rPr>
              <a:t>Pre-Placement Area Analysis </a:t>
            </a:r>
          </a:p>
        </p:txBody>
      </p:sp>
      <p:pic>
        <p:nvPicPr>
          <p:cNvPr id="11" name="Picture 11"/>
          <p:cNvPicPr>
            <a:picLocks noChangeAspect="1"/>
          </p:cNvPicPr>
          <p:nvPr/>
        </p:nvPicPr>
        <p:blipFill>
          <a:blip r:embed="rId7"/>
          <a:stretch>
            <a:fillRect/>
          </a:stretch>
        </p:blipFill>
        <p:spPr>
          <a:xfrm>
            <a:off x="133128" y="1123108"/>
            <a:ext cx="18021743" cy="8847505"/>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80A"/>
        </a:solidFill>
        <a:effectLst/>
      </p:bgPr>
    </p:bg>
    <p:spTree>
      <p:nvGrpSpPr>
        <p:cNvPr id="1" name=""/>
        <p:cNvGrpSpPr/>
        <p:nvPr/>
      </p:nvGrpSpPr>
      <p:grpSpPr>
        <a:xfrm>
          <a:off x="0" y="0"/>
          <a:ext cx="0" cy="0"/>
          <a:chOff x="0" y="0"/>
          <a:chExt cx="0" cy="0"/>
        </a:xfrm>
      </p:grpSpPr>
      <p:sp>
        <p:nvSpPr>
          <p:cNvPr id="2" name="Freeform 2"/>
          <p:cNvSpPr/>
          <p:nvPr/>
        </p:nvSpPr>
        <p:spPr>
          <a:xfrm>
            <a:off x="-25400" y="4464"/>
            <a:ext cx="18288008" cy="10278074"/>
          </a:xfrm>
          <a:custGeom>
            <a:avLst/>
            <a:gdLst/>
            <a:ahLst/>
            <a:cxnLst/>
            <a:rect l="l" t="t" r="r" b="b"/>
            <a:pathLst>
              <a:path w="18288008" h="10278074">
                <a:moveTo>
                  <a:pt x="0" y="0"/>
                </a:moveTo>
                <a:lnTo>
                  <a:pt x="18288008" y="0"/>
                </a:lnTo>
                <a:lnTo>
                  <a:pt x="18288008" y="10278074"/>
                </a:lnTo>
                <a:lnTo>
                  <a:pt x="0" y="10278074"/>
                </a:lnTo>
                <a:lnTo>
                  <a:pt x="0" y="0"/>
                </a:lnTo>
                <a:close/>
              </a:path>
            </a:pathLst>
          </a:custGeom>
          <a:blipFill>
            <a:blip r:embed="rId3">
              <a:alphaModFix amt="62000"/>
            </a:blip>
            <a:stretch>
              <a:fillRect t="-19" b="-19"/>
            </a:stretch>
          </a:blipFill>
        </p:spPr>
      </p:sp>
      <p:sp>
        <p:nvSpPr>
          <p:cNvPr id="3" name="Freeform 3"/>
          <p:cNvSpPr/>
          <p:nvPr/>
        </p:nvSpPr>
        <p:spPr>
          <a:xfrm>
            <a:off x="-2635472" y="-1847552"/>
            <a:ext cx="18065822" cy="14467836"/>
          </a:xfrm>
          <a:custGeom>
            <a:avLst/>
            <a:gdLst/>
            <a:ahLst/>
            <a:cxnLst/>
            <a:rect l="l" t="t" r="r" b="b"/>
            <a:pathLst>
              <a:path w="18065822" h="14467836">
                <a:moveTo>
                  <a:pt x="0" y="0"/>
                </a:moveTo>
                <a:lnTo>
                  <a:pt x="18065822" y="0"/>
                </a:lnTo>
                <a:lnTo>
                  <a:pt x="18065822" y="14467836"/>
                </a:lnTo>
                <a:lnTo>
                  <a:pt x="0" y="1446783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07245" y="164043"/>
            <a:ext cx="4492294" cy="923925"/>
          </a:xfrm>
          <a:prstGeom prst="rect">
            <a:avLst/>
          </a:prstGeom>
        </p:spPr>
        <p:txBody>
          <a:bodyPr lIns="0" tIns="0" rIns="0" bIns="0" rtlCol="0" anchor="t">
            <a:spAutoFit/>
          </a:bodyPr>
          <a:lstStyle/>
          <a:p>
            <a:pPr algn="l">
              <a:lnSpc>
                <a:spcPts val="7200"/>
              </a:lnSpc>
            </a:pPr>
            <a:r>
              <a:rPr lang="en-US" sz="6000" b="1">
                <a:solidFill>
                  <a:srgbClr val="FFFFFF"/>
                </a:solidFill>
                <a:latin typeface="Darker Grotesque Bold"/>
                <a:ea typeface="Darker Grotesque Bold"/>
                <a:cs typeface="Darker Grotesque Bold"/>
                <a:sym typeface="Darker Grotesque Bold"/>
              </a:rPr>
              <a:t>References</a:t>
            </a:r>
          </a:p>
        </p:txBody>
      </p:sp>
      <p:grpSp>
        <p:nvGrpSpPr>
          <p:cNvPr id="5" name="Group 5"/>
          <p:cNvGrpSpPr/>
          <p:nvPr/>
        </p:nvGrpSpPr>
        <p:grpSpPr>
          <a:xfrm>
            <a:off x="577114" y="1202268"/>
            <a:ext cx="17122713" cy="8780312"/>
            <a:chOff x="0" y="0"/>
            <a:chExt cx="4835416" cy="2479541"/>
          </a:xfrm>
        </p:grpSpPr>
        <p:sp>
          <p:nvSpPr>
            <p:cNvPr id="6" name="Freeform 6"/>
            <p:cNvSpPr/>
            <p:nvPr/>
          </p:nvSpPr>
          <p:spPr>
            <a:xfrm>
              <a:off x="0" y="0"/>
              <a:ext cx="4835416" cy="2479541"/>
            </a:xfrm>
            <a:custGeom>
              <a:avLst/>
              <a:gdLst/>
              <a:ahLst/>
              <a:cxnLst/>
              <a:rect l="l" t="t" r="r" b="b"/>
              <a:pathLst>
                <a:path w="4835416" h="2479541">
                  <a:moveTo>
                    <a:pt x="15373" y="0"/>
                  </a:moveTo>
                  <a:lnTo>
                    <a:pt x="4820044" y="0"/>
                  </a:lnTo>
                  <a:cubicBezTo>
                    <a:pt x="4824121" y="0"/>
                    <a:pt x="4828031" y="1620"/>
                    <a:pt x="4830914" y="4503"/>
                  </a:cubicBezTo>
                  <a:cubicBezTo>
                    <a:pt x="4833797" y="7386"/>
                    <a:pt x="4835416" y="11296"/>
                    <a:pt x="4835416" y="15373"/>
                  </a:cubicBezTo>
                  <a:lnTo>
                    <a:pt x="4835416" y="2464168"/>
                  </a:lnTo>
                  <a:cubicBezTo>
                    <a:pt x="4835416" y="2472658"/>
                    <a:pt x="4828534" y="2479541"/>
                    <a:pt x="4820044" y="2479541"/>
                  </a:cubicBezTo>
                  <a:lnTo>
                    <a:pt x="15373" y="2479541"/>
                  </a:lnTo>
                  <a:cubicBezTo>
                    <a:pt x="6883" y="2479541"/>
                    <a:pt x="0" y="2472658"/>
                    <a:pt x="0" y="2464168"/>
                  </a:cubicBezTo>
                  <a:lnTo>
                    <a:pt x="0" y="15373"/>
                  </a:lnTo>
                  <a:cubicBezTo>
                    <a:pt x="0" y="6883"/>
                    <a:pt x="6883" y="0"/>
                    <a:pt x="15373" y="0"/>
                  </a:cubicBezTo>
                  <a:close/>
                </a:path>
              </a:pathLst>
            </a:custGeom>
            <a:solidFill>
              <a:srgbClr val="CFD9E0">
                <a:alpha val="32941"/>
              </a:srgbClr>
            </a:solidFill>
          </p:spPr>
        </p:sp>
        <p:sp>
          <p:nvSpPr>
            <p:cNvPr id="7" name="TextBox 7"/>
            <p:cNvSpPr txBox="1"/>
            <p:nvPr/>
          </p:nvSpPr>
          <p:spPr>
            <a:xfrm>
              <a:off x="0" y="-38100"/>
              <a:ext cx="4835416" cy="2517641"/>
            </a:xfrm>
            <a:prstGeom prst="rect">
              <a:avLst/>
            </a:prstGeom>
          </p:spPr>
          <p:txBody>
            <a:bodyPr lIns="50800" tIns="50800" rIns="50800" bIns="50800" rtlCol="0" anchor="ctr"/>
            <a:lstStyle/>
            <a:p>
              <a:pPr algn="ctr">
                <a:lnSpc>
                  <a:spcPts val="3359"/>
                </a:lnSpc>
                <a:spcBef>
                  <a:spcPct val="0"/>
                </a:spcBef>
              </a:pPr>
              <a:endParaRPr/>
            </a:p>
          </p:txBody>
        </p:sp>
      </p:grpSp>
      <p:sp>
        <p:nvSpPr>
          <p:cNvPr id="8" name="TextBox 8"/>
          <p:cNvSpPr txBox="1"/>
          <p:nvPr/>
        </p:nvSpPr>
        <p:spPr>
          <a:xfrm>
            <a:off x="883545" y="1328207"/>
            <a:ext cx="16529151" cy="8785634"/>
          </a:xfrm>
          <a:prstGeom prst="rect">
            <a:avLst/>
          </a:prstGeom>
        </p:spPr>
        <p:txBody>
          <a:bodyPr lIns="0" tIns="0" rIns="0" bIns="0" rtlCol="0" anchor="t">
            <a:spAutoFit/>
          </a:bodyPr>
          <a:lstStyle/>
          <a:p>
            <a:pPr algn="l">
              <a:lnSpc>
                <a:spcPts val="3200"/>
              </a:lnSpc>
            </a:pPr>
            <a:r>
              <a:rPr lang="en-US" sz="2000" b="1">
                <a:solidFill>
                  <a:srgbClr val="FFFFFF"/>
                </a:solidFill>
                <a:latin typeface="Arimo Bold"/>
                <a:ea typeface="Arimo Bold"/>
                <a:cs typeface="Arimo Bold"/>
                <a:sym typeface="Arimo Bold"/>
              </a:rPr>
              <a:t>Paper References:</a:t>
            </a:r>
          </a:p>
          <a:p>
            <a:pPr marL="431801" lvl="1" indent="-215900" algn="l">
              <a:lnSpc>
                <a:spcPts val="3200"/>
              </a:lnSpc>
              <a:buFont typeface="Arial"/>
              <a:buChar char="•"/>
            </a:pPr>
            <a:r>
              <a:rPr lang="en-US" sz="2000">
                <a:solidFill>
                  <a:srgbClr val="FFFFFF"/>
                </a:solidFill>
                <a:latin typeface="Arimo"/>
                <a:ea typeface="Arimo"/>
                <a:cs typeface="Arimo"/>
                <a:sym typeface="Arimo"/>
              </a:rPr>
              <a:t>J. Bos, L. Ducas, E. Kiltz, T. Lepoint, V. Lyubashevsky, J. M. Schanck, P. Schwabe, G. Seiler, and D. Stehlé, “CRYSTALS-Kyber: A CCA-Secure Module-Lattice-Based KEM,” Proc. IEEE European Symposium on Security and Privacy (EuroS&amp;P), pp. 353–367, 2018, doi: 10.1109/EuroSP.2018.00032. </a:t>
            </a:r>
          </a:p>
          <a:p>
            <a:pPr marL="431801" lvl="1" indent="-215900" algn="l">
              <a:lnSpc>
                <a:spcPts val="3200"/>
              </a:lnSpc>
              <a:buFont typeface="Arial"/>
              <a:buChar char="•"/>
            </a:pPr>
            <a:r>
              <a:rPr lang="en-US" sz="2000">
                <a:solidFill>
                  <a:srgbClr val="FFFFFF"/>
                </a:solidFill>
                <a:latin typeface="Arimo"/>
                <a:ea typeface="Arimo"/>
                <a:cs typeface="Arimo"/>
                <a:sym typeface="Arimo"/>
              </a:rPr>
              <a:t>National Institute of Standards and Technology, “Module-Lattice-Based Key-Encapsulation Mechanism Standard,” FIPS 203, Aug. 2024. </a:t>
            </a:r>
          </a:p>
          <a:p>
            <a:pPr marL="431801" lvl="1" indent="-215900" algn="l">
              <a:lnSpc>
                <a:spcPts val="3200"/>
              </a:lnSpc>
              <a:buFont typeface="Arial"/>
              <a:buChar char="•"/>
            </a:pPr>
            <a:r>
              <a:rPr lang="en-US" sz="2000">
                <a:solidFill>
                  <a:srgbClr val="FFFFFF"/>
                </a:solidFill>
                <a:latin typeface="Arimo"/>
                <a:ea typeface="Arimo"/>
                <a:cs typeface="Arimo"/>
                <a:sym typeface="Arimo"/>
              </a:rPr>
              <a:t>S. Ricci, P. Jedlička, P. Cíbik, P. Dzurenda, L. Malina, and J. Hajný, “Towards CRYSTALS-Kyber VHDL Implementation,” 2021. </a:t>
            </a:r>
          </a:p>
          <a:p>
            <a:pPr marL="431801" lvl="1" indent="-215900" algn="l">
              <a:lnSpc>
                <a:spcPts val="3200"/>
              </a:lnSpc>
              <a:buFont typeface="Arial"/>
              <a:buChar char="•"/>
            </a:pPr>
            <a:r>
              <a:rPr lang="en-US" sz="2000">
                <a:solidFill>
                  <a:srgbClr val="FFFFFF"/>
                </a:solidFill>
                <a:latin typeface="Arimo"/>
                <a:ea typeface="Arimo"/>
                <a:cs typeface="Arimo"/>
                <a:sym typeface="Arimo"/>
              </a:rPr>
              <a:t>C. Zhang et al., “Towards Efficient Hardware Implementation of NTT for Kyber on FPGAs,” Proc. IEEE ISCAS, 2021, doi: 10.1109/ISCAS51556.2021.9401170. </a:t>
            </a:r>
          </a:p>
          <a:p>
            <a:pPr marL="431801" lvl="1" indent="-215900" algn="l">
              <a:lnSpc>
                <a:spcPts val="3200"/>
              </a:lnSpc>
              <a:buFont typeface="Arial"/>
              <a:buChar char="•"/>
            </a:pPr>
            <a:r>
              <a:rPr lang="en-US" sz="2000">
                <a:solidFill>
                  <a:srgbClr val="FFFFFF"/>
                </a:solidFill>
                <a:latin typeface="Arimo"/>
                <a:ea typeface="Arimo"/>
                <a:cs typeface="Arimo"/>
                <a:sym typeface="Arimo"/>
              </a:rPr>
              <a:t>H. Li, N. Mentens, and S. Picek, “A Scalable SIMD RISC-V Based Processor with Customized Vector Extensions for CRYSTALS-Kyber,” Proc. ACM/IEEE Design Automation Conference (DAC), pp. 733–738, 2022, doi: 10.1145/3489517.3530552. </a:t>
            </a:r>
          </a:p>
          <a:p>
            <a:pPr marL="431801" lvl="1" indent="-215900" algn="l">
              <a:lnSpc>
                <a:spcPts val="3200"/>
              </a:lnSpc>
              <a:buFont typeface="Arial"/>
              <a:buChar char="•"/>
            </a:pPr>
            <a:r>
              <a:rPr lang="en-US" sz="2000">
                <a:solidFill>
                  <a:srgbClr val="FFFFFF"/>
                </a:solidFill>
                <a:latin typeface="Arimo"/>
                <a:ea typeface="Arimo"/>
                <a:cs typeface="Arimo"/>
                <a:sym typeface="Arimo"/>
              </a:rPr>
              <a:t>J. Sun and X. Bai, “A High-Speed Hardware Architecture of an NTT Accelerator for CRYSTALS-Kyber,” Integrated Circuits and Systems, vol. 1, no. 2, pp. 92–102, 2024, doi: 10.23919/ICS.2024.3419562. </a:t>
            </a:r>
          </a:p>
          <a:p>
            <a:pPr marL="431801" lvl="1" indent="-215900" algn="l">
              <a:lnSpc>
                <a:spcPts val="3200"/>
              </a:lnSpc>
              <a:buFont typeface="Arial"/>
              <a:buChar char="•"/>
            </a:pPr>
            <a:r>
              <a:rPr lang="en-US" sz="2000">
                <a:solidFill>
                  <a:srgbClr val="FFFFFF"/>
                </a:solidFill>
                <a:latin typeface="Arimo"/>
                <a:ea typeface="Arimo"/>
                <a:cs typeface="Arimo"/>
                <a:sym typeface="Arimo"/>
              </a:rPr>
              <a:t>A. Alhassani and M. Benaissa, “High-Speed Polynomials Multiplication HW Accelerator for CRYSTALS-Kyber,” IEEE Trans. Circuits Syst. I: Regular Papers, vol. 71, no. 12, pp. 6105–6113, 2024, doi: 10.1109/TCSI.2024.3427011. </a:t>
            </a:r>
          </a:p>
          <a:p>
            <a:pPr marL="431801" lvl="1" indent="-215900" algn="l">
              <a:lnSpc>
                <a:spcPts val="3200"/>
              </a:lnSpc>
              <a:buFont typeface="Arial"/>
              <a:buChar char="•"/>
            </a:pPr>
            <a:r>
              <a:rPr lang="en-US" sz="2000">
                <a:solidFill>
                  <a:srgbClr val="FFFFFF"/>
                </a:solidFill>
                <a:latin typeface="Arimo"/>
                <a:ea typeface="Arimo"/>
                <a:cs typeface="Arimo"/>
                <a:sym typeface="Arimo"/>
              </a:rPr>
              <a:t>M. Saoudi, A. Kermiche, O. H. Benhaddad, N. Guetmi, and B. Allailou, “Low Latency FPGA Implementation of NTT for Kyber,” Microprocessors and Microsystems, vol. 107, p. 105059, 2024, doi: 10.1016/j.micpro.2024.105059. </a:t>
            </a:r>
          </a:p>
          <a:p>
            <a:pPr marL="431801" lvl="1" indent="-215900" algn="l">
              <a:lnSpc>
                <a:spcPts val="3200"/>
              </a:lnSpc>
              <a:buFont typeface="Arial"/>
              <a:buChar char="•"/>
            </a:pPr>
            <a:r>
              <a:rPr lang="en-US" sz="2000">
                <a:solidFill>
                  <a:srgbClr val="FFFFFF"/>
                </a:solidFill>
                <a:latin typeface="Arimo"/>
                <a:ea typeface="Arimo"/>
                <a:cs typeface="Arimo"/>
                <a:sym typeface="Arimo"/>
              </a:rPr>
              <a:t>Y.-C. Tsai, Y.-H. Lin, and W.-J. Hwang, “An Open Hardware ML-KEM Polynomial Ring Accelerator on Chipyard RISC-V SoC: System-Level Integration and Evaluation,” Electronics, vol. 15, no. 12, p. 2511, 2026, doi: 10.3390/electronics15122511.</a:t>
            </a:r>
          </a:p>
          <a:p>
            <a:pPr algn="l">
              <a:lnSpc>
                <a:spcPts val="3200"/>
              </a:lnSpc>
            </a:pPr>
            <a:r>
              <a:rPr lang="en-US" sz="2000" b="1">
                <a:solidFill>
                  <a:srgbClr val="FFFFFF"/>
                </a:solidFill>
                <a:latin typeface="Arimo Bold"/>
                <a:ea typeface="Arimo Bold"/>
                <a:cs typeface="Arimo Bold"/>
                <a:sym typeface="Arimo Bold"/>
              </a:rPr>
              <a:t>Development References:</a:t>
            </a:r>
          </a:p>
          <a:p>
            <a:pPr marL="431801" lvl="1" indent="-215900" algn="l">
              <a:lnSpc>
                <a:spcPts val="3200"/>
              </a:lnSpc>
              <a:buFont typeface="Arial"/>
              <a:buChar char="•"/>
            </a:pPr>
            <a:r>
              <a:rPr lang="en-US" sz="2000">
                <a:solidFill>
                  <a:srgbClr val="FFFFFF"/>
                </a:solidFill>
                <a:latin typeface="Arimo"/>
                <a:ea typeface="Arimo"/>
                <a:cs typeface="Arimo"/>
                <a:sym typeface="Arimo"/>
              </a:rPr>
              <a:t>C. Wolf, “PicoRV32 — A Size-Optimized RISC-V CPU,” GitHub repository, YosysHQ. [Online]. Available: </a:t>
            </a:r>
            <a:r>
              <a:rPr lang="en-US" sz="2000" u="sng">
                <a:solidFill>
                  <a:srgbClr val="FFFFFF"/>
                </a:solidFill>
                <a:latin typeface="Arimo"/>
                <a:ea typeface="Arimo"/>
                <a:cs typeface="Arimo"/>
                <a:sym typeface="Arimo"/>
                <a:hlinkClick r:id="rId5" tooltip="https://github.com/cliffordwolf/picorv32?utm_source=chatgpt.com"/>
              </a:rPr>
              <a:t>PicoRV32 source repository</a:t>
            </a:r>
            <a:r>
              <a:rPr lang="en-US" sz="2000">
                <a:solidFill>
                  <a:srgbClr val="FFFFFF"/>
                </a:solidFill>
                <a:latin typeface="Arimo"/>
                <a:ea typeface="Arimo"/>
                <a:cs typeface="Arimo"/>
                <a:sym typeface="Arimo"/>
              </a:rPr>
              <a:t>. </a:t>
            </a:r>
          </a:p>
          <a:p>
            <a:pPr marL="431801" lvl="1" indent="-215900" algn="l">
              <a:lnSpc>
                <a:spcPts val="3200"/>
              </a:lnSpc>
              <a:buFont typeface="Arial"/>
              <a:buChar char="•"/>
            </a:pPr>
            <a:r>
              <a:rPr lang="en-US" sz="2000">
                <a:solidFill>
                  <a:srgbClr val="FFFFFF"/>
                </a:solidFill>
                <a:latin typeface="Arimo"/>
                <a:ea typeface="Arimo"/>
                <a:cs typeface="Arimo"/>
                <a:sym typeface="Arimo"/>
              </a:rPr>
              <a:t>AI-assisted development, technical discussion, and image generation.</a:t>
            </a:r>
          </a:p>
          <a:p>
            <a:pPr algn="l">
              <a:lnSpc>
                <a:spcPts val="3200"/>
              </a:lnSpc>
            </a:pPr>
            <a:endParaRPr lang="en-US" sz="2000">
              <a:solidFill>
                <a:srgbClr val="FFFFFF"/>
              </a:solidFill>
              <a:latin typeface="Arimo"/>
              <a:ea typeface="Arimo"/>
              <a:cs typeface="Arimo"/>
              <a:sym typeface="Arimo"/>
            </a:endParaRPr>
          </a:p>
        </p:txBody>
      </p:sp>
      <p:sp>
        <p:nvSpPr>
          <p:cNvPr id="9" name="Freeform 9"/>
          <p:cNvSpPr/>
          <p:nvPr/>
        </p:nvSpPr>
        <p:spPr>
          <a:xfrm>
            <a:off x="16025875" y="288076"/>
            <a:ext cx="1934252" cy="740624"/>
          </a:xfrm>
          <a:custGeom>
            <a:avLst/>
            <a:gdLst/>
            <a:ahLst/>
            <a:cxnLst/>
            <a:rect l="l" t="t" r="r" b="b"/>
            <a:pathLst>
              <a:path w="1934252" h="740624">
                <a:moveTo>
                  <a:pt x="0" y="0"/>
                </a:moveTo>
                <a:lnTo>
                  <a:pt x="1934252" y="0"/>
                </a:lnTo>
                <a:lnTo>
                  <a:pt x="1934252" y="740624"/>
                </a:lnTo>
                <a:lnTo>
                  <a:pt x="0" y="740624"/>
                </a:lnTo>
                <a:lnTo>
                  <a:pt x="0" y="0"/>
                </a:lnTo>
                <a:close/>
              </a:path>
            </a:pathLst>
          </a:custGeom>
          <a:blipFill>
            <a:blip r:embed="rId6"/>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5119</Words>
  <Application>Microsoft Office PowerPoint</Application>
  <PresentationFormat>Custom</PresentationFormat>
  <Paragraphs>685</Paragraphs>
  <Slides>42</Slides>
  <Notes>35</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Arimo</vt:lpstr>
      <vt:lpstr>Arial</vt:lpstr>
      <vt:lpstr>Darker Grotesque Bold</vt:lpstr>
      <vt:lpstr>Calibri</vt:lpstr>
      <vt:lpstr>Roboto Bold</vt:lpstr>
      <vt:lpstr>Arimo Bold</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PJT1-PPT-R2</dc:title>
  <cp:lastModifiedBy>Shubham Gupta</cp:lastModifiedBy>
  <cp:revision>2</cp:revision>
  <dcterms:created xsi:type="dcterms:W3CDTF">2006-08-16T00:00:00Z</dcterms:created>
  <dcterms:modified xsi:type="dcterms:W3CDTF">2026-09-30T10:29:55Z</dcterms:modified>
  <dc:identifier>DAHWkFjB80M</dc:identifier>
</cp:coreProperties>
</file>